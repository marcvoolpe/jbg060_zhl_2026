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14"/>
  </p:notesMasterIdLst>
  <p:sldIdLst>
    <p:sldId id="269" r:id="rId5"/>
    <p:sldId id="270" r:id="rId6"/>
    <p:sldId id="271" r:id="rId7"/>
    <p:sldId id="272" r:id="rId8"/>
    <p:sldId id="273" r:id="rId9"/>
    <p:sldId id="274" r:id="rId10"/>
    <p:sldId id="275" r:id="rId11"/>
    <p:sldId id="276" r:id="rId12"/>
    <p:sldId id="277" r:id="rId13"/>
  </p:sldIdLst>
  <p:sldSz cx="9144000" cy="5143500" type="screen16x9"/>
  <p:notesSz cx="6858000" cy="9144000"/>
  <p:embeddedFontLst>
    <p:embeddedFont>
      <p:font typeface="Lato" panose="020F0502020204030203" pitchFamily="34" charset="0"/>
      <p:regular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AAA558-6C18-5A65-25B3-E81B7D58A182}" name="Onuţu, Diana" initials="OD" userId="S::d.onutu@student.tue.nl::bb51f9f8-8512-4a3a-9dbe-aea2f85e1097" providerId="AD"/>
  <p188:author id="{6F3F1D99-D5F0-E0ED-E9BE-F002CC228C58}" name="Hattingh-Haasbroek, Juliette" initials="HJ" userId="S::j.hattingh.haasbroek@student.tue.nl::20a05f05-2cec-4fa4-8c81-47330fa392d0" providerId="AD"/>
  <p188:author id="{671B6FF4-39C5-32F8-B8DE-F9A1B8AD6B74}" name="Hattingh-Haasbroek, Annebel" initials="HA" userId="S::a.hattingh.haasbroek@student.tue.nl::5d09379f-1045-435e-acdb-d6a35b092a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ttingh-Haasbroek, Juliette" userId="S::j.hattingh.haasbroek@student.tue.nl::20a05f05-2cec-4fa4-8c81-47330fa392d0" providerId="AD" clId="Web-{2B917264-14F7-D888-A5C6-2B5AFE357976}"/>
    <pc:docChg chg="mod addSld delSld modSld">
      <pc:chgData name="Hattingh-Haasbroek, Juliette" userId="S::j.hattingh.haasbroek@student.tue.nl::20a05f05-2cec-4fa4-8c81-47330fa392d0" providerId="AD" clId="Web-{2B917264-14F7-D888-A5C6-2B5AFE357976}" dt="2026-08-07T12:03:19.254" v="99"/>
      <pc:docMkLst>
        <pc:docMk/>
      </pc:docMkLst>
      <pc:sldChg chg="modSp">
        <pc:chgData name="Hattingh-Haasbroek, Juliette" userId="S::j.hattingh.haasbroek@student.tue.nl::20a05f05-2cec-4fa4-8c81-47330fa392d0" providerId="AD" clId="Web-{2B917264-14F7-D888-A5C6-2B5AFE357976}" dt="2026-08-07T11:55:10.333" v="91" actId="20577"/>
        <pc:sldMkLst>
          <pc:docMk/>
          <pc:sldMk cId="3870772867" sldId="268"/>
        </pc:sldMkLst>
        <pc:spChg chg="mod">
          <ac:chgData name="Hattingh-Haasbroek, Juliette" userId="S::j.hattingh.haasbroek@student.tue.nl::20a05f05-2cec-4fa4-8c81-47330fa392d0" providerId="AD" clId="Web-{2B917264-14F7-D888-A5C6-2B5AFE357976}" dt="2026-08-07T11:55:10.333" v="91" actId="20577"/>
          <ac:spMkLst>
            <pc:docMk/>
            <pc:sldMk cId="3870772867" sldId="268"/>
            <ac:spMk id="2" creationId="{B573CFF8-5255-13D2-80F7-9A88BA5B1C6E}"/>
          </ac:spMkLst>
        </pc:spChg>
      </pc:sldChg>
      <pc:sldChg chg="modSp">
        <pc:chgData name="Hattingh-Haasbroek, Juliette" userId="S::j.hattingh.haasbroek@student.tue.nl::20a05f05-2cec-4fa4-8c81-47330fa392d0" providerId="AD" clId="Web-{2B917264-14F7-D888-A5C6-2B5AFE357976}" dt="2026-08-07T11:50:31.058" v="28" actId="20577"/>
        <pc:sldMkLst>
          <pc:docMk/>
          <pc:sldMk cId="2382854525" sldId="269"/>
        </pc:sldMkLst>
        <pc:spChg chg="mod">
          <ac:chgData name="Hattingh-Haasbroek, Juliette" userId="S::j.hattingh.haasbroek@student.tue.nl::20a05f05-2cec-4fa4-8c81-47330fa392d0" providerId="AD" clId="Web-{2B917264-14F7-D888-A5C6-2B5AFE357976}" dt="2026-08-07T11:50:31.058" v="28" actId="20577"/>
          <ac:spMkLst>
            <pc:docMk/>
            <pc:sldMk cId="2382854525" sldId="269"/>
            <ac:spMk id="3" creationId="{67202C24-20A5-288E-9D7E-3712C766AE19}"/>
          </ac:spMkLst>
        </pc:spChg>
        <pc:spChg chg="mod">
          <ac:chgData name="Hattingh-Haasbroek, Juliette" userId="S::j.hattingh.haasbroek@student.tue.nl::20a05f05-2cec-4fa4-8c81-47330fa392d0" providerId="AD" clId="Web-{2B917264-14F7-D888-A5C6-2B5AFE357976}" dt="2026-08-07T11:47:03.099" v="0" actId="20577"/>
          <ac:spMkLst>
            <pc:docMk/>
            <pc:sldMk cId="2382854525" sldId="269"/>
            <ac:spMk id="5" creationId="{DEE4505E-7ABC-0E21-0318-0546422790F6}"/>
          </ac:spMkLst>
        </pc:spChg>
      </pc:sldChg>
      <pc:sldChg chg="add replId">
        <pc:chgData name="Hattingh-Haasbroek, Juliette" userId="S::j.hattingh.haasbroek@student.tue.nl::20a05f05-2cec-4fa4-8c81-47330fa392d0" providerId="AD" clId="Web-{2B917264-14F7-D888-A5C6-2B5AFE357976}" dt="2026-08-07T12:00:24.467" v="96"/>
        <pc:sldMkLst>
          <pc:docMk/>
          <pc:sldMk cId="258992506" sldId="271"/>
        </pc:sldMkLst>
      </pc:sldChg>
    </pc:docChg>
  </pc:docChgLst>
  <pc:docChgLst>
    <pc:chgData name="Hattingh-Haasbroek, Annebel" userId="S::a.hattingh.haasbroek@student.tue.nl::5d09379f-1045-435e-acdb-d6a35b092a88" providerId="AD" clId="Web-{D5AF53C8-792F-27C3-5102-20D37271C47D}"/>
    <pc:docChg chg="modSld">
      <pc:chgData name="Hattingh-Haasbroek, Annebel" userId="S::a.hattingh.haasbroek@student.tue.nl::5d09379f-1045-435e-acdb-d6a35b092a88" providerId="AD" clId="Web-{D5AF53C8-792F-27C3-5102-20D37271C47D}" dt="2026-08-07T11:43:39.920" v="38" actId="1076"/>
      <pc:docMkLst>
        <pc:docMk/>
      </pc:docMkLst>
      <pc:sldChg chg="addSp delSp modSp">
        <pc:chgData name="Hattingh-Haasbroek, Annebel" userId="S::a.hattingh.haasbroek@student.tue.nl::5d09379f-1045-435e-acdb-d6a35b092a88" providerId="AD" clId="Web-{D5AF53C8-792F-27C3-5102-20D37271C47D}" dt="2026-08-07T11:43:39.920" v="38" actId="1076"/>
        <pc:sldMkLst>
          <pc:docMk/>
          <pc:sldMk cId="2382854525" sldId="269"/>
        </pc:sldMkLst>
        <pc:picChg chg="mod">
          <ac:chgData name="Hattingh-Haasbroek, Annebel" userId="S::a.hattingh.haasbroek@student.tue.nl::5d09379f-1045-435e-acdb-d6a35b092a88" providerId="AD" clId="Web-{D5AF53C8-792F-27C3-5102-20D37271C47D}" dt="2026-08-07T11:43:39.920" v="38" actId="1076"/>
          <ac:picMkLst>
            <pc:docMk/>
            <pc:sldMk cId="2382854525" sldId="269"/>
            <ac:picMk id="2" creationId="{DACE6B32-F391-852C-E5FE-7FFD2C841F63}"/>
          </ac:picMkLst>
        </pc:picChg>
        <pc:picChg chg="add mod">
          <ac:chgData name="Hattingh-Haasbroek, Annebel" userId="S::a.hattingh.haasbroek@student.tue.nl::5d09379f-1045-435e-acdb-d6a35b092a88" providerId="AD" clId="Web-{D5AF53C8-792F-27C3-5102-20D37271C47D}" dt="2026-08-07T11:41:19.336" v="27" actId="14100"/>
          <ac:picMkLst>
            <pc:docMk/>
            <pc:sldMk cId="2382854525" sldId="269"/>
            <ac:picMk id="4" creationId="{C16E19AC-794B-5F08-2FCE-900C733EB5B6}"/>
          </ac:picMkLst>
        </pc:picChg>
        <pc:picChg chg="add mod modCrop">
          <ac:chgData name="Hattingh-Haasbroek, Annebel" userId="S::a.hattingh.haasbroek@student.tue.nl::5d09379f-1045-435e-acdb-d6a35b092a88" providerId="AD" clId="Web-{D5AF53C8-792F-27C3-5102-20D37271C47D}" dt="2026-08-07T11:43:21.091" v="37" actId="14100"/>
          <ac:picMkLst>
            <pc:docMk/>
            <pc:sldMk cId="2382854525" sldId="269"/>
            <ac:picMk id="7" creationId="{AC210045-8D44-7578-D529-A303A529DB9E}"/>
          </ac:picMkLst>
        </pc:picChg>
      </pc:sldChg>
    </pc:docChg>
  </pc:docChgLst>
  <pc:docChgLst>
    <pc:chgData name="Hattingh-Haasbroek, Juliette" userId="S::j.hattingh.haasbroek@student.tue.nl::20a05f05-2cec-4fa4-8c81-47330fa392d0" providerId="AD" clId="Web-{7271A565-E3CD-DC7F-5756-E620B11E7806}"/>
    <pc:docChg chg="delSld modSld">
      <pc:chgData name="Hattingh-Haasbroek, Juliette" userId="S::j.hattingh.haasbroek@student.tue.nl::20a05f05-2cec-4fa4-8c81-47330fa392d0" providerId="AD" clId="Web-{7271A565-E3CD-DC7F-5756-E620B11E7806}" dt="2026-08-07T11:45:59.626" v="28" actId="20577"/>
      <pc:docMkLst>
        <pc:docMk/>
      </pc:docMkLst>
      <pc:sldChg chg="addSp modSp">
        <pc:chgData name="Hattingh-Haasbroek, Juliette" userId="S::j.hattingh.haasbroek@student.tue.nl::20a05f05-2cec-4fa4-8c81-47330fa392d0" providerId="AD" clId="Web-{7271A565-E3CD-DC7F-5756-E620B11E7806}" dt="2026-08-07T11:45:59.626" v="28" actId="20577"/>
        <pc:sldMkLst>
          <pc:docMk/>
          <pc:sldMk cId="2382854525" sldId="269"/>
        </pc:sldMkLst>
        <pc:spChg chg="mod">
          <ac:chgData name="Hattingh-Haasbroek, Juliette" userId="S::j.hattingh.haasbroek@student.tue.nl::20a05f05-2cec-4fa4-8c81-47330fa392d0" providerId="AD" clId="Web-{7271A565-E3CD-DC7F-5756-E620B11E7806}" dt="2026-08-07T11:45:59.626" v="28" actId="20577"/>
          <ac:spMkLst>
            <pc:docMk/>
            <pc:sldMk cId="2382854525" sldId="269"/>
            <ac:spMk id="3" creationId="{67202C24-20A5-288E-9D7E-3712C766AE19}"/>
          </ac:spMkLst>
        </pc:spChg>
        <pc:spChg chg="mod">
          <ac:chgData name="Hattingh-Haasbroek, Juliette" userId="S::j.hattingh.haasbroek@student.tue.nl::20a05f05-2cec-4fa4-8c81-47330fa392d0" providerId="AD" clId="Web-{7271A565-E3CD-DC7F-5756-E620B11E7806}" dt="2026-08-07T11:45:18.578" v="26" actId="20577"/>
          <ac:spMkLst>
            <pc:docMk/>
            <pc:sldMk cId="2382854525" sldId="269"/>
            <ac:spMk id="5" creationId="{DEE4505E-7ABC-0E21-0318-0546422790F6}"/>
          </ac:spMkLst>
        </pc:spChg>
        <pc:picChg chg="add mod">
          <ac:chgData name="Hattingh-Haasbroek, Juliette" userId="S::j.hattingh.haasbroek@student.tue.nl::20a05f05-2cec-4fa4-8c81-47330fa392d0" providerId="AD" clId="Web-{7271A565-E3CD-DC7F-5756-E620B11E7806}" dt="2026-08-07T11:44:54.467" v="20" actId="1076"/>
          <ac:picMkLst>
            <pc:docMk/>
            <pc:sldMk cId="2382854525" sldId="269"/>
            <ac:picMk id="2" creationId="{DACE6B32-F391-852C-E5FE-7FFD2C841F63}"/>
          </ac:picMkLst>
        </pc:picChg>
        <pc:picChg chg="mod">
          <ac:chgData name="Hattingh-Haasbroek, Juliette" userId="S::j.hattingh.haasbroek@student.tue.nl::20a05f05-2cec-4fa4-8c81-47330fa392d0" providerId="AD" clId="Web-{7271A565-E3CD-DC7F-5756-E620B11E7806}" dt="2026-08-07T11:44:46.154" v="17" actId="1076"/>
          <ac:picMkLst>
            <pc:docMk/>
            <pc:sldMk cId="2382854525" sldId="269"/>
            <ac:picMk id="4" creationId="{C16E19AC-794B-5F08-2FCE-900C733EB5B6}"/>
          </ac:picMkLst>
        </pc:picChg>
        <pc:picChg chg="mod">
          <ac:chgData name="Hattingh-Haasbroek, Juliette" userId="S::j.hattingh.haasbroek@student.tue.nl::20a05f05-2cec-4fa4-8c81-47330fa392d0" providerId="AD" clId="Web-{7271A565-E3CD-DC7F-5756-E620B11E7806}" dt="2026-08-07T11:44:46.154" v="18" actId="1076"/>
          <ac:picMkLst>
            <pc:docMk/>
            <pc:sldMk cId="2382854525" sldId="269"/>
            <ac:picMk id="7" creationId="{AC210045-8D44-7578-D529-A303A529DB9E}"/>
          </ac:picMkLst>
        </pc:picChg>
      </pc:sldChg>
    </pc:docChg>
  </pc:docChgLst>
  <pc:docChgLst>
    <pc:chgData name="Hattingh-Haasbroek, Annebel" userId="S::a.hattingh.haasbroek@student.tue.nl::5d09379f-1045-435e-acdb-d6a35b092a88" providerId="AD" clId="Web-{BB77AF6C-8F6D-D388-1C67-416D1F414A84}"/>
    <pc:docChg chg="modSld">
      <pc:chgData name="Hattingh-Haasbroek, Annebel" userId="S::a.hattingh.haasbroek@student.tue.nl::5d09379f-1045-435e-acdb-d6a35b092a88" providerId="AD" clId="Web-{BB77AF6C-8F6D-D388-1C67-416D1F414A84}" dt="2026-08-10T14:28:51.226" v="11" actId="20577"/>
      <pc:docMkLst>
        <pc:docMk/>
      </pc:docMkLst>
      <pc:sldChg chg="modSp">
        <pc:chgData name="Hattingh-Haasbroek, Annebel" userId="S::a.hattingh.haasbroek@student.tue.nl::5d09379f-1045-435e-acdb-d6a35b092a88" providerId="AD" clId="Web-{BB77AF6C-8F6D-D388-1C67-416D1F414A84}" dt="2026-08-10T14:28:51.226" v="11" actId="20577"/>
        <pc:sldMkLst>
          <pc:docMk/>
          <pc:sldMk cId="110435291" sldId="273"/>
        </pc:sldMkLst>
        <pc:spChg chg="mod">
          <ac:chgData name="Hattingh-Haasbroek, Annebel" userId="S::a.hattingh.haasbroek@student.tue.nl::5d09379f-1045-435e-acdb-d6a35b092a88" providerId="AD" clId="Web-{BB77AF6C-8F6D-D388-1C67-416D1F414A84}" dt="2026-08-10T14:28:51.226" v="11" actId="20577"/>
          <ac:spMkLst>
            <pc:docMk/>
            <pc:sldMk cId="110435291" sldId="273"/>
            <ac:spMk id="3" creationId="{73A60500-F33A-DC5B-43EE-BE7B0B40ECC1}"/>
          </ac:spMkLst>
        </pc:spChg>
      </pc:sldChg>
    </pc:docChg>
  </pc:docChgLst>
  <pc:docChgLst>
    <pc:chgData name="Hattingh-Haasbroek, Juliette" userId="S::j.hattingh.haasbroek@student.tue.nl::20a05f05-2cec-4fa4-8c81-47330fa392d0" providerId="AD" clId="Web-{6597718B-57EA-21C4-2432-21B1E7344B12}"/>
    <pc:docChg chg="addSld delSld modSld sldOrd">
      <pc:chgData name="Hattingh-Haasbroek, Juliette" userId="S::j.hattingh.haasbroek@student.tue.nl::20a05f05-2cec-4fa4-8c81-47330fa392d0" providerId="AD" clId="Web-{6597718B-57EA-21C4-2432-21B1E7344B12}" dt="2026-08-10T10:50:44.169" v="14"/>
      <pc:docMkLst>
        <pc:docMk/>
      </pc:docMkLst>
      <pc:sldChg chg="modSp">
        <pc:chgData name="Hattingh-Haasbroek, Juliette" userId="S::j.hattingh.haasbroek@student.tue.nl::20a05f05-2cec-4fa4-8c81-47330fa392d0" providerId="AD" clId="Web-{6597718B-57EA-21C4-2432-21B1E7344B12}" dt="2026-08-10T10:48:12.816" v="3" actId="20577"/>
        <pc:sldMkLst>
          <pc:docMk/>
          <pc:sldMk cId="0" sldId="259"/>
        </pc:sldMkLst>
        <pc:spChg chg="mod">
          <ac:chgData name="Hattingh-Haasbroek, Juliette" userId="S::j.hattingh.haasbroek@student.tue.nl::20a05f05-2cec-4fa4-8c81-47330fa392d0" providerId="AD" clId="Web-{6597718B-57EA-21C4-2432-21B1E7344B12}" dt="2026-08-10T10:48:12.816" v="3" actId="20577"/>
          <ac:spMkLst>
            <pc:docMk/>
            <pc:sldMk cId="0" sldId="259"/>
            <ac:spMk id="264" creationId="{00000000-0000-0000-0000-000000000000}"/>
          </ac:spMkLst>
        </pc:spChg>
      </pc:sldChg>
      <pc:sldChg chg="modSp">
        <pc:chgData name="Hattingh-Haasbroek, Juliette" userId="S::j.hattingh.haasbroek@student.tue.nl::20a05f05-2cec-4fa4-8c81-47330fa392d0" providerId="AD" clId="Web-{6597718B-57EA-21C4-2432-21B1E7344B12}" dt="2026-08-10T10:48:53.896" v="7" actId="20577"/>
        <pc:sldMkLst>
          <pc:docMk/>
          <pc:sldMk cId="0" sldId="260"/>
        </pc:sldMkLst>
        <pc:spChg chg="mod">
          <ac:chgData name="Hattingh-Haasbroek, Juliette" userId="S::j.hattingh.haasbroek@student.tue.nl::20a05f05-2cec-4fa4-8c81-47330fa392d0" providerId="AD" clId="Web-{6597718B-57EA-21C4-2432-21B1E7344B12}" dt="2026-08-10T10:48:53.896" v="7" actId="20577"/>
          <ac:spMkLst>
            <pc:docMk/>
            <pc:sldMk cId="0" sldId="260"/>
            <ac:spMk id="270" creationId="{00000000-0000-0000-0000-000000000000}"/>
          </ac:spMkLst>
        </pc:spChg>
      </pc:sldChg>
      <pc:sldChg chg="modSp">
        <pc:chgData name="Hattingh-Haasbroek, Juliette" userId="S::j.hattingh.haasbroek@student.tue.nl::20a05f05-2cec-4fa4-8c81-47330fa392d0" providerId="AD" clId="Web-{6597718B-57EA-21C4-2432-21B1E7344B12}" dt="2026-08-10T10:48:41.958" v="5" actId="20577"/>
        <pc:sldMkLst>
          <pc:docMk/>
          <pc:sldMk cId="0" sldId="261"/>
        </pc:sldMkLst>
        <pc:spChg chg="mod">
          <ac:chgData name="Hattingh-Haasbroek, Juliette" userId="S::j.hattingh.haasbroek@student.tue.nl::20a05f05-2cec-4fa4-8c81-47330fa392d0" providerId="AD" clId="Web-{6597718B-57EA-21C4-2432-21B1E7344B12}" dt="2026-08-10T10:48:41.958" v="5" actId="20577"/>
          <ac:spMkLst>
            <pc:docMk/>
            <pc:sldMk cId="0" sldId="261"/>
            <ac:spMk id="276" creationId="{00000000-0000-0000-0000-000000000000}"/>
          </ac:spMkLst>
        </pc:spChg>
      </pc:sldChg>
      <pc:sldChg chg="modSp">
        <pc:chgData name="Hattingh-Haasbroek, Juliette" userId="S::j.hattingh.haasbroek@student.tue.nl::20a05f05-2cec-4fa4-8c81-47330fa392d0" providerId="AD" clId="Web-{6597718B-57EA-21C4-2432-21B1E7344B12}" dt="2026-08-10T10:49:07.835" v="9" actId="20577"/>
        <pc:sldMkLst>
          <pc:docMk/>
          <pc:sldMk cId="0" sldId="262"/>
        </pc:sldMkLst>
        <pc:spChg chg="mod">
          <ac:chgData name="Hattingh-Haasbroek, Juliette" userId="S::j.hattingh.haasbroek@student.tue.nl::20a05f05-2cec-4fa4-8c81-47330fa392d0" providerId="AD" clId="Web-{6597718B-57EA-21C4-2432-21B1E7344B12}" dt="2026-08-10T10:49:07.835" v="9" actId="20577"/>
          <ac:spMkLst>
            <pc:docMk/>
            <pc:sldMk cId="0" sldId="262"/>
            <ac:spMk id="282" creationId="{00000000-0000-0000-0000-000000000000}"/>
          </ac:spMkLst>
        </pc:spChg>
      </pc:sldChg>
      <pc:sldChg chg="modSp">
        <pc:chgData name="Hattingh-Haasbroek, Juliette" userId="S::j.hattingh.haasbroek@student.tue.nl::20a05f05-2cec-4fa4-8c81-47330fa392d0" providerId="AD" clId="Web-{6597718B-57EA-21C4-2432-21B1E7344B12}" dt="2026-08-10T10:49:11.929" v="10" actId="20577"/>
        <pc:sldMkLst>
          <pc:docMk/>
          <pc:sldMk cId="0" sldId="263"/>
        </pc:sldMkLst>
        <pc:spChg chg="mod">
          <ac:chgData name="Hattingh-Haasbroek, Juliette" userId="S::j.hattingh.haasbroek@student.tue.nl::20a05f05-2cec-4fa4-8c81-47330fa392d0" providerId="AD" clId="Web-{6597718B-57EA-21C4-2432-21B1E7344B12}" dt="2026-08-10T10:49:11.929" v="10" actId="20577"/>
          <ac:spMkLst>
            <pc:docMk/>
            <pc:sldMk cId="0" sldId="263"/>
            <ac:spMk id="288" creationId="{00000000-0000-0000-0000-000000000000}"/>
          </ac:spMkLst>
        </pc:spChg>
      </pc:sldChg>
      <pc:sldChg chg="modSp">
        <pc:chgData name="Hattingh-Haasbroek, Juliette" userId="S::j.hattingh.haasbroek@student.tue.nl::20a05f05-2cec-4fa4-8c81-47330fa392d0" providerId="AD" clId="Web-{6597718B-57EA-21C4-2432-21B1E7344B12}" dt="2026-08-10T10:46:36.606" v="0"/>
        <pc:sldMkLst>
          <pc:docMk/>
          <pc:sldMk cId="2382854525" sldId="269"/>
        </pc:sldMkLst>
        <pc:spChg chg="ord">
          <ac:chgData name="Hattingh-Haasbroek, Juliette" userId="S::j.hattingh.haasbroek@student.tue.nl::20a05f05-2cec-4fa4-8c81-47330fa392d0" providerId="AD" clId="Web-{6597718B-57EA-21C4-2432-21B1E7344B12}" dt="2026-08-10T10:46:36.606" v="0"/>
          <ac:spMkLst>
            <pc:docMk/>
            <pc:sldMk cId="2382854525" sldId="269"/>
            <ac:spMk id="5" creationId="{DEE4505E-7ABC-0E21-0318-0546422790F6}"/>
          </ac:spMkLst>
        </pc:spChg>
      </pc:sldChg>
      <pc:sldChg chg="modSp">
        <pc:chgData name="Hattingh-Haasbroek, Juliette" userId="S::j.hattingh.haasbroek@student.tue.nl::20a05f05-2cec-4fa4-8c81-47330fa392d0" providerId="AD" clId="Web-{6597718B-57EA-21C4-2432-21B1E7344B12}" dt="2026-08-10T10:48:06.221" v="2" actId="20577"/>
        <pc:sldMkLst>
          <pc:docMk/>
          <pc:sldMk cId="258992506" sldId="271"/>
        </pc:sldMkLst>
        <pc:spChg chg="mod">
          <ac:chgData name="Hattingh-Haasbroek, Juliette" userId="S::j.hattingh.haasbroek@student.tue.nl::20a05f05-2cec-4fa4-8c81-47330fa392d0" providerId="AD" clId="Web-{6597718B-57EA-21C4-2432-21B1E7344B12}" dt="2026-08-10T10:48:06.221" v="2" actId="20577"/>
          <ac:spMkLst>
            <pc:docMk/>
            <pc:sldMk cId="258992506" sldId="271"/>
            <ac:spMk id="258" creationId="{106681BB-F2CD-829B-6230-55CA2E24F067}"/>
          </ac:spMkLst>
        </pc:spChg>
      </pc:sldChg>
      <pc:sldChg chg="add ord replId">
        <pc:chgData name="Hattingh-Haasbroek, Juliette" userId="S::j.hattingh.haasbroek@student.tue.nl::20a05f05-2cec-4fa4-8c81-47330fa392d0" providerId="AD" clId="Web-{6597718B-57EA-21C4-2432-21B1E7344B12}" dt="2026-08-10T10:50:33.262" v="13"/>
        <pc:sldMkLst>
          <pc:docMk/>
          <pc:sldMk cId="110435291" sldId="273"/>
        </pc:sldMkLst>
      </pc:sldChg>
    </pc:docChg>
  </pc:docChgLst>
  <pc:docChgLst>
    <pc:chgData name="Hattingh-Haasbroek, Juliette" userId="S::j.hattingh.haasbroek@student.tue.nl::20a05f05-2cec-4fa4-8c81-47330fa392d0" providerId="AD" clId="Web-{5BBB2023-6E02-0D53-421B-4DE858C553EC}"/>
    <pc:docChg chg="modSld">
      <pc:chgData name="Hattingh-Haasbroek, Juliette" userId="S::j.hattingh.haasbroek@student.tue.nl::20a05f05-2cec-4fa4-8c81-47330fa392d0" providerId="AD" clId="Web-{5BBB2023-6E02-0D53-421B-4DE858C553EC}" dt="2026-08-10T11:17:20.456" v="44" actId="20577"/>
      <pc:docMkLst>
        <pc:docMk/>
      </pc:docMkLst>
      <pc:sldChg chg="modSp">
        <pc:chgData name="Hattingh-Haasbroek, Juliette" userId="S::j.hattingh.haasbroek@student.tue.nl::20a05f05-2cec-4fa4-8c81-47330fa392d0" providerId="AD" clId="Web-{5BBB2023-6E02-0D53-421B-4DE858C553EC}" dt="2026-08-10T11:17:04.331" v="42" actId="20577"/>
        <pc:sldMkLst>
          <pc:docMk/>
          <pc:sldMk cId="0" sldId="262"/>
        </pc:sldMkLst>
        <pc:spChg chg="mod">
          <ac:chgData name="Hattingh-Haasbroek, Juliette" userId="S::j.hattingh.haasbroek@student.tue.nl::20a05f05-2cec-4fa4-8c81-47330fa392d0" providerId="AD" clId="Web-{5BBB2023-6E02-0D53-421B-4DE858C553EC}" dt="2026-08-10T11:17:04.331" v="42" actId="20577"/>
          <ac:spMkLst>
            <pc:docMk/>
            <pc:sldMk cId="0" sldId="262"/>
            <ac:spMk id="282" creationId="{00000000-0000-0000-0000-000000000000}"/>
          </ac:spMkLst>
        </pc:spChg>
      </pc:sldChg>
      <pc:sldChg chg="modSp">
        <pc:chgData name="Hattingh-Haasbroek, Juliette" userId="S::j.hattingh.haasbroek@student.tue.nl::20a05f05-2cec-4fa4-8c81-47330fa392d0" providerId="AD" clId="Web-{5BBB2023-6E02-0D53-421B-4DE858C553EC}" dt="2026-08-10T11:17:20.456" v="44" actId="20577"/>
        <pc:sldMkLst>
          <pc:docMk/>
          <pc:sldMk cId="0" sldId="263"/>
        </pc:sldMkLst>
        <pc:spChg chg="mod">
          <ac:chgData name="Hattingh-Haasbroek, Juliette" userId="S::j.hattingh.haasbroek@student.tue.nl::20a05f05-2cec-4fa4-8c81-47330fa392d0" providerId="AD" clId="Web-{5BBB2023-6E02-0D53-421B-4DE858C553EC}" dt="2026-08-10T11:17:20.456" v="44" actId="20577"/>
          <ac:spMkLst>
            <pc:docMk/>
            <pc:sldMk cId="0" sldId="263"/>
            <ac:spMk id="288" creationId="{00000000-0000-0000-0000-000000000000}"/>
          </ac:spMkLst>
        </pc:spChg>
      </pc:sldChg>
      <pc:sldChg chg="modSp">
        <pc:chgData name="Hattingh-Haasbroek, Juliette" userId="S::j.hattingh.haasbroek@student.tue.nl::20a05f05-2cec-4fa4-8c81-47330fa392d0" providerId="AD" clId="Web-{5BBB2023-6E02-0D53-421B-4DE858C553EC}" dt="2026-08-10T11:14:33.718" v="41" actId="20577"/>
        <pc:sldMkLst>
          <pc:docMk/>
          <pc:sldMk cId="3870772867" sldId="268"/>
        </pc:sldMkLst>
        <pc:spChg chg="mod">
          <ac:chgData name="Hattingh-Haasbroek, Juliette" userId="S::j.hattingh.haasbroek@student.tue.nl::20a05f05-2cec-4fa4-8c81-47330fa392d0" providerId="AD" clId="Web-{5BBB2023-6E02-0D53-421B-4DE858C553EC}" dt="2026-08-10T11:14:33.718" v="41" actId="20577"/>
          <ac:spMkLst>
            <pc:docMk/>
            <pc:sldMk cId="3870772867" sldId="268"/>
            <ac:spMk id="3" creationId="{2FE5723D-AE46-2DA1-A358-28917D556EC8}"/>
          </ac:spMkLst>
        </pc:spChg>
      </pc:sldChg>
      <pc:sldChg chg="addSp modSp">
        <pc:chgData name="Hattingh-Haasbroek, Juliette" userId="S::j.hattingh.haasbroek@student.tue.nl::20a05f05-2cec-4fa4-8c81-47330fa392d0" providerId="AD" clId="Web-{5BBB2023-6E02-0D53-421B-4DE858C553EC}" dt="2026-08-10T11:13:55.889" v="39" actId="20577"/>
        <pc:sldMkLst>
          <pc:docMk/>
          <pc:sldMk cId="110435291" sldId="273"/>
        </pc:sldMkLst>
        <pc:spChg chg="mod">
          <ac:chgData name="Hattingh-Haasbroek, Juliette" userId="S::j.hattingh.haasbroek@student.tue.nl::20a05f05-2cec-4fa4-8c81-47330fa392d0" providerId="AD" clId="Web-{5BBB2023-6E02-0D53-421B-4DE858C553EC}" dt="2026-08-10T11:09:28.148" v="7" actId="20577"/>
          <ac:spMkLst>
            <pc:docMk/>
            <pc:sldMk cId="110435291" sldId="273"/>
            <ac:spMk id="2" creationId="{8F74BB17-E84F-DB4A-0E37-638719C31102}"/>
          </ac:spMkLst>
        </pc:spChg>
        <pc:spChg chg="mod">
          <ac:chgData name="Hattingh-Haasbroek, Juliette" userId="S::j.hattingh.haasbroek@student.tue.nl::20a05f05-2cec-4fa4-8c81-47330fa392d0" providerId="AD" clId="Web-{5BBB2023-6E02-0D53-421B-4DE858C553EC}" dt="2026-08-10T11:13:55.889" v="39" actId="20577"/>
          <ac:spMkLst>
            <pc:docMk/>
            <pc:sldMk cId="110435291" sldId="273"/>
            <ac:spMk id="3" creationId="{73A60500-F33A-DC5B-43EE-BE7B0B40ECC1}"/>
          </ac:spMkLst>
        </pc:spChg>
        <pc:spChg chg="add mod">
          <ac:chgData name="Hattingh-Haasbroek, Juliette" userId="S::j.hattingh.haasbroek@student.tue.nl::20a05f05-2cec-4fa4-8c81-47330fa392d0" providerId="AD" clId="Web-{5BBB2023-6E02-0D53-421B-4DE858C553EC}" dt="2026-08-10T11:11:44.777" v="27" actId="20577"/>
          <ac:spMkLst>
            <pc:docMk/>
            <pc:sldMk cId="110435291" sldId="273"/>
            <ac:spMk id="5" creationId="{1686B79B-195D-2461-79ED-C14B0AAAA43E}"/>
          </ac:spMkLst>
        </pc:spChg>
        <pc:spChg chg="add mod">
          <ac:chgData name="Hattingh-Haasbroek, Juliette" userId="S::j.hattingh.haasbroek@student.tue.nl::20a05f05-2cec-4fa4-8c81-47330fa392d0" providerId="AD" clId="Web-{5BBB2023-6E02-0D53-421B-4DE858C553EC}" dt="2026-08-10T11:12:02.433" v="29" actId="20577"/>
          <ac:spMkLst>
            <pc:docMk/>
            <pc:sldMk cId="110435291" sldId="273"/>
            <ac:spMk id="7" creationId="{3D4E69E7-93D6-5CB6-72D4-B60B45BBC62C}"/>
          </ac:spMkLst>
        </pc:spChg>
        <pc:spChg chg="add mod">
          <ac:chgData name="Hattingh-Haasbroek, Juliette" userId="S::j.hattingh.haasbroek@student.tue.nl::20a05f05-2cec-4fa4-8c81-47330fa392d0" providerId="AD" clId="Web-{5BBB2023-6E02-0D53-421B-4DE858C553EC}" dt="2026-08-10T11:12:51.934" v="33" actId="20577"/>
          <ac:spMkLst>
            <pc:docMk/>
            <pc:sldMk cId="110435291" sldId="273"/>
            <ac:spMk id="9" creationId="{4809994E-2E63-5A6E-C243-27014BA40D57}"/>
          </ac:spMkLst>
        </pc:spChg>
        <pc:spChg chg="add mod">
          <ac:chgData name="Hattingh-Haasbroek, Juliette" userId="S::j.hattingh.haasbroek@student.tue.nl::20a05f05-2cec-4fa4-8c81-47330fa392d0" providerId="AD" clId="Web-{5BBB2023-6E02-0D53-421B-4DE858C553EC}" dt="2026-08-10T11:12:21.309" v="32" actId="20577"/>
          <ac:spMkLst>
            <pc:docMk/>
            <pc:sldMk cId="110435291" sldId="273"/>
            <ac:spMk id="11" creationId="{B21B9015-7258-4D1A-B48D-96FB67AD004E}"/>
          </ac:spMkLst>
        </pc:spChg>
        <pc:grpChg chg="add">
          <ac:chgData name="Hattingh-Haasbroek, Juliette" userId="S::j.hattingh.haasbroek@student.tue.nl::20a05f05-2cec-4fa4-8c81-47330fa392d0" providerId="AD" clId="Web-{5BBB2023-6E02-0D53-421B-4DE858C553EC}" dt="2026-08-10T11:10:38.150" v="18"/>
          <ac:grpSpMkLst>
            <pc:docMk/>
            <pc:sldMk cId="110435291" sldId="273"/>
            <ac:grpSpMk id="15" creationId="{92830BA8-D506-FBF0-A684-56C154DD2AB5}"/>
          </ac:grpSpMkLst>
        </pc:grpChg>
        <pc:grpChg chg="add">
          <ac:chgData name="Hattingh-Haasbroek, Juliette" userId="S::j.hattingh.haasbroek@student.tue.nl::20a05f05-2cec-4fa4-8c81-47330fa392d0" providerId="AD" clId="Web-{5BBB2023-6E02-0D53-421B-4DE858C553EC}" dt="2026-08-10T11:10:38.166" v="19"/>
          <ac:grpSpMkLst>
            <pc:docMk/>
            <pc:sldMk cId="110435291" sldId="273"/>
            <ac:grpSpMk id="19" creationId="{CD840F8B-57AA-A927-DA79-A865610CD478}"/>
          </ac:grpSpMkLst>
        </pc:grpChg>
      </pc:sldChg>
    </pc:docChg>
  </pc:docChgLst>
  <pc:docChgLst>
    <pc:chgData name="Hattingh-Haasbroek, Juliette" userId="S::j.hattingh.haasbroek@student.tue.nl::20a05f05-2cec-4fa4-8c81-47330fa392d0" providerId="AD" clId="Web-{56568E12-1677-D620-2B52-3BABA1C5097F}"/>
    <pc:docChg chg="addSld delSld modSld">
      <pc:chgData name="Hattingh-Haasbroek, Juliette" userId="S::j.hattingh.haasbroek@student.tue.nl::20a05f05-2cec-4fa4-8c81-47330fa392d0" providerId="AD" clId="Web-{56568E12-1677-D620-2B52-3BABA1C5097F}" dt="2026-08-07T11:36:02.171" v="58"/>
      <pc:docMkLst>
        <pc:docMk/>
      </pc:docMkLst>
      <pc:sldChg chg="addSp delSp modSp new">
        <pc:chgData name="Hattingh-Haasbroek, Juliette" userId="S::j.hattingh.haasbroek@student.tue.nl::20a05f05-2cec-4fa4-8c81-47330fa392d0" providerId="AD" clId="Web-{56568E12-1677-D620-2B52-3BABA1C5097F}" dt="2026-08-07T11:36:02.171" v="58"/>
        <pc:sldMkLst>
          <pc:docMk/>
          <pc:sldMk cId="2382854525" sldId="269"/>
        </pc:sldMkLst>
        <pc:spChg chg="add mod">
          <ac:chgData name="Hattingh-Haasbroek, Juliette" userId="S::j.hattingh.haasbroek@student.tue.nl::20a05f05-2cec-4fa4-8c81-47330fa392d0" providerId="AD" clId="Web-{56568E12-1677-D620-2B52-3BABA1C5097F}" dt="2026-08-07T11:30:48.756" v="51" actId="1076"/>
          <ac:spMkLst>
            <pc:docMk/>
            <pc:sldMk cId="2382854525" sldId="269"/>
            <ac:spMk id="3" creationId="{67202C24-20A5-288E-9D7E-3712C766AE19}"/>
          </ac:spMkLst>
        </pc:spChg>
        <pc:spChg chg="add mod">
          <ac:chgData name="Hattingh-Haasbroek, Juliette" userId="S::j.hattingh.haasbroek@student.tue.nl::20a05f05-2cec-4fa4-8c81-47330fa392d0" providerId="AD" clId="Web-{56568E12-1677-D620-2B52-3BABA1C5097F}" dt="2026-08-07T11:30:48.772" v="52" actId="1076"/>
          <ac:spMkLst>
            <pc:docMk/>
            <pc:sldMk cId="2382854525" sldId="269"/>
            <ac:spMk id="5" creationId="{DEE4505E-7ABC-0E21-0318-0546422790F6}"/>
          </ac:spMkLst>
        </pc:spChg>
      </pc:sldChg>
    </pc:docChg>
  </pc:docChgLst>
  <pc:docChgLst>
    <pc:chgData name="Gonzalez Miranda, Erandi" userId="ce6c0d3c-5575-4105-a5fa-726756340338" providerId="ADAL" clId="{A4A9EF8B-0739-4689-90D1-289C004E0AB6}"/>
    <pc:docChg chg="undo custSel addSld delSld modSld modMainMaster">
      <pc:chgData name="Gonzalez Miranda, Erandi" userId="ce6c0d3c-5575-4105-a5fa-726756340338" providerId="ADAL" clId="{A4A9EF8B-0739-4689-90D1-289C004E0AB6}" dt="2026-08-10T12:08:24.201" v="541" actId="2696"/>
      <pc:docMkLst>
        <pc:docMk/>
      </pc:docMkLst>
      <pc:sldChg chg="add del">
        <pc:chgData name="Gonzalez Miranda, Erandi" userId="ce6c0d3c-5575-4105-a5fa-726756340338" providerId="ADAL" clId="{A4A9EF8B-0739-4689-90D1-289C004E0AB6}" dt="2026-08-10T12:08:24.201" v="541" actId="2696"/>
        <pc:sldMkLst>
          <pc:docMk/>
          <pc:sldMk cId="0" sldId="259"/>
        </pc:sldMkLst>
      </pc:sldChg>
      <pc:sldChg chg="modSp mod modCm">
        <pc:chgData name="Gonzalez Miranda, Erandi" userId="ce6c0d3c-5575-4105-a5fa-726756340338" providerId="ADAL" clId="{A4A9EF8B-0739-4689-90D1-289C004E0AB6}" dt="2026-08-10T12:07:10.011" v="539" actId="20577"/>
        <pc:sldMkLst>
          <pc:docMk/>
          <pc:sldMk cId="0" sldId="262"/>
        </pc:sldMkLst>
        <pc:spChg chg="mod">
          <ac:chgData name="Gonzalez Miranda, Erandi" userId="ce6c0d3c-5575-4105-a5fa-726756340338" providerId="ADAL" clId="{A4A9EF8B-0739-4689-90D1-289C004E0AB6}" dt="2026-08-10T12:07:10.011" v="539" actId="20577"/>
          <ac:spMkLst>
            <pc:docMk/>
            <pc:sldMk cId="0" sldId="262"/>
            <ac:spMk id="282" creationId="{00000000-0000-0000-0000-000000000000}"/>
          </ac:spMkLst>
        </pc:spChg>
        <pc:extLst>
          <p:ext xmlns:p="http://schemas.openxmlformats.org/presentationml/2006/main" uri="{D6D511B9-2390-475A-947B-AFAB55BFBCF1}">
            <pc226:cmChg xmlns:pc226="http://schemas.microsoft.com/office/powerpoint/2022/06/main/command" chg="mod">
              <pc226:chgData name="Gonzalez Miranda, Erandi" userId="ce6c0d3c-5575-4105-a5fa-726756340338" providerId="ADAL" clId="{A4A9EF8B-0739-4689-90D1-289C004E0AB6}" dt="2026-08-10T12:07:10.011" v="539" actId="20577"/>
              <pc2:cmMkLst xmlns:pc2="http://schemas.microsoft.com/office/powerpoint/2019/9/main/command">
                <pc:docMk/>
                <pc:sldMk cId="0" sldId="262"/>
                <pc2:cmMk id="{9E357128-BDAD-4596-8477-5B6D15A3E45C}"/>
              </pc2:cmMkLst>
            </pc226:cmChg>
          </p:ext>
        </pc:extLst>
      </pc:sldChg>
      <pc:sldMasterChg chg="modSldLayout">
        <pc:chgData name="Gonzalez Miranda, Erandi" userId="ce6c0d3c-5575-4105-a5fa-726756340338" providerId="ADAL" clId="{A4A9EF8B-0739-4689-90D1-289C004E0AB6}" dt="2026-08-05T09:28:55.465" v="533" actId="478"/>
        <pc:sldMasterMkLst>
          <pc:docMk/>
          <pc:sldMasterMk cId="3560221808" sldId="2147483695"/>
        </pc:sldMasterMkLst>
        <pc:sldLayoutChg chg="addSp modSp mod">
          <pc:chgData name="Gonzalez Miranda, Erandi" userId="ce6c0d3c-5575-4105-a5fa-726756340338" providerId="ADAL" clId="{A4A9EF8B-0739-4689-90D1-289C004E0AB6}" dt="2026-08-05T09:26:13.788" v="449" actId="1037"/>
          <pc:sldLayoutMkLst>
            <pc:docMk/>
            <pc:sldMasterMk cId="3560221808" sldId="2147483695"/>
            <pc:sldLayoutMk cId="332934846" sldId="2147483696"/>
          </pc:sldLayoutMkLst>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8" creationId="{7E4AB850-DB14-1C08-2BB5-EFA9D1F8EF07}"/>
            </ac:picMkLst>
          </pc:picChg>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10" creationId="{7394EC7F-5BBC-59CE-7C58-FB895D6932C8}"/>
            </ac:picMkLst>
          </pc:picChg>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12" creationId="{CF154139-B550-806E-2BC0-3EF6B61D671C}"/>
            </ac:picMkLst>
          </pc:picChg>
        </pc:sldLayoutChg>
        <pc:sldLayoutChg chg="addSp delSp modSp mod">
          <pc:chgData name="Gonzalez Miranda, Erandi" userId="ce6c0d3c-5575-4105-a5fa-726756340338" providerId="ADAL" clId="{A4A9EF8B-0739-4689-90D1-289C004E0AB6}" dt="2026-08-05T09:28:55.465" v="533" actId="478"/>
          <pc:sldLayoutMkLst>
            <pc:docMk/>
            <pc:sldMasterMk cId="3560221808" sldId="2147483695"/>
            <pc:sldLayoutMk cId="2362226540" sldId="2147483697"/>
          </pc:sldLayoutMkLst>
        </pc:sldLayoutChg>
      </pc:sldMasterChg>
    </pc:docChg>
  </pc:docChgLst>
  <pc:docChgLst>
    <pc:chgData name="Hattingh-Haasbroek, Juliette" userId="S::j.hattingh.haasbroek@student.tue.nl::20a05f05-2cec-4fa4-8c81-47330fa392d0" providerId="AD" clId="Web-{273FD574-8A03-DF3E-C1D5-770E60C0B530}"/>
    <pc:docChg chg="delSld modSld">
      <pc:chgData name="Hattingh-Haasbroek, Juliette" userId="S::j.hattingh.haasbroek@student.tue.nl::20a05f05-2cec-4fa4-8c81-47330fa392d0" providerId="AD" clId="Web-{273FD574-8A03-DF3E-C1D5-770E60C0B530}" dt="2026-08-10T14:34:25.928" v="196"/>
      <pc:docMkLst>
        <pc:docMk/>
      </pc:docMkLst>
      <pc:sldChg chg="modSp modCm">
        <pc:chgData name="Hattingh-Haasbroek, Juliette" userId="S::j.hattingh.haasbroek@student.tue.nl::20a05f05-2cec-4fa4-8c81-47330fa392d0" providerId="AD" clId="Web-{273FD574-8A03-DF3E-C1D5-770E60C0B530}" dt="2026-08-10T14:29:50.967" v="174" actId="20577"/>
        <pc:sldMkLst>
          <pc:docMk/>
          <pc:sldMk cId="0" sldId="259"/>
        </pc:sldMkLst>
        <pc:spChg chg="mod">
          <ac:chgData name="Hattingh-Haasbroek, Juliette" userId="S::j.hattingh.haasbroek@student.tue.nl::20a05f05-2cec-4fa4-8c81-47330fa392d0" providerId="AD" clId="Web-{273FD574-8A03-DF3E-C1D5-770E60C0B530}" dt="2026-08-10T14:29:50.967" v="174" actId="20577"/>
          <ac:spMkLst>
            <pc:docMk/>
            <pc:sldMk cId="0" sldId="259"/>
            <ac:spMk id="264" creationId="{00000000-0000-0000-0000-000000000000}"/>
          </ac:spMkLst>
        </pc:spChg>
        <pc:spChg chg="mod">
          <ac:chgData name="Hattingh-Haasbroek, Juliette" userId="S::j.hattingh.haasbroek@student.tue.nl::20a05f05-2cec-4fa4-8c81-47330fa392d0" providerId="AD" clId="Web-{273FD574-8A03-DF3E-C1D5-770E60C0B530}" dt="2026-08-10T14:29:04.012" v="148" actId="20577"/>
          <ac:spMkLst>
            <pc:docMk/>
            <pc:sldMk cId="0" sldId="259"/>
            <ac:spMk id="265" creationId="{00000000-0000-0000-0000-000000000000}"/>
          </ac:spMkLst>
        </pc:spChg>
        <pc:extLst>
          <p:ext xmlns:p="http://schemas.openxmlformats.org/presentationml/2006/main" uri="{D6D511B9-2390-475A-947B-AFAB55BFBCF1}">
            <pc226:cmChg xmlns:pc226="http://schemas.microsoft.com/office/powerpoint/2022/06/main/command" chg="mod">
              <pc226:chgData name="Hattingh-Haasbroek, Juliette" userId="S::j.hattingh.haasbroek@student.tue.nl::20a05f05-2cec-4fa4-8c81-47330fa392d0" providerId="AD" clId="Web-{273FD574-8A03-DF3E-C1D5-770E60C0B530}" dt="2026-08-10T14:29:50.967" v="174" actId="20577"/>
              <pc2:cmMkLst xmlns:pc2="http://schemas.microsoft.com/office/powerpoint/2019/9/main/command">
                <pc:docMk/>
                <pc:sldMk cId="0" sldId="259"/>
                <pc2:cmMk id="{ED67624D-139E-45B2-9F04-F2193AF5A089}"/>
              </pc2:cmMkLst>
            </pc226:cmChg>
          </p:ext>
        </pc:extLst>
      </pc:sldChg>
      <pc:sldChg chg="modSp">
        <pc:chgData name="Hattingh-Haasbroek, Juliette" userId="S::j.hattingh.haasbroek@student.tue.nl::20a05f05-2cec-4fa4-8c81-47330fa392d0" providerId="AD" clId="Web-{273FD574-8A03-DF3E-C1D5-770E60C0B530}" dt="2026-08-10T14:30:56.375" v="192" actId="20577"/>
        <pc:sldMkLst>
          <pc:docMk/>
          <pc:sldMk cId="0" sldId="260"/>
        </pc:sldMkLst>
        <pc:spChg chg="mod">
          <ac:chgData name="Hattingh-Haasbroek, Juliette" userId="S::j.hattingh.haasbroek@student.tue.nl::20a05f05-2cec-4fa4-8c81-47330fa392d0" providerId="AD" clId="Web-{273FD574-8A03-DF3E-C1D5-770E60C0B530}" dt="2026-08-10T14:30:03.014" v="178" actId="20577"/>
          <ac:spMkLst>
            <pc:docMk/>
            <pc:sldMk cId="0" sldId="260"/>
            <ac:spMk id="270" creationId="{00000000-0000-0000-0000-000000000000}"/>
          </ac:spMkLst>
        </pc:spChg>
        <pc:spChg chg="mod">
          <ac:chgData name="Hattingh-Haasbroek, Juliette" userId="S::j.hattingh.haasbroek@student.tue.nl::20a05f05-2cec-4fa4-8c81-47330fa392d0" providerId="AD" clId="Web-{273FD574-8A03-DF3E-C1D5-770E60C0B530}" dt="2026-08-10T14:30:56.375" v="192" actId="20577"/>
          <ac:spMkLst>
            <pc:docMk/>
            <pc:sldMk cId="0" sldId="260"/>
            <ac:spMk id="271" creationId="{00000000-0000-0000-0000-000000000000}"/>
          </ac:spMkLst>
        </pc:spChg>
      </pc:sldChg>
      <pc:sldChg chg="modSp">
        <pc:chgData name="Hattingh-Haasbroek, Juliette" userId="S::j.hattingh.haasbroek@student.tue.nl::20a05f05-2cec-4fa4-8c81-47330fa392d0" providerId="AD" clId="Web-{273FD574-8A03-DF3E-C1D5-770E60C0B530}" dt="2026-08-10T14:31:01.422" v="193" actId="20577"/>
        <pc:sldMkLst>
          <pc:docMk/>
          <pc:sldMk cId="0" sldId="261"/>
        </pc:sldMkLst>
        <pc:spChg chg="mod">
          <ac:chgData name="Hattingh-Haasbroek, Juliette" userId="S::j.hattingh.haasbroek@student.tue.nl::20a05f05-2cec-4fa4-8c81-47330fa392d0" providerId="AD" clId="Web-{273FD574-8A03-DF3E-C1D5-770E60C0B530}" dt="2026-08-10T14:30:11.201" v="182" actId="20577"/>
          <ac:spMkLst>
            <pc:docMk/>
            <pc:sldMk cId="0" sldId="261"/>
            <ac:spMk id="276" creationId="{00000000-0000-0000-0000-000000000000}"/>
          </ac:spMkLst>
        </pc:spChg>
        <pc:spChg chg="mod">
          <ac:chgData name="Hattingh-Haasbroek, Juliette" userId="S::j.hattingh.haasbroek@student.tue.nl::20a05f05-2cec-4fa4-8c81-47330fa392d0" providerId="AD" clId="Web-{273FD574-8A03-DF3E-C1D5-770E60C0B530}" dt="2026-08-10T14:31:01.422" v="193" actId="20577"/>
          <ac:spMkLst>
            <pc:docMk/>
            <pc:sldMk cId="0" sldId="261"/>
            <ac:spMk id="277" creationId="{00000000-0000-0000-0000-000000000000}"/>
          </ac:spMkLst>
        </pc:spChg>
      </pc:sldChg>
      <pc:sldChg chg="modSp modCm">
        <pc:chgData name="Hattingh-Haasbroek, Juliette" userId="S::j.hattingh.haasbroek@student.tue.nl::20a05f05-2cec-4fa4-8c81-47330fa392d0" providerId="AD" clId="Web-{273FD574-8A03-DF3E-C1D5-770E60C0B530}" dt="2026-08-10T14:31:06.016" v="194" actId="20577"/>
        <pc:sldMkLst>
          <pc:docMk/>
          <pc:sldMk cId="0" sldId="262"/>
        </pc:sldMkLst>
        <pc:spChg chg="mod">
          <ac:chgData name="Hattingh-Haasbroek, Juliette" userId="S::j.hattingh.haasbroek@student.tue.nl::20a05f05-2cec-4fa4-8c81-47330fa392d0" providerId="AD" clId="Web-{273FD574-8A03-DF3E-C1D5-770E60C0B530}" dt="2026-08-10T14:30:15.561" v="184" actId="20577"/>
          <ac:spMkLst>
            <pc:docMk/>
            <pc:sldMk cId="0" sldId="262"/>
            <ac:spMk id="282" creationId="{00000000-0000-0000-0000-000000000000}"/>
          </ac:spMkLst>
        </pc:spChg>
        <pc:spChg chg="mod">
          <ac:chgData name="Hattingh-Haasbroek, Juliette" userId="S::j.hattingh.haasbroek@student.tue.nl::20a05f05-2cec-4fa4-8c81-47330fa392d0" providerId="AD" clId="Web-{273FD574-8A03-DF3E-C1D5-770E60C0B530}" dt="2026-08-10T14:31:06.016" v="194" actId="20577"/>
          <ac:spMkLst>
            <pc:docMk/>
            <pc:sldMk cId="0" sldId="262"/>
            <ac:spMk id="283" creationId="{00000000-0000-0000-0000-000000000000}"/>
          </ac:spMkLst>
        </pc:spChg>
        <pc:extLst>
          <p:ext xmlns:p="http://schemas.openxmlformats.org/presentationml/2006/main" uri="{D6D511B9-2390-475A-947B-AFAB55BFBCF1}">
            <pc226:cmChg xmlns:pc226="http://schemas.microsoft.com/office/powerpoint/2022/06/main/command" chg="mod">
              <pc226:chgData name="Hattingh-Haasbroek, Juliette" userId="S::j.hattingh.haasbroek@student.tue.nl::20a05f05-2cec-4fa4-8c81-47330fa392d0" providerId="AD" clId="Web-{273FD574-8A03-DF3E-C1D5-770E60C0B530}" dt="2026-08-10T14:30:15.561" v="184" actId="20577"/>
              <pc2:cmMkLst xmlns:pc2="http://schemas.microsoft.com/office/powerpoint/2019/9/main/command">
                <pc:docMk/>
                <pc:sldMk cId="0" sldId="262"/>
                <pc2:cmMk id="{9E357128-BDAD-4596-8477-5B6D15A3E45C}"/>
              </pc2:cmMkLst>
            </pc226:cmChg>
          </p:ext>
        </pc:extLst>
      </pc:sldChg>
      <pc:sldChg chg="modSp">
        <pc:chgData name="Hattingh-Haasbroek, Juliette" userId="S::j.hattingh.haasbroek@student.tue.nl::20a05f05-2cec-4fa4-8c81-47330fa392d0" providerId="AD" clId="Web-{273FD574-8A03-DF3E-C1D5-770E60C0B530}" dt="2026-08-10T14:31:10.922" v="195" actId="20577"/>
        <pc:sldMkLst>
          <pc:docMk/>
          <pc:sldMk cId="0" sldId="263"/>
        </pc:sldMkLst>
        <pc:spChg chg="mod">
          <ac:chgData name="Hattingh-Haasbroek, Juliette" userId="S::j.hattingh.haasbroek@student.tue.nl::20a05f05-2cec-4fa4-8c81-47330fa392d0" providerId="AD" clId="Web-{273FD574-8A03-DF3E-C1D5-770E60C0B530}" dt="2026-08-10T14:30:28.108" v="188" actId="20577"/>
          <ac:spMkLst>
            <pc:docMk/>
            <pc:sldMk cId="0" sldId="263"/>
            <ac:spMk id="288" creationId="{00000000-0000-0000-0000-000000000000}"/>
          </ac:spMkLst>
        </pc:spChg>
        <pc:spChg chg="mod">
          <ac:chgData name="Hattingh-Haasbroek, Juliette" userId="S::j.hattingh.haasbroek@student.tue.nl::20a05f05-2cec-4fa4-8c81-47330fa392d0" providerId="AD" clId="Web-{273FD574-8A03-DF3E-C1D5-770E60C0B530}" dt="2026-08-10T14:31:10.922" v="195" actId="20577"/>
          <ac:spMkLst>
            <pc:docMk/>
            <pc:sldMk cId="0" sldId="263"/>
            <ac:spMk id="289" creationId="{00000000-0000-0000-0000-000000000000}"/>
          </ac:spMkLst>
        </pc:spChg>
      </pc:sldChg>
      <pc:sldChg chg="addSp delSp modSp">
        <pc:chgData name="Hattingh-Haasbroek, Juliette" userId="S::j.hattingh.haasbroek@student.tue.nl::20a05f05-2cec-4fa4-8c81-47330fa392d0" providerId="AD" clId="Web-{273FD574-8A03-DF3E-C1D5-770E60C0B530}" dt="2026-08-10T14:28:43.418" v="144" actId="20577"/>
        <pc:sldMkLst>
          <pc:docMk/>
          <pc:sldMk cId="258992506" sldId="271"/>
        </pc:sldMkLst>
        <pc:spChg chg="add mod">
          <ac:chgData name="Hattingh-Haasbroek, Juliette" userId="S::j.hattingh.haasbroek@student.tue.nl::20a05f05-2cec-4fa4-8c81-47330fa392d0" providerId="AD" clId="Web-{273FD574-8A03-DF3E-C1D5-770E60C0B530}" dt="2026-08-10T14:28:38.433" v="137" actId="20577"/>
          <ac:spMkLst>
            <pc:docMk/>
            <pc:sldMk cId="258992506" sldId="271"/>
            <ac:spMk id="3" creationId="{95C82ED3-CDCC-D703-21FC-118D08EE15CF}"/>
          </ac:spMkLst>
        </pc:spChg>
        <pc:spChg chg="mod">
          <ac:chgData name="Hattingh-Haasbroek, Juliette" userId="S::j.hattingh.haasbroek@student.tue.nl::20a05f05-2cec-4fa4-8c81-47330fa392d0" providerId="AD" clId="Web-{273FD574-8A03-DF3E-C1D5-770E60C0B530}" dt="2026-08-10T14:28:43.418" v="144" actId="20577"/>
          <ac:spMkLst>
            <pc:docMk/>
            <pc:sldMk cId="258992506" sldId="271"/>
            <ac:spMk id="258" creationId="{106681BB-F2CD-829B-6230-55CA2E24F067}"/>
          </ac:spMkLst>
        </pc:spChg>
      </pc:sldChg>
      <pc:sldChg chg="modSp">
        <pc:chgData name="Hattingh-Haasbroek, Juliette" userId="S::j.hattingh.haasbroek@student.tue.nl::20a05f05-2cec-4fa4-8c81-47330fa392d0" providerId="AD" clId="Web-{273FD574-8A03-DF3E-C1D5-770E60C0B530}" dt="2026-08-10T14:30:46.328" v="191" actId="20577"/>
        <pc:sldMkLst>
          <pc:docMk/>
          <pc:sldMk cId="110435291" sldId="273"/>
        </pc:sldMkLst>
        <pc:spChg chg="mod">
          <ac:chgData name="Hattingh-Haasbroek, Juliette" userId="S::j.hattingh.haasbroek@student.tue.nl::20a05f05-2cec-4fa4-8c81-47330fa392d0" providerId="AD" clId="Web-{273FD574-8A03-DF3E-C1D5-770E60C0B530}" dt="2026-08-10T14:30:46.328" v="191" actId="20577"/>
          <ac:spMkLst>
            <pc:docMk/>
            <pc:sldMk cId="110435291" sldId="273"/>
            <ac:spMk id="3" creationId="{73A60500-F33A-DC5B-43EE-BE7B0B40ECC1}"/>
          </ac:spMkLst>
        </pc:spChg>
        <pc:spChg chg="mod">
          <ac:chgData name="Hattingh-Haasbroek, Juliette" userId="S::j.hattingh.haasbroek@student.tue.nl::20a05f05-2cec-4fa4-8c81-47330fa392d0" providerId="AD" clId="Web-{273FD574-8A03-DF3E-C1D5-770E60C0B530}" dt="2026-08-10T14:22:41.125" v="83" actId="20577"/>
          <ac:spMkLst>
            <pc:docMk/>
            <pc:sldMk cId="110435291" sldId="273"/>
            <ac:spMk id="7" creationId="{3D4E69E7-93D6-5CB6-72D4-B60B45BBC62C}"/>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t>Cropland in the 5 Aweil counties (% of land)</a:t>
            </a:r>
          </a:p>
        </c:rich>
      </c:tx>
      <c:overlay val="0"/>
    </c:title>
    <c:autoTitleDeleted val="0"/>
    <c:plotArea>
      <c:layout/>
      <c:barChart>
        <c:barDir val="bar"/>
        <c:grouping val="clustered"/>
        <c:varyColors val="1"/>
        <c:ser>
          <c:idx val="0"/>
          <c:order val="0"/>
          <c:tx>
            <c:strRef>
              <c:f>Sheet1!$B$1</c:f>
              <c:strCache>
                <c:ptCount val="1"/>
                <c:pt idx="0">
                  <c:v>Share of the 5 Aweil counties mapped as crop (%)</c:v>
                </c:pt>
              </c:strCache>
            </c:strRef>
          </c:tx>
          <c:invertIfNegative val="1"/>
          <c:dPt>
            <c:idx val="0"/>
            <c:invertIfNegative val="1"/>
            <c:bubble3D val="0"/>
            <c:spPr>
              <a:solidFill>
                <a:srgbClr val="D4A017"/>
              </a:solidFill>
            </c:spPr>
            <c:extLst>
              <c:ext xmlns:c16="http://schemas.microsoft.com/office/drawing/2014/chart" uri="{C3380CC4-5D6E-409C-BE32-E72D297353CC}">
                <c16:uniqueId val="{00000001-2232-4B1A-AF2E-873896E0D47B}"/>
              </c:ext>
            </c:extLst>
          </c:dPt>
          <c:dPt>
            <c:idx val="1"/>
            <c:invertIfNegative val="1"/>
            <c:bubble3D val="0"/>
            <c:spPr>
              <a:solidFill>
                <a:srgbClr val="D4A017"/>
              </a:solidFill>
            </c:spPr>
            <c:extLst>
              <c:ext xmlns:c16="http://schemas.microsoft.com/office/drawing/2014/chart" uri="{C3380CC4-5D6E-409C-BE32-E72D297353CC}">
                <c16:uniqueId val="{00000003-2232-4B1A-AF2E-873896E0D47B}"/>
              </c:ext>
            </c:extLst>
          </c:dPt>
          <c:dPt>
            <c:idx val="2"/>
            <c:invertIfNegative val="1"/>
            <c:bubble3D val="0"/>
            <c:spPr>
              <a:solidFill>
                <a:srgbClr val="D4A017"/>
              </a:solidFill>
            </c:spPr>
            <c:extLst>
              <c:ext xmlns:c16="http://schemas.microsoft.com/office/drawing/2014/chart" uri="{C3380CC4-5D6E-409C-BE32-E72D297353CC}">
                <c16:uniqueId val="{00000005-2232-4B1A-AF2E-873896E0D47B}"/>
              </c:ext>
            </c:extLst>
          </c:dPt>
          <c:dPt>
            <c:idx val="3"/>
            <c:invertIfNegative val="1"/>
            <c:bubble3D val="0"/>
            <c:spPr>
              <a:solidFill>
                <a:srgbClr val="2E868F"/>
              </a:solidFill>
            </c:spPr>
            <c:extLst>
              <c:ext xmlns:c16="http://schemas.microsoft.com/office/drawing/2014/chart" uri="{C3380CC4-5D6E-409C-BE32-E72D297353CC}">
                <c16:uniqueId val="{00000007-2232-4B1A-AF2E-873896E0D47B}"/>
              </c:ext>
            </c:extLst>
          </c:dPt>
          <c:dPt>
            <c:idx val="4"/>
            <c:invertIfNegative val="1"/>
            <c:bubble3D val="0"/>
            <c:spPr>
              <a:solidFill>
                <a:srgbClr val="D4A017"/>
              </a:solidFill>
            </c:spPr>
            <c:extLst>
              <c:ext xmlns:c16="http://schemas.microsoft.com/office/drawing/2014/chart" uri="{C3380CC4-5D6E-409C-BE32-E72D297353CC}">
                <c16:uniqueId val="{00000009-2232-4B1A-AF2E-873896E0D47B}"/>
              </c:ext>
            </c:extLst>
          </c:dPt>
          <c:dPt>
            <c:idx val="5"/>
            <c:invertIfNegative val="1"/>
            <c:bubble3D val="0"/>
            <c:spPr>
              <a:solidFill>
                <a:srgbClr val="D4A017"/>
              </a:solidFill>
            </c:spPr>
            <c:extLst>
              <c:ext xmlns:c16="http://schemas.microsoft.com/office/drawing/2014/chart" uri="{C3380CC4-5D6E-409C-BE32-E72D297353CC}">
                <c16:uniqueId val="{0000000B-2232-4B1A-AF2E-873896E0D47B}"/>
              </c:ext>
            </c:extLst>
          </c:dPt>
          <c:dPt>
            <c:idx val="6"/>
            <c:invertIfNegative val="1"/>
            <c:bubble3D val="0"/>
            <c:spPr>
              <a:solidFill>
                <a:srgbClr val="D4A017"/>
              </a:solidFill>
            </c:spPr>
            <c:extLst>
              <c:ext xmlns:c16="http://schemas.microsoft.com/office/drawing/2014/chart" uri="{C3380CC4-5D6E-409C-BE32-E72D297353CC}">
                <c16:uniqueId val="{0000000D-2232-4B1A-AF2E-873896E0D47B}"/>
              </c:ext>
            </c:extLst>
          </c:dPt>
          <c:dPt>
            <c:idx val="7"/>
            <c:invertIfNegative val="1"/>
            <c:bubble3D val="0"/>
            <c:spPr>
              <a:solidFill>
                <a:srgbClr val="D4A017"/>
              </a:solidFill>
            </c:spPr>
            <c:extLst>
              <c:ext xmlns:c16="http://schemas.microsoft.com/office/drawing/2014/chart" uri="{C3380CC4-5D6E-409C-BE32-E72D297353CC}">
                <c16:uniqueId val="{0000000F-2232-4B1A-AF2E-873896E0D47B}"/>
              </c:ext>
            </c:extLst>
          </c:dPt>
          <c:dPt>
            <c:idx val="8"/>
            <c:invertIfNegative val="1"/>
            <c:bubble3D val="0"/>
            <c:spPr>
              <a:solidFill>
                <a:srgbClr val="9A9A9A"/>
              </a:solidFill>
            </c:spPr>
            <c:extLst>
              <c:ext xmlns:c16="http://schemas.microsoft.com/office/drawing/2014/chart" uri="{C3380CC4-5D6E-409C-BE32-E72D297353CC}">
                <c16:uniqueId val="{00000011-2232-4B1A-AF2E-873896E0D47B}"/>
              </c:ext>
            </c:extLst>
          </c:dPt>
          <c:dLbls>
            <c:numFmt formatCode="0.0&quot;%&quot;" sourceLinked="0"/>
            <c:spPr>
              <a:noFill/>
              <a:ln>
                <a:noFill/>
              </a:ln>
              <a:effectLst/>
            </c:spPr>
            <c:txPr>
              <a:bodyPr/>
              <a:lstStyle/>
              <a:p>
                <a:pPr>
                  <a:defRPr sz="1000"/>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Dynamic World 2022</c:v>
                </c:pt>
                <c:pt idx="1">
                  <c:v>WorldCover 2021</c:v>
                </c:pt>
                <c:pt idx="2">
                  <c:v>Esri 2022</c:v>
                </c:pt>
                <c:pt idx="3">
                  <c:v>ASAP (course data)</c:v>
                </c:pt>
                <c:pt idx="4">
                  <c:v>GLAD 2019</c:v>
                </c:pt>
                <c:pt idx="5">
                  <c:v>WorldCereal 2021</c:v>
                </c:pt>
                <c:pt idx="6">
                  <c:v>DE Africa 2019</c:v>
                </c:pt>
                <c:pt idx="7">
                  <c:v>GFSAD 2015</c:v>
                </c:pt>
                <c:pt idx="8">
                  <c:v>CFSAM 2022 (modelled)</c:v>
                </c:pt>
              </c:strCache>
            </c:strRef>
          </c:cat>
          <c:val>
            <c:numRef>
              <c:f>Sheet1!$B$2:$B$10</c:f>
              <c:numCache>
                <c:formatCode>General</c:formatCode>
                <c:ptCount val="9"/>
                <c:pt idx="0">
                  <c:v>0.1</c:v>
                </c:pt>
                <c:pt idx="1">
                  <c:v>0.35</c:v>
                </c:pt>
                <c:pt idx="2">
                  <c:v>0.42</c:v>
                </c:pt>
                <c:pt idx="3">
                  <c:v>0.96</c:v>
                </c:pt>
                <c:pt idx="4">
                  <c:v>0.99</c:v>
                </c:pt>
                <c:pt idx="5">
                  <c:v>1</c:v>
                </c:pt>
                <c:pt idx="6">
                  <c:v>1.78</c:v>
                </c:pt>
                <c:pt idx="7">
                  <c:v>1.92</c:v>
                </c:pt>
                <c:pt idx="8">
                  <c:v>5.41</c:v>
                </c:pt>
              </c:numCache>
            </c:numRef>
          </c:val>
          <c:extLst>
            <c:ext xmlns:c16="http://schemas.microsoft.com/office/drawing/2014/chart" uri="{C3380CC4-5D6E-409C-BE32-E72D297353CC}">
              <c16:uniqueId val="{00000012-2232-4B1A-AF2E-873896E0D47B}"/>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FBFBF"/>
            </a:solidFill>
          </a:ln>
        </c:spPr>
        <c:txPr>
          <a:bodyPr/>
          <a:lstStyle/>
          <a:p>
            <a:pPr>
              <a:defRPr sz="1000"/>
            </a:pPr>
            <a:endParaRPr lang="es-ES"/>
          </a:p>
        </c:txPr>
        <c:crossAx val="-2113994440"/>
        <c:crosses val="autoZero"/>
        <c:auto val="1"/>
        <c:lblAlgn val="ctr"/>
        <c:lblOffset val="100"/>
        <c:noMultiLvlLbl val="0"/>
      </c:catAx>
      <c:valAx>
        <c:axId val="-2113994440"/>
        <c:scaling>
          <c:orientation val="minMax"/>
          <c:max val="6.5"/>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Goal of the session: confirm the research objective, the method and the story. We end with four questions for feedback.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ZOA's example trigger is a flood 'inundating cropland' (Q&amp;A 2, slides 31 and 40). The number behind it comes from laying a flood map over a cropland map (Pacetti et al. 2017; WFP ADAM does the same). If the cropland map misses the fields, the trigger stays silent. Numbers: flood masks x ASAP, Jun-Nov 2022, national (~3,700 ha) vs CFSAM 2022 (130,000 ha of cultivated land damaged). CFSAM is itself modelled, so 35x shows the size of the gap, not the true loss. Bor South: 0 ha in every season.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Seven maps, seven answers for one place: from 0.2% (WorldCover 2021, Esri 2022) to 48.9% (GFSAD 2015). Looking at the Sentinel-2 image, GFSAD is the only map that covers the cleared land along the river, but that is our eye, not a measurement; GFSAD also paints whole blocks at 30 m and may include grass and fallow. The window is deliberately outside Aweil and Bor South so labellers never see the maps in the study area. Script: processing_data/cropland/demo_map_panels.py.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Data: data/cropland/agreement/ (county_crop_share.csv, pairwise_agreement.csv, strata_n_maps.csv) and county_cropland_areas.csv. Four newest maps = WorldCereal 2021, WorldCover 2021, Esri 2022, Dynamic World Jun-Nov 2022. Best pairwise crop overlap (Jaccard) 25% (WorldCereal vs WorldCover, one county); kappa at most 0.39. If one map saying crop is enough, Aweil has ~47,000 ha; if any of seven counts, ~140,000 ha. Map years: GLAD '2019' covers 2016-19; ASAP uses GlobCover in most of Africa (Kerner et al. 2024). The newest three (Dynamic World, WorldCover, Esri) all give 0.4% or less.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Kerner et al. 2024 is the audit we extend. Sample design: uniform random points in 7 countries; Mali stratified by four mean-annual-NDVI bands with equal points each, because cropland is so rare there. Response design: trained people looked at monthly PlanetScope composites (3 m) plus Sentinel-2 and Google Earth Pro in Collect Earth Online, month by month over the growing season; 'active cropland' = sowing, growing or harvesting seen within 12 months. Labellers never saw the maps. They discarded points where labellers disagreed. Metrics from the area-weighted error matrix (Stehman &amp; Foody 2019; Olofsson et al. 2014). Findings: all maps agree on crop in &lt; 0.5% of pixels; mean F1 &lt; 0.7 in 7 of 8 countries; Mali lowest (mean F1 0.21). Esri's Mali row: accuracy 0.97 with precision, recall and F1 all 0, because it called every point non-crop.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RO as in deliverables/CROPLAND_PLAN.html (28 Sep 2026): 'how much cropland does South Sudan have in 2022, and how wrong are the public maps that ZOA's trigger would use?' The area estimate is the main result and does not depend on any map. The national map is a second result, checked only in ZOA's areas. Week 4 overlays the observed 2022 flood extent, not a forecast. Areas: Q&amp;A 2, slide 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Why the sample comes first: rules need thresholds, thresholds need labelled points, and a map must be judged on points it never saw. Strata come from the agreement map; most points go to the 'no map says crop' land because the uncertainty of the area comes almost entirely from that big stratum. Aweil ~330 points, Bor South ~120 (wider interval). Per point: crop / not crop / unsure, cues seen, imagery and date, confidence 1-3. Pilot of 60 points near Turalei first. About 1.5 min per point: 450 x 2 = ~22 hours, ~4.5 hours each. Estimator: p = sum W_h p_h, SE from Olofsson et al. 2014 and Stehman 2014 (strata are agreement levels, not one map's classes).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From CROPLAND_PLAN.html (Algorithm section). Feature sources: Sentinel-2 surface reflectance with Cloud Score+; Sentinel-1 VH radar for the cloudy months; Google Open Buildings for homesteads; JRC Global Surface Water for permanent water; MODIS MCD64A1 for burn scars. In this savanna, crops and wild grass green up together, which is why the maps disagree; timing and context separate them: bare before sowing, harvested while the grass stays green, regular edges, near homesteads. Cloud Score+ masking and monthly medians; key features sit in the clearer months (Apr-May, Sep-Oct). We keep whichever of versions 1 and 2 is simpler at similar accuracy. The map runs for the whole country in Earth Engine but is only checked in ZOA's areas. What we can claim: 'better or worse than map X in ZOA's areas in 2022, on our test points', with error bars; not 'a better cropland map' in general.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Q1: the output is understanding (area with error bars, which maps miss fields), not a trigger rule. Q3: labels are the ground truth everything is scored against; LLMs are never used to label. Q4: 2022 had flooding and CFSAM figures; the pipeline can rerun for 2024 with a small new check sample (~100 points).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E65F3B8-1A0E-4842-9236-6EFE55733D87}"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pic>
        <p:nvPicPr>
          <p:cNvPr id="8" name="Picture 7">
            <a:extLst>
              <a:ext uri="{FF2B5EF4-FFF2-40B4-BE49-F238E27FC236}">
                <a16:creationId xmlns:a16="http://schemas.microsoft.com/office/drawing/2014/main" id="{7E4AB850-DB14-1C08-2BB5-EFA9D1F8EF07}"/>
              </a:ext>
            </a:extLst>
          </p:cNvPr>
          <p:cNvPicPr>
            <a:picLocks noChangeAspect="1"/>
          </p:cNvPicPr>
          <p:nvPr userDrawn="1"/>
        </p:nvPicPr>
        <p:blipFill>
          <a:blip r:embed="rId2"/>
          <a:stretch>
            <a:fillRect/>
          </a:stretch>
        </p:blipFill>
        <p:spPr>
          <a:xfrm>
            <a:off x="3524092" y="3974634"/>
            <a:ext cx="1370601" cy="620316"/>
          </a:xfrm>
          <a:prstGeom prst="rect">
            <a:avLst/>
          </a:prstGeom>
        </p:spPr>
      </p:pic>
      <p:pic>
        <p:nvPicPr>
          <p:cNvPr id="10" name="Picture 9">
            <a:extLst>
              <a:ext uri="{FF2B5EF4-FFF2-40B4-BE49-F238E27FC236}">
                <a16:creationId xmlns:a16="http://schemas.microsoft.com/office/drawing/2014/main" id="{7394EC7F-5BBC-59CE-7C58-FB895D6932C8}"/>
              </a:ext>
            </a:extLst>
          </p:cNvPr>
          <p:cNvPicPr>
            <a:picLocks noChangeAspect="1"/>
          </p:cNvPicPr>
          <p:nvPr userDrawn="1"/>
        </p:nvPicPr>
        <p:blipFill>
          <a:blip r:embed="rId3"/>
          <a:stretch>
            <a:fillRect/>
          </a:stretch>
        </p:blipFill>
        <p:spPr>
          <a:xfrm>
            <a:off x="1119464" y="3974634"/>
            <a:ext cx="1362884" cy="620316"/>
          </a:xfrm>
          <a:prstGeom prst="rect">
            <a:avLst/>
          </a:prstGeom>
        </p:spPr>
      </p:pic>
      <p:pic>
        <p:nvPicPr>
          <p:cNvPr id="12" name="Picture 11">
            <a:extLst>
              <a:ext uri="{FF2B5EF4-FFF2-40B4-BE49-F238E27FC236}">
                <a16:creationId xmlns:a16="http://schemas.microsoft.com/office/drawing/2014/main" id="{CF154139-B550-806E-2BC0-3EF6B61D671C}"/>
              </a:ext>
            </a:extLst>
          </p:cNvPr>
          <p:cNvPicPr>
            <a:picLocks noChangeAspect="1"/>
          </p:cNvPicPr>
          <p:nvPr userDrawn="1"/>
        </p:nvPicPr>
        <p:blipFill>
          <a:blip r:embed="rId4"/>
          <a:stretch>
            <a:fillRect/>
          </a:stretch>
        </p:blipFill>
        <p:spPr>
          <a:xfrm>
            <a:off x="5456160" y="3957009"/>
            <a:ext cx="2585788" cy="637941"/>
          </a:xfrm>
          <a:prstGeom prst="rect">
            <a:avLst/>
          </a:prstGeom>
        </p:spPr>
      </p:pic>
    </p:spTree>
    <p:extLst>
      <p:ext uri="{BB962C8B-B14F-4D97-AF65-F5344CB8AC3E}">
        <p14:creationId xmlns:p14="http://schemas.microsoft.com/office/powerpoint/2010/main" val="3329348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23622265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65F3B8-1A0E-4842-9236-6EFE55733D87}"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976966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65F3B8-1A0E-4842-9236-6EFE55733D87}"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7889917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65F3B8-1A0E-4842-9236-6EFE55733D87}"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5257499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65F3B8-1A0E-4842-9236-6EFE55733D87}"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61184733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5F3B8-1A0E-4842-9236-6EFE55733D87}"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69514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65F3B8-1A0E-4842-9236-6EFE55733D87}"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1633667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65F3B8-1A0E-4842-9236-6EFE55733D87}"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5262454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30686638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8229951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spTree>
    <p:extLst>
      <p:ext uri="{BB962C8B-B14F-4D97-AF65-F5344CB8AC3E}">
        <p14:creationId xmlns:p14="http://schemas.microsoft.com/office/powerpoint/2010/main" val="2281001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16108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E65F3B8-1A0E-4842-9236-6EFE55733D87}" type="datetimeFigureOut">
              <a:rPr lang="en-US" smtClean="0"/>
              <a:t>9/30/2026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57267278-17E4-6544-A863-474EF429F071}" type="slidenum">
              <a:rPr lang="en-US" smtClean="0"/>
              <a:t>‹#›</a:t>
            </a:fld>
            <a:endParaRPr lang="en-US"/>
          </a:p>
        </p:txBody>
      </p:sp>
    </p:spTree>
    <p:extLst>
      <p:ext uri="{BB962C8B-B14F-4D97-AF65-F5344CB8AC3E}">
        <p14:creationId xmlns:p14="http://schemas.microsoft.com/office/powerpoint/2010/main" val="356022180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Lst>
  <p:hf sldNum="0" hdr="0" ftr="0" dt="0"/>
  <p:txStyles>
    <p:title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45;p34">
            <a:extLst>
              <a:ext uri="{FF2B5EF4-FFF2-40B4-BE49-F238E27FC236}">
                <a16:creationId xmlns:a16="http://schemas.microsoft.com/office/drawing/2014/main" id="{67202C24-20A5-288E-9D7E-3712C766AE19}"/>
              </a:ext>
            </a:extLst>
          </p:cNvPr>
          <p:cNvSpPr txBox="1">
            <a:spLocks/>
          </p:cNvSpPr>
          <p:nvPr/>
        </p:nvSpPr>
        <p:spPr>
          <a:xfrm>
            <a:off x="1114200" y="150572"/>
            <a:ext cx="6858000" cy="1790700"/>
          </a:xfrm>
          <a:prstGeom prst="rect">
            <a:avLst/>
          </a:prstGeom>
        </p:spPr>
        <p:txBody>
          <a:bodyPr spcFirstLastPara="1" wrap="square" lIns="91425" tIns="91425" rIns="91425" bIns="91425" anchor="b" anchorCtr="0">
            <a:noAutofit/>
          </a:bodyPr>
          <a:lst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a:lstStyle>
          <a:p>
            <a:pPr algn="ctr"/>
            <a:r>
              <a:rPr lang="en" sz="4500" dirty="0">
                <a:solidFill>
                  <a:schemeClr val="accent2">
                    <a:lumMod val="76000"/>
                  </a:schemeClr>
                </a:solidFill>
              </a:rPr>
              <a:t>Methodological Feedback</a:t>
            </a:r>
            <a:br>
              <a:rPr lang="en" sz="4500" dirty="0">
                <a:solidFill>
                  <a:schemeClr val="accent2">
                    <a:lumMod val="76000"/>
                  </a:schemeClr>
                </a:solidFill>
              </a:rPr>
            </a:br>
            <a:r>
              <a:rPr lang="en" sz="3400" dirty="0">
                <a:solidFill>
                  <a:srgbClr val="000000"/>
                </a:solidFill>
              </a:rPr>
              <a:t>Counting South Sudan's cropland</a:t>
            </a:r>
            <a:endParaRPr lang="en" sz="4000" dirty="0"/>
          </a:p>
        </p:txBody>
      </p:sp>
      <p:pic>
        <p:nvPicPr>
          <p:cNvPr id="4" name="Picture 3" descr="https://encrypted-tbn0.gstatic.com/images?q=tbn:ANd9GcQNf02-2ouuW6XJBmp2cHju4rS8C0QDCSdkJp1J1M4RKRs1aJhW6hWH2G8W&amp;s=10">
            <a:extLst>
              <a:ext uri="{FF2B5EF4-FFF2-40B4-BE49-F238E27FC236}">
                <a16:creationId xmlns:a16="http://schemas.microsoft.com/office/drawing/2014/main" id="{C16E19AC-794B-5F08-2FCE-900C733EB5B6}"/>
              </a:ext>
            </a:extLst>
          </p:cNvPr>
          <p:cNvPicPr>
            <a:picLocks noChangeAspect="1"/>
          </p:cNvPicPr>
          <p:nvPr/>
        </p:nvPicPr>
        <p:blipFill>
          <a:blip r:embed="rId3"/>
          <a:stretch>
            <a:fillRect/>
          </a:stretch>
        </p:blipFill>
        <p:spPr>
          <a:xfrm>
            <a:off x="6822912" y="3606121"/>
            <a:ext cx="1012000" cy="1003594"/>
          </a:xfrm>
          <a:prstGeom prst="rect">
            <a:avLst/>
          </a:prstGeom>
        </p:spPr>
      </p:pic>
      <p:pic>
        <p:nvPicPr>
          <p:cNvPr id="7" name="Picture 6" descr="https://encrypted-tbn0.gstatic.com/images?q=tbn:ANd9GcS0as6Zrck2G2too3qxUP5-3iTE7Mb7_CljRxOR_R8aIkMtAUozwpA0jKZ5&amp;s=10">
            <a:extLst>
              <a:ext uri="{FF2B5EF4-FFF2-40B4-BE49-F238E27FC236}">
                <a16:creationId xmlns:a16="http://schemas.microsoft.com/office/drawing/2014/main" id="{AC210045-8D44-7578-D529-A303A529DB9E}"/>
              </a:ext>
            </a:extLst>
          </p:cNvPr>
          <p:cNvPicPr>
            <a:picLocks noChangeAspect="1"/>
          </p:cNvPicPr>
          <p:nvPr/>
        </p:nvPicPr>
        <p:blipFill>
          <a:blip r:embed="rId4"/>
          <a:srcRect l="-138" t="26460" r="417" b="31812"/>
          <a:stretch>
            <a:fillRect/>
          </a:stretch>
        </p:blipFill>
        <p:spPr>
          <a:xfrm>
            <a:off x="1030895" y="3796587"/>
            <a:ext cx="1591008" cy="624150"/>
          </a:xfrm>
          <a:prstGeom prst="rect">
            <a:avLst/>
          </a:prstGeom>
        </p:spPr>
      </p:pic>
      <p:pic>
        <p:nvPicPr>
          <p:cNvPr id="2" name="Picture 1">
            <a:extLst>
              <a:ext uri="{FF2B5EF4-FFF2-40B4-BE49-F238E27FC236}">
                <a16:creationId xmlns:a16="http://schemas.microsoft.com/office/drawing/2014/main" id="{DACE6B32-F391-852C-E5FE-7FFD2C841F63}"/>
              </a:ext>
            </a:extLst>
          </p:cNvPr>
          <p:cNvPicPr>
            <a:picLocks noChangeAspect="1"/>
          </p:cNvPicPr>
          <p:nvPr/>
        </p:nvPicPr>
        <p:blipFill>
          <a:blip r:embed="rId5"/>
          <a:stretch>
            <a:fillRect/>
          </a:stretch>
        </p:blipFill>
        <p:spPr>
          <a:xfrm>
            <a:off x="3726321" y="3689115"/>
            <a:ext cx="1685925" cy="838200"/>
          </a:xfrm>
          <a:prstGeom prst="rect">
            <a:avLst/>
          </a:prstGeom>
        </p:spPr>
      </p:pic>
      <p:sp>
        <p:nvSpPr>
          <p:cNvPr id="5" name="Google Shape;246;p34">
            <a:extLst>
              <a:ext uri="{FF2B5EF4-FFF2-40B4-BE49-F238E27FC236}">
                <a16:creationId xmlns:a16="http://schemas.microsoft.com/office/drawing/2014/main" id="{DEE4505E-7ABC-0E21-0318-0546422790F6}"/>
              </a:ext>
            </a:extLst>
          </p:cNvPr>
          <p:cNvSpPr txBox="1">
            <a:spLocks/>
          </p:cNvSpPr>
          <p:nvPr/>
        </p:nvSpPr>
        <p:spPr>
          <a:xfrm>
            <a:off x="1114200" y="2370328"/>
            <a:ext cx="6858000" cy="1241822"/>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800" dirty="0"/>
              <a:t>Group [1]</a:t>
            </a:r>
            <a:endParaRPr lang="en-US" dirty="0"/>
          </a:p>
          <a:p>
            <a:pPr marL="0" indent="0" algn="ctr">
              <a:buNone/>
            </a:pPr>
            <a:r>
              <a:rPr lang="en-US" sz="1800" b="1" dirty="0"/>
              <a:t>Tutor</a:t>
            </a:r>
            <a:r>
              <a:rPr lang="en-US" sz="1800" dirty="0"/>
              <a:t>: [Francisco] </a:t>
            </a:r>
          </a:p>
        </p:txBody>
      </p:sp>
    </p:spTree>
    <p:extLst>
      <p:ext uri="{BB962C8B-B14F-4D97-AF65-F5344CB8AC3E}">
        <p14:creationId xmlns:p14="http://schemas.microsoft.com/office/powerpoint/2010/main" val="2382854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The problem:</a:t>
            </a:r>
            <a:br/>
            <a:r>
              <a:rPr lang="en-US" dirty="0">
                <a:solidFill>
                  <a:srgbClr val="C00000"/>
                </a:solidFill>
              </a:rPr>
              <a:t>a trigger that needs a cropland map</a:t>
            </a:r>
            <a:endParaRPr lang="en-US" dirty="0">
              <a:solidFill>
                <a:schemeClr val="accent2">
                  <a:lumMod val="75000"/>
                </a:schemeClr>
              </a:solidFill>
            </a:endParaRPr>
          </a:p>
        </p:txBody>
      </p:sp>
      <p:sp>
        <p:nvSpPr>
          <p:cNvPr id="3" name="Rounded Rectangle 2"/>
          <p:cNvSpPr/>
          <p:nvPr/>
        </p:nvSpPr>
        <p:spPr>
          <a:xfrm>
            <a:off x="630936" y="1417320"/>
            <a:ext cx="1828800" cy="9144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7" y="152704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2E868F"/>
                </a:solidFill>
              </a:rPr>
              <a:t>Flood map</a:t>
            </a:r>
          </a:p>
        </p:txBody>
      </p:sp>
      <p:sp>
        <p:nvSpPr>
          <p:cNvPr id="5" name="TextBox 4"/>
          <p:cNvSpPr txBox="1"/>
          <p:nvPr/>
        </p:nvSpPr>
        <p:spPr>
          <a:xfrm>
            <a:off x="704087" y="189280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NASA MODIS masks</a:t>
            </a:r>
          </a:p>
        </p:txBody>
      </p:sp>
      <p:sp>
        <p:nvSpPr>
          <p:cNvPr id="6" name="Rounded Rectangle 5"/>
          <p:cNvSpPr/>
          <p:nvPr/>
        </p:nvSpPr>
        <p:spPr>
          <a:xfrm>
            <a:off x="2642616" y="1417320"/>
            <a:ext cx="1828800" cy="9144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15768" y="152704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2E868F"/>
                </a:solidFill>
              </a:rPr>
              <a:t>Cropland map</a:t>
            </a:r>
          </a:p>
        </p:txBody>
      </p:sp>
      <p:sp>
        <p:nvSpPr>
          <p:cNvPr id="8" name="TextBox 7"/>
          <p:cNvSpPr txBox="1"/>
          <p:nvPr/>
        </p:nvSpPr>
        <p:spPr>
          <a:xfrm>
            <a:off x="2715768" y="189280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ASAP, WorldCover, …</a:t>
            </a:r>
          </a:p>
        </p:txBody>
      </p:sp>
      <p:sp>
        <p:nvSpPr>
          <p:cNvPr id="9" name="Rounded Rectangle 8"/>
          <p:cNvSpPr/>
          <p:nvPr/>
        </p:nvSpPr>
        <p:spPr>
          <a:xfrm>
            <a:off x="4654296" y="1417320"/>
            <a:ext cx="1828800" cy="9144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152704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2E868F"/>
                </a:solidFill>
              </a:rPr>
              <a:t>Flooded cropland</a:t>
            </a:r>
          </a:p>
        </p:txBody>
      </p:sp>
      <p:sp>
        <p:nvSpPr>
          <p:cNvPr id="11" name="TextBox 10"/>
          <p:cNvSpPr txBox="1"/>
          <p:nvPr/>
        </p:nvSpPr>
        <p:spPr>
          <a:xfrm>
            <a:off x="4727448" y="189280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hectares per county</a:t>
            </a:r>
          </a:p>
        </p:txBody>
      </p:sp>
      <p:sp>
        <p:nvSpPr>
          <p:cNvPr id="12" name="Rounded Rectangle 11"/>
          <p:cNvSpPr/>
          <p:nvPr/>
        </p:nvSpPr>
        <p:spPr>
          <a:xfrm>
            <a:off x="6665976" y="1417320"/>
            <a:ext cx="1828800" cy="914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39128" y="1527048"/>
            <a:ext cx="1682496" cy="365760"/>
          </a:xfrm>
          <a:prstGeom prst="rect">
            <a:avLst/>
          </a:prstGeom>
          <a:noFill/>
        </p:spPr>
        <p:txBody>
          <a:bodyPr wrap="square" lIns="45720" tIns="27432" rIns="45720" bIns="27432" anchor="t">
            <a:spAutoFit/>
          </a:bodyPr>
          <a:lstStyle/>
          <a:p>
            <a:pPr algn="ctr">
              <a:spcAft>
                <a:spcPts val="400"/>
              </a:spcAft>
            </a:pPr>
            <a:r>
              <a:rPr sz="1400" b="1" i="0">
                <a:solidFill>
                  <a:srgbClr val="1F1F1F"/>
                </a:solidFill>
              </a:rPr>
              <a:t>AA trigger</a:t>
            </a:r>
          </a:p>
        </p:txBody>
      </p:sp>
      <p:sp>
        <p:nvSpPr>
          <p:cNvPr id="14" name="TextBox 13"/>
          <p:cNvSpPr txBox="1"/>
          <p:nvPr/>
        </p:nvSpPr>
        <p:spPr>
          <a:xfrm>
            <a:off x="6739128" y="1892808"/>
            <a:ext cx="1682496" cy="365760"/>
          </a:xfrm>
          <a:prstGeom prst="rect">
            <a:avLst/>
          </a:prstGeom>
          <a:noFill/>
        </p:spPr>
        <p:txBody>
          <a:bodyPr wrap="square" lIns="45720" tIns="27432" rIns="45720" bIns="27432" anchor="t">
            <a:spAutoFit/>
          </a:bodyPr>
          <a:lstStyle/>
          <a:p>
            <a:pPr algn="ctr">
              <a:spcAft>
                <a:spcPts val="400"/>
              </a:spcAft>
            </a:pPr>
            <a:r>
              <a:rPr sz="1100" b="0" i="0">
                <a:solidFill>
                  <a:srgbClr val="5F6368"/>
                </a:solidFill>
              </a:rPr>
              <a:t>flood “inundating cropland”</a:t>
            </a:r>
          </a:p>
        </p:txBody>
      </p:sp>
      <p:sp>
        <p:nvSpPr>
          <p:cNvPr id="15" name="TextBox 14"/>
          <p:cNvSpPr txBox="1"/>
          <p:nvPr/>
        </p:nvSpPr>
        <p:spPr>
          <a:xfrm>
            <a:off x="2459736" y="1673352"/>
            <a:ext cx="182880" cy="365760"/>
          </a:xfrm>
          <a:prstGeom prst="rect">
            <a:avLst/>
          </a:prstGeom>
          <a:noFill/>
        </p:spPr>
        <p:txBody>
          <a:bodyPr wrap="square" lIns="45720" tIns="27432" rIns="45720" bIns="27432" anchor="t">
            <a:spAutoFit/>
          </a:bodyPr>
          <a:lstStyle/>
          <a:p>
            <a:pPr algn="ctr">
              <a:spcAft>
                <a:spcPts val="400"/>
              </a:spcAft>
            </a:pPr>
            <a:r>
              <a:rPr sz="2000" b="1" i="0">
                <a:solidFill>
                  <a:srgbClr val="5F6368"/>
                </a:solidFill>
              </a:rPr>
              <a:t>×</a:t>
            </a:r>
          </a:p>
        </p:txBody>
      </p:sp>
      <p:cxnSp>
        <p:nvCxnSpPr>
          <p:cNvPr id="16" name="Connector 15"/>
          <p:cNvCxnSpPr/>
          <p:nvPr/>
        </p:nvCxnSpPr>
        <p:spPr>
          <a:xfrm>
            <a:off x="4480560" y="1874519"/>
            <a:ext cx="164592"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92240" y="1874519"/>
            <a:ext cx="164592"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642616" y="2377440"/>
            <a:ext cx="1828800" cy="320040"/>
          </a:xfrm>
          <a:prstGeom prst="rect">
            <a:avLst/>
          </a:prstGeom>
          <a:noFill/>
        </p:spPr>
        <p:txBody>
          <a:bodyPr wrap="square" lIns="45720" tIns="27432" rIns="45720" bIns="27432" anchor="t">
            <a:spAutoFit/>
          </a:bodyPr>
          <a:lstStyle/>
          <a:p>
            <a:pPr algn="ctr">
              <a:spcAft>
                <a:spcPts val="400"/>
              </a:spcAft>
            </a:pPr>
            <a:r>
              <a:rPr sz="1200" b="1" i="0">
                <a:solidFill>
                  <a:srgbClr val="C00000"/>
                </a:solidFill>
              </a:rPr>
              <a:t>the weak link</a:t>
            </a:r>
          </a:p>
        </p:txBody>
      </p:sp>
      <p:sp>
        <p:nvSpPr>
          <p:cNvPr id="19" name="TextBox 18"/>
          <p:cNvSpPr txBox="1"/>
          <p:nvPr/>
        </p:nvSpPr>
        <p:spPr>
          <a:xfrm>
            <a:off x="630936" y="2788920"/>
            <a:ext cx="2514600" cy="685800"/>
          </a:xfrm>
          <a:prstGeom prst="rect">
            <a:avLst/>
          </a:prstGeom>
          <a:noFill/>
        </p:spPr>
        <p:txBody>
          <a:bodyPr wrap="square" lIns="45720" tIns="27432" rIns="45720" bIns="27432" anchor="b">
            <a:spAutoFit/>
          </a:bodyPr>
          <a:lstStyle/>
          <a:p>
            <a:pPr algn="l">
              <a:spcAft>
                <a:spcPts val="400"/>
              </a:spcAft>
            </a:pPr>
            <a:r>
              <a:rPr sz="3600" b="1" i="0">
                <a:solidFill>
                  <a:srgbClr val="C00000"/>
                </a:solidFill>
              </a:rPr>
              <a:t>35×</a:t>
            </a:r>
          </a:p>
        </p:txBody>
      </p:sp>
      <p:sp>
        <p:nvSpPr>
          <p:cNvPr id="20" name="TextBox 19"/>
          <p:cNvSpPr txBox="1"/>
          <p:nvPr/>
        </p:nvSpPr>
        <p:spPr>
          <a:xfrm>
            <a:off x="630936" y="3520440"/>
            <a:ext cx="2514600" cy="5029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less flooded cropland than the FAO/WFP estimate</a:t>
            </a:r>
          </a:p>
        </p:txBody>
      </p:sp>
      <p:sp>
        <p:nvSpPr>
          <p:cNvPr id="21" name="TextBox 20"/>
          <p:cNvSpPr txBox="1"/>
          <p:nvPr/>
        </p:nvSpPr>
        <p:spPr>
          <a:xfrm>
            <a:off x="630936" y="4069080"/>
            <a:ext cx="2514600" cy="59436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South Sudan 2022: flood masks × ASAP ≈ 3,700 ha; CFSAM reports 130,000 ha damaged</a:t>
            </a:r>
          </a:p>
        </p:txBody>
      </p:sp>
      <p:sp>
        <p:nvSpPr>
          <p:cNvPr id="22" name="TextBox 21"/>
          <p:cNvSpPr txBox="1"/>
          <p:nvPr/>
        </p:nvSpPr>
        <p:spPr>
          <a:xfrm>
            <a:off x="3310128" y="2788920"/>
            <a:ext cx="2514600" cy="685800"/>
          </a:xfrm>
          <a:prstGeom prst="rect">
            <a:avLst/>
          </a:prstGeom>
          <a:noFill/>
        </p:spPr>
        <p:txBody>
          <a:bodyPr wrap="square" lIns="45720" tIns="27432" rIns="45720" bIns="27432" anchor="b">
            <a:spAutoFit/>
          </a:bodyPr>
          <a:lstStyle/>
          <a:p>
            <a:pPr algn="l">
              <a:spcAft>
                <a:spcPts val="400"/>
              </a:spcAft>
            </a:pPr>
            <a:r>
              <a:rPr sz="3600" b="1" i="0">
                <a:solidFill>
                  <a:srgbClr val="C00000"/>
                </a:solidFill>
              </a:rPr>
              <a:t>0 ha</a:t>
            </a:r>
          </a:p>
        </p:txBody>
      </p:sp>
      <p:sp>
        <p:nvSpPr>
          <p:cNvPr id="23" name="TextBox 22"/>
          <p:cNvSpPr txBox="1"/>
          <p:nvPr/>
        </p:nvSpPr>
        <p:spPr>
          <a:xfrm>
            <a:off x="3310128" y="3520440"/>
            <a:ext cx="2514600" cy="5029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flooded cropland ever detected in Bor South</a:t>
            </a:r>
          </a:p>
        </p:txBody>
      </p:sp>
      <p:sp>
        <p:nvSpPr>
          <p:cNvPr id="24" name="TextBox 23"/>
          <p:cNvSpPr txBox="1"/>
          <p:nvPr/>
        </p:nvSpPr>
        <p:spPr>
          <a:xfrm>
            <a:off x="3310128" y="4069080"/>
            <a:ext cx="2514600" cy="59436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every season checked, in an area ZOA names as flood-prone</a:t>
            </a:r>
          </a:p>
        </p:txBody>
      </p:sp>
      <p:sp>
        <p:nvSpPr>
          <p:cNvPr id="25" name="TextBox 24"/>
          <p:cNvSpPr txBox="1"/>
          <p:nvPr/>
        </p:nvSpPr>
        <p:spPr>
          <a:xfrm>
            <a:off x="5989320" y="2788920"/>
            <a:ext cx="2514600" cy="685800"/>
          </a:xfrm>
          <a:prstGeom prst="rect">
            <a:avLst/>
          </a:prstGeom>
          <a:noFill/>
        </p:spPr>
        <p:txBody>
          <a:bodyPr wrap="square" lIns="45720" tIns="27432" rIns="45720" bIns="27432" anchor="b">
            <a:spAutoFit/>
          </a:bodyPr>
          <a:lstStyle/>
          <a:p>
            <a:pPr algn="l">
              <a:spcAft>
                <a:spcPts val="400"/>
              </a:spcAft>
            </a:pPr>
            <a:r>
              <a:rPr sz="1600" b="1" i="1">
                <a:solidFill>
                  <a:srgbClr val="C00000"/>
                </a:solidFill>
              </a:rPr>
              <a:t>“…might not capture agricultural land”</a:t>
            </a:r>
          </a:p>
        </p:txBody>
      </p:sp>
      <p:sp>
        <p:nvSpPr>
          <p:cNvPr id="26" name="TextBox 25"/>
          <p:cNvSpPr txBox="1"/>
          <p:nvPr/>
        </p:nvSpPr>
        <p:spPr>
          <a:xfrm>
            <a:off x="5989320" y="3520440"/>
            <a:ext cx="2514600" cy="5029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ZOA about the course cropland data</a:t>
            </a:r>
          </a:p>
        </p:txBody>
      </p:sp>
      <p:sp>
        <p:nvSpPr>
          <p:cNvPr id="27" name="TextBox 26"/>
          <p:cNvSpPr txBox="1"/>
          <p:nvPr/>
        </p:nvSpPr>
        <p:spPr>
          <a:xfrm>
            <a:off x="5989320" y="4069080"/>
            <a:ext cx="2514600" cy="59436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Stakeholder Q&amp;A 2, slide 33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The story:</a:t>
            </a:r>
            <a:br/>
            <a:r>
              <a:rPr lang="en-US" dirty="0">
                <a:solidFill>
                  <a:srgbClr val="C00000"/>
                </a:solidFill>
              </a:rPr>
              <a:t>seven maps, seven answers</a:t>
            </a:r>
            <a:endParaRPr lang="en-US" dirty="0">
              <a:solidFill>
                <a:schemeClr val="accent2">
                  <a:lumMod val="75000"/>
                </a:schemeClr>
              </a:solidFill>
            </a:endParaRPr>
          </a:p>
        </p:txBody>
      </p:sp>
      <p:pic>
        <p:nvPicPr>
          <p:cNvPr id="3" name="Picture 2" descr="slide_demo_maps_turalei.png"/>
          <p:cNvPicPr>
            <a:picLocks noChangeAspect="1"/>
          </p:cNvPicPr>
          <p:nvPr/>
        </p:nvPicPr>
        <p:blipFill>
          <a:blip r:embed="rId3"/>
          <a:stretch>
            <a:fillRect/>
          </a:stretch>
        </p:blipFill>
        <p:spPr>
          <a:xfrm>
            <a:off x="548640" y="1371600"/>
            <a:ext cx="6035040" cy="3017520"/>
          </a:xfrm>
          <a:prstGeom prst="rect">
            <a:avLst/>
          </a:prstGeom>
        </p:spPr>
      </p:pic>
      <p:sp>
        <p:nvSpPr>
          <p:cNvPr id="4" name="TextBox 3"/>
          <p:cNvSpPr txBox="1"/>
          <p:nvPr/>
        </p:nvSpPr>
        <p:spPr>
          <a:xfrm>
            <a:off x="6812280" y="1325880"/>
            <a:ext cx="1737360" cy="457200"/>
          </a:xfrm>
          <a:prstGeom prst="rect">
            <a:avLst/>
          </a:prstGeom>
          <a:noFill/>
        </p:spPr>
        <p:txBody>
          <a:bodyPr wrap="square" lIns="45720" tIns="27432" rIns="45720" bIns="27432" anchor="t">
            <a:spAutoFit/>
          </a:bodyPr>
          <a:lstStyle/>
          <a:p>
            <a:pPr algn="l">
              <a:spcAft>
                <a:spcPts val="400"/>
              </a:spcAft>
            </a:pPr>
            <a:r>
              <a:rPr sz="2800" b="1" i="0">
                <a:solidFill>
                  <a:srgbClr val="C00000"/>
                </a:solidFill>
              </a:rPr>
              <a:t>0.2%</a:t>
            </a:r>
          </a:p>
        </p:txBody>
      </p:sp>
      <p:sp>
        <p:nvSpPr>
          <p:cNvPr id="5" name="TextBox 4"/>
          <p:cNvSpPr txBox="1"/>
          <p:nvPr/>
        </p:nvSpPr>
        <p:spPr>
          <a:xfrm>
            <a:off x="6812280" y="1764792"/>
            <a:ext cx="1737360" cy="274320"/>
          </a:xfrm>
          <a:prstGeom prst="rect">
            <a:avLst/>
          </a:prstGeom>
          <a:noFill/>
        </p:spPr>
        <p:txBody>
          <a:bodyPr wrap="square" lIns="45720" tIns="27432" rIns="45720" bIns="27432" anchor="t">
            <a:spAutoFit/>
          </a:bodyPr>
          <a:lstStyle/>
          <a:p>
            <a:pPr algn="l">
              <a:spcAft>
                <a:spcPts val="400"/>
              </a:spcAft>
            </a:pPr>
            <a:r>
              <a:rPr sz="1100" b="0" i="0">
                <a:solidFill>
                  <a:srgbClr val="5F6368"/>
                </a:solidFill>
              </a:rPr>
              <a:t>to</a:t>
            </a:r>
          </a:p>
        </p:txBody>
      </p:sp>
      <p:sp>
        <p:nvSpPr>
          <p:cNvPr id="6" name="TextBox 5"/>
          <p:cNvSpPr txBox="1"/>
          <p:nvPr/>
        </p:nvSpPr>
        <p:spPr>
          <a:xfrm>
            <a:off x="6812280" y="1993392"/>
            <a:ext cx="1737360" cy="457200"/>
          </a:xfrm>
          <a:prstGeom prst="rect">
            <a:avLst/>
          </a:prstGeom>
          <a:noFill/>
        </p:spPr>
        <p:txBody>
          <a:bodyPr wrap="square" lIns="45720" tIns="27432" rIns="45720" bIns="27432" anchor="t">
            <a:spAutoFit/>
          </a:bodyPr>
          <a:lstStyle/>
          <a:p>
            <a:pPr algn="l">
              <a:spcAft>
                <a:spcPts val="400"/>
              </a:spcAft>
            </a:pPr>
            <a:r>
              <a:rPr sz="2800" b="1" i="0">
                <a:solidFill>
                  <a:srgbClr val="C00000"/>
                </a:solidFill>
              </a:rPr>
              <a:t>48.9%</a:t>
            </a:r>
          </a:p>
        </p:txBody>
      </p:sp>
      <p:sp>
        <p:nvSpPr>
          <p:cNvPr id="7" name="TextBox 6"/>
          <p:cNvSpPr txBox="1"/>
          <p:nvPr/>
        </p:nvSpPr>
        <p:spPr>
          <a:xfrm>
            <a:off x="6812280" y="2468880"/>
            <a:ext cx="1737360" cy="45720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crop in the same window</a:t>
            </a:r>
          </a:p>
        </p:txBody>
      </p:sp>
      <p:sp>
        <p:nvSpPr>
          <p:cNvPr id="8" name="TextBox 7"/>
          <p:cNvSpPr txBox="1"/>
          <p:nvPr/>
        </p:nvSpPr>
        <p:spPr>
          <a:xfrm>
            <a:off x="6812280" y="3017520"/>
            <a:ext cx="1737360" cy="1371600"/>
          </a:xfrm>
          <a:prstGeom prst="rect">
            <a:avLst/>
          </a:prstGeom>
          <a:noFill/>
        </p:spPr>
        <p:txBody>
          <a:bodyPr wrap="square" lIns="45720" tIns="27432" rIns="45720" bIns="27432" anchor="t">
            <a:spAutoFit/>
          </a:bodyPr>
          <a:lstStyle/>
          <a:p>
            <a:pPr algn="l">
              <a:spcAft>
                <a:spcPts val="400"/>
              </a:spcAft>
            </a:pPr>
            <a:r>
              <a:rPr sz="1100" b="1" i="0">
                <a:solidFill>
                  <a:srgbClr val="2E868F"/>
                </a:solidFill>
              </a:rPr>
              <a:t>By eye, only GFSAD covers the cleared land, and it is the oldest map (2015).</a:t>
            </a:r>
          </a:p>
          <a:p>
            <a:pPr algn="l">
              <a:spcAft>
                <a:spcPts val="400"/>
              </a:spcAft>
            </a:pPr>
            <a:r>
              <a:rPr sz="1000" b="0" i="0">
                <a:solidFill>
                  <a:srgbClr val="5F6368"/>
                </a:solidFill>
              </a:rPr>
              <a:t>Not measured yet: that is what our labelled points are for.</a:t>
            </a:r>
          </a:p>
        </p:txBody>
      </p:sp>
      <p:sp>
        <p:nvSpPr>
          <p:cNvPr id="9" name="TextBox 8"/>
          <p:cNvSpPr txBox="1"/>
          <p:nvPr/>
        </p:nvSpPr>
        <p:spPr>
          <a:xfrm>
            <a:off x="630936" y="4617720"/>
            <a:ext cx="7882127" cy="320040"/>
          </a:xfrm>
          <a:prstGeom prst="rect">
            <a:avLst/>
          </a:prstGeom>
          <a:noFill/>
        </p:spPr>
        <p:txBody>
          <a:bodyPr wrap="square" lIns="45720" tIns="27432" rIns="45720" bIns="27432" anchor="t">
            <a:spAutoFit/>
          </a:bodyPr>
          <a:lstStyle/>
          <a:p>
            <a:pPr algn="l">
              <a:spcAft>
                <a:spcPts val="400"/>
              </a:spcAft>
            </a:pPr>
            <a:r>
              <a:rPr sz="1000" b="0" i="0">
                <a:solidFill>
                  <a:srgbClr val="5F6368"/>
                </a:solidFill>
              </a:rPr>
              <a:t>Same 6 × 6 km window near Turalei (Twic county), outside our study counties so the labelling stays blind. Gold = map says crop.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The story:</a:t>
            </a:r>
            <a:br/>
            <a:r>
              <a:rPr lang="en-US" dirty="0">
                <a:solidFill>
                  <a:srgbClr val="C00000"/>
                </a:solidFill>
              </a:rPr>
              <a:t>the maps barely agree, and they are old</a:t>
            </a:r>
            <a:endParaRPr lang="en-US" dirty="0">
              <a:solidFill>
                <a:schemeClr val="accent2">
                  <a:lumMod val="75000"/>
                </a:schemeClr>
              </a:solidFill>
            </a:endParaRPr>
          </a:p>
        </p:txBody>
      </p:sp>
      <p:graphicFrame>
        <p:nvGraphicFramePr>
          <p:cNvPr id="3" name="Chart 2"/>
          <p:cNvGraphicFramePr>
            <a:graphicFrameLocks noGrp="1"/>
          </p:cNvGraphicFramePr>
          <p:nvPr/>
        </p:nvGraphicFramePr>
        <p:xfrm>
          <a:off x="502920" y="1325880"/>
          <a:ext cx="51206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5806440" y="1371600"/>
            <a:ext cx="2697480" cy="457200"/>
          </a:xfrm>
          <a:prstGeom prst="rect">
            <a:avLst/>
          </a:prstGeom>
          <a:noFill/>
        </p:spPr>
        <p:txBody>
          <a:bodyPr wrap="square" lIns="45720" tIns="27432" rIns="45720" bIns="27432" anchor="t">
            <a:spAutoFit/>
          </a:bodyPr>
          <a:lstStyle/>
          <a:p>
            <a:pPr algn="l">
              <a:spcAft>
                <a:spcPts val="400"/>
              </a:spcAft>
            </a:pPr>
            <a:r>
              <a:rPr sz="2400" b="1" i="0">
                <a:solidFill>
                  <a:srgbClr val="C00000"/>
                </a:solidFill>
              </a:rPr>
              <a:t>1 ha</a:t>
            </a:r>
          </a:p>
        </p:txBody>
      </p:sp>
      <p:sp>
        <p:nvSpPr>
          <p:cNvPr id="5" name="TextBox 4"/>
          <p:cNvSpPr txBox="1"/>
          <p:nvPr/>
        </p:nvSpPr>
        <p:spPr>
          <a:xfrm>
            <a:off x="5806440" y="1792224"/>
            <a:ext cx="2697480" cy="68580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where the four newest maps (2021–22) all agree on crop, out of 3 million ha. Best overlap of any two maps: ≤ 25%.</a:t>
            </a:r>
          </a:p>
        </p:txBody>
      </p:sp>
      <p:sp>
        <p:nvSpPr>
          <p:cNvPr id="6" name="TextBox 5"/>
          <p:cNvSpPr txBox="1"/>
          <p:nvPr/>
        </p:nvSpPr>
        <p:spPr>
          <a:xfrm>
            <a:off x="5806440" y="2487168"/>
            <a:ext cx="2697480" cy="457200"/>
          </a:xfrm>
          <a:prstGeom prst="rect">
            <a:avLst/>
          </a:prstGeom>
          <a:noFill/>
        </p:spPr>
        <p:txBody>
          <a:bodyPr wrap="square" lIns="45720" tIns="27432" rIns="45720" bIns="27432" anchor="t">
            <a:spAutoFit/>
          </a:bodyPr>
          <a:lstStyle/>
          <a:p>
            <a:pPr algn="l">
              <a:spcAft>
                <a:spcPts val="400"/>
              </a:spcAft>
            </a:pPr>
            <a:r>
              <a:rPr sz="2400" b="1" i="0">
                <a:solidFill>
                  <a:srgbClr val="C00000"/>
                </a:solidFill>
              </a:rPr>
              <a:t>5×</a:t>
            </a:r>
          </a:p>
        </p:txBody>
      </p:sp>
      <p:sp>
        <p:nvSpPr>
          <p:cNvPr id="7" name="TextBox 6"/>
          <p:cNvSpPr txBox="1"/>
          <p:nvPr/>
        </p:nvSpPr>
        <p:spPr>
          <a:xfrm>
            <a:off x="5806440" y="2907791"/>
            <a:ext cx="2697480" cy="68580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more crop in the FAO/WFP CFSAM 2022 report than in the typical map. CFSAM is modelled from household statistics, not mapped.</a:t>
            </a:r>
          </a:p>
        </p:txBody>
      </p:sp>
      <p:sp>
        <p:nvSpPr>
          <p:cNvPr id="8" name="TextBox 7"/>
          <p:cNvSpPr txBox="1"/>
          <p:nvPr/>
        </p:nvSpPr>
        <p:spPr>
          <a:xfrm>
            <a:off x="5806440" y="3602736"/>
            <a:ext cx="2697480" cy="457200"/>
          </a:xfrm>
          <a:prstGeom prst="rect">
            <a:avLst/>
          </a:prstGeom>
          <a:noFill/>
        </p:spPr>
        <p:txBody>
          <a:bodyPr wrap="square" lIns="45720" tIns="27432" rIns="45720" bIns="27432" anchor="t">
            <a:spAutoFit/>
          </a:bodyPr>
          <a:lstStyle/>
          <a:p>
            <a:pPr algn="l">
              <a:spcAft>
                <a:spcPts val="400"/>
              </a:spcAft>
            </a:pPr>
            <a:r>
              <a:rPr sz="2400" b="1" i="0">
                <a:solidFill>
                  <a:srgbClr val="C00000"/>
                </a:solidFill>
              </a:rPr>
              <a:t>2015–22</a:t>
            </a:r>
          </a:p>
        </p:txBody>
      </p:sp>
      <p:sp>
        <p:nvSpPr>
          <p:cNvPr id="9" name="TextBox 8"/>
          <p:cNvSpPr txBox="1"/>
          <p:nvPr/>
        </p:nvSpPr>
        <p:spPr>
          <a:xfrm>
            <a:off x="5806440" y="4023360"/>
            <a:ext cx="2697480" cy="68580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map years. GFSAD, DE Africa and GLAD are 2019 or older; ASAP merges older maps. The newest three find the least crop.</a:t>
            </a:r>
          </a:p>
        </p:txBody>
      </p:sp>
      <p:sp>
        <p:nvSpPr>
          <p:cNvPr id="10" name="TextBox 9"/>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Crop share from 10 m pixels over the counties' area. CFSAM = 2022 main-harvest cereal area, a modelled estimate (context, not a reference). Agreement between maps is not accuracy.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Prior work:</a:t>
            </a:r>
            <a:br/>
            <a:r>
              <a:rPr lang="en-US" dirty="0">
                <a:solidFill>
                  <a:srgbClr val="C00000"/>
                </a:solidFill>
              </a:rPr>
              <a:t>how Kerner et al. (2024) audited 11 maps</a:t>
            </a:r>
            <a:endParaRPr lang="en-US" dirty="0">
              <a:solidFill>
                <a:schemeClr val="accent2">
                  <a:lumMod val="75000"/>
                </a:schemeClr>
              </a:solidFill>
            </a:endParaRPr>
          </a:p>
        </p:txBody>
      </p:sp>
      <p:sp>
        <p:nvSpPr>
          <p:cNvPr id="3" name="Oval 2"/>
          <p:cNvSpPr/>
          <p:nvPr/>
        </p:nvSpPr>
        <p:spPr>
          <a:xfrm>
            <a:off x="630936" y="1399032"/>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4" name="TextBox 3"/>
          <p:cNvSpPr txBox="1"/>
          <p:nvPr/>
        </p:nvSpPr>
        <p:spPr>
          <a:xfrm>
            <a:off x="1115568" y="1371600"/>
            <a:ext cx="3566160" cy="270843"/>
          </a:xfrm>
          <a:prstGeom prst="rect">
            <a:avLst/>
          </a:prstGeom>
          <a:noFill/>
        </p:spPr>
        <p:txBody>
          <a:bodyPr wrap="square" lIns="45720" tIns="27432" rIns="45720" bIns="27432" anchor="t">
            <a:spAutoFit/>
          </a:bodyPr>
          <a:lstStyle/>
          <a:p>
            <a:pPr algn="l">
              <a:spcAft>
                <a:spcPts val="400"/>
              </a:spcAft>
            </a:pPr>
            <a:r>
              <a:rPr sz="1400" b="1" i="0" dirty="0">
                <a:solidFill>
                  <a:srgbClr val="2E868F"/>
                </a:solidFill>
              </a:rPr>
              <a:t>Random sample</a:t>
            </a:r>
          </a:p>
        </p:txBody>
      </p:sp>
      <p:sp>
        <p:nvSpPr>
          <p:cNvPr id="5" name="TextBox 4"/>
          <p:cNvSpPr txBox="1"/>
          <p:nvPr/>
        </p:nvSpPr>
        <p:spPr>
          <a:xfrm>
            <a:off x="1115568" y="1682496"/>
            <a:ext cx="3566160" cy="563231"/>
          </a:xfrm>
          <a:prstGeom prst="rect">
            <a:avLst/>
          </a:prstGeom>
          <a:noFill/>
        </p:spPr>
        <p:txBody>
          <a:bodyPr wrap="square" lIns="45720" tIns="27432" rIns="45720" bIns="27432" anchor="t">
            <a:spAutoFit/>
          </a:bodyPr>
          <a:lstStyle/>
          <a:p>
            <a:pPr algn="l">
              <a:spcAft>
                <a:spcPts val="400"/>
              </a:spcAft>
            </a:pPr>
            <a:r>
              <a:rPr sz="1100" b="0" i="0" dirty="0">
                <a:solidFill>
                  <a:srgbClr val="1F1F1F"/>
                </a:solidFill>
              </a:rPr>
              <a:t>Random points per country. In Mali, where crop is rare, stratified by greenness (NDVI) to get enough crop points: 447 points, only 10 </a:t>
            </a:r>
            <a:r>
              <a:rPr lang="es-ES" sz="1100" dirty="0" err="1">
                <a:solidFill>
                  <a:srgbClr val="1F1F1F"/>
                </a:solidFill>
              </a:rPr>
              <a:t>were</a:t>
            </a:r>
            <a:r>
              <a:rPr lang="es-ES" sz="1100" dirty="0">
                <a:solidFill>
                  <a:srgbClr val="1F1F1F"/>
                </a:solidFill>
              </a:rPr>
              <a:t> </a:t>
            </a:r>
            <a:r>
              <a:rPr lang="es-ES" sz="1100" dirty="0" err="1">
                <a:solidFill>
                  <a:srgbClr val="1F1F1F"/>
                </a:solidFill>
              </a:rPr>
              <a:t>labelled</a:t>
            </a:r>
            <a:r>
              <a:rPr lang="es-ES" sz="1100" dirty="0">
                <a:solidFill>
                  <a:srgbClr val="1F1F1F"/>
                </a:solidFill>
              </a:rPr>
              <a:t> as </a:t>
            </a:r>
            <a:r>
              <a:rPr lang="es-ES" sz="1100" dirty="0" err="1">
                <a:solidFill>
                  <a:srgbClr val="1F1F1F"/>
                </a:solidFill>
              </a:rPr>
              <a:t>crop</a:t>
            </a:r>
            <a:r>
              <a:rPr lang="es-ES" sz="1100" dirty="0">
                <a:solidFill>
                  <a:srgbClr val="1F1F1F"/>
                </a:solidFill>
              </a:rPr>
              <a:t> </a:t>
            </a:r>
            <a:r>
              <a:rPr lang="es-ES" sz="1100" dirty="0" err="1">
                <a:solidFill>
                  <a:srgbClr val="1F1F1F"/>
                </a:solidFill>
              </a:rPr>
              <a:t>by</a:t>
            </a:r>
            <a:r>
              <a:rPr lang="es-ES" sz="1100" dirty="0">
                <a:solidFill>
                  <a:srgbClr val="1F1F1F"/>
                </a:solidFill>
              </a:rPr>
              <a:t> </a:t>
            </a:r>
            <a:r>
              <a:rPr lang="es-ES" sz="1100" dirty="0" err="1">
                <a:solidFill>
                  <a:srgbClr val="1F1F1F"/>
                </a:solidFill>
              </a:rPr>
              <a:t>reviewers</a:t>
            </a:r>
            <a:r>
              <a:rPr lang="es-ES" sz="1100" dirty="0">
                <a:solidFill>
                  <a:srgbClr val="1F1F1F"/>
                </a:solidFill>
              </a:rPr>
              <a:t>.</a:t>
            </a:r>
            <a:endParaRPr sz="1100" b="0" i="0" dirty="0">
              <a:solidFill>
                <a:srgbClr val="1F1F1F"/>
              </a:solidFill>
            </a:endParaRPr>
          </a:p>
        </p:txBody>
      </p:sp>
      <p:sp>
        <p:nvSpPr>
          <p:cNvPr id="6" name="Oval 5"/>
          <p:cNvSpPr/>
          <p:nvPr/>
        </p:nvSpPr>
        <p:spPr>
          <a:xfrm>
            <a:off x="630936" y="2404872"/>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7" name="TextBox 6"/>
          <p:cNvSpPr txBox="1"/>
          <p:nvPr/>
        </p:nvSpPr>
        <p:spPr>
          <a:xfrm>
            <a:off x="1115568" y="2377440"/>
            <a:ext cx="3566160" cy="320040"/>
          </a:xfrm>
          <a:prstGeom prst="rect">
            <a:avLst/>
          </a:prstGeom>
          <a:noFill/>
        </p:spPr>
        <p:txBody>
          <a:bodyPr wrap="square" lIns="45720" tIns="27432" rIns="45720" bIns="27432" anchor="t">
            <a:spAutoFit/>
          </a:bodyPr>
          <a:lstStyle/>
          <a:p>
            <a:pPr algn="l">
              <a:spcAft>
                <a:spcPts val="400"/>
              </a:spcAft>
            </a:pPr>
            <a:r>
              <a:rPr sz="1400" b="1" i="0" dirty="0">
                <a:solidFill>
                  <a:srgbClr val="2E868F"/>
                </a:solidFill>
              </a:rPr>
              <a:t>Label by eye</a:t>
            </a:r>
            <a:r>
              <a:rPr lang="es-ES" sz="1400" b="1" i="0" dirty="0">
                <a:solidFill>
                  <a:srgbClr val="2E868F"/>
                </a:solidFill>
              </a:rPr>
              <a:t>, </a:t>
            </a:r>
            <a:r>
              <a:rPr lang="es-ES" sz="1400" b="1" i="0" dirty="0" err="1">
                <a:solidFill>
                  <a:srgbClr val="2E868F"/>
                </a:solidFill>
              </a:rPr>
              <a:t>blind</a:t>
            </a:r>
            <a:r>
              <a:rPr lang="es-ES" sz="1400" b="1" i="0" dirty="0">
                <a:solidFill>
                  <a:srgbClr val="2E868F"/>
                </a:solidFill>
              </a:rPr>
              <a:t> </a:t>
            </a:r>
            <a:r>
              <a:rPr lang="es-ES" sz="1400" b="1" i="0" dirty="0" err="1">
                <a:solidFill>
                  <a:srgbClr val="2E868F"/>
                </a:solidFill>
              </a:rPr>
              <a:t>to</a:t>
            </a:r>
            <a:r>
              <a:rPr lang="es-ES" sz="1400" b="1" i="0" dirty="0">
                <a:solidFill>
                  <a:srgbClr val="2E868F"/>
                </a:solidFill>
              </a:rPr>
              <a:t> </a:t>
            </a:r>
            <a:r>
              <a:rPr lang="es-ES" sz="1400" b="1" i="0" dirty="0" err="1">
                <a:solidFill>
                  <a:srgbClr val="2E868F"/>
                </a:solidFill>
              </a:rPr>
              <a:t>all</a:t>
            </a:r>
            <a:r>
              <a:rPr lang="es-ES" sz="1400" b="1" i="0" dirty="0">
                <a:solidFill>
                  <a:srgbClr val="2E868F"/>
                </a:solidFill>
              </a:rPr>
              <a:t> </a:t>
            </a:r>
            <a:r>
              <a:rPr lang="es-ES" sz="1400" b="1" i="0" dirty="0" err="1">
                <a:solidFill>
                  <a:srgbClr val="2E868F"/>
                </a:solidFill>
              </a:rPr>
              <a:t>maps</a:t>
            </a:r>
            <a:endParaRPr sz="1400" b="1" i="0" dirty="0">
              <a:solidFill>
                <a:srgbClr val="2E868F"/>
              </a:solidFill>
            </a:endParaRPr>
          </a:p>
        </p:txBody>
      </p:sp>
      <p:sp>
        <p:nvSpPr>
          <p:cNvPr id="8" name="TextBox 7"/>
          <p:cNvSpPr txBox="1"/>
          <p:nvPr/>
        </p:nvSpPr>
        <p:spPr>
          <a:xfrm>
            <a:off x="1115568" y="2688336"/>
            <a:ext cx="3566160" cy="731520"/>
          </a:xfrm>
          <a:prstGeom prst="rect">
            <a:avLst/>
          </a:prstGeom>
          <a:noFill/>
        </p:spPr>
        <p:txBody>
          <a:bodyPr wrap="square" lIns="45720" tIns="27432" rIns="45720" bIns="27432" anchor="t">
            <a:spAutoFit/>
          </a:bodyPr>
          <a:lstStyle/>
          <a:p>
            <a:pPr algn="l">
              <a:spcAft>
                <a:spcPts val="400"/>
              </a:spcAft>
            </a:pPr>
            <a:r>
              <a:rPr sz="1100" b="0" i="0" dirty="0">
                <a:solidFill>
                  <a:srgbClr val="1F1F1F"/>
                </a:solidFill>
              </a:rPr>
              <a:t>Monthly 3 m </a:t>
            </a:r>
            <a:r>
              <a:rPr sz="1100" b="0" i="0" dirty="0" err="1">
                <a:solidFill>
                  <a:srgbClr val="1F1F1F"/>
                </a:solidFill>
              </a:rPr>
              <a:t>PlanetScope</a:t>
            </a:r>
            <a:r>
              <a:rPr sz="1100" b="0" i="0" dirty="0">
                <a:solidFill>
                  <a:srgbClr val="1F1F1F"/>
                </a:solidFill>
              </a:rPr>
              <a:t> images, Sentinel-2 and Google Earth across the season. Crop = sowing, growth or harvest visible in the greenness time series. ≥ 2 </a:t>
            </a:r>
            <a:r>
              <a:rPr sz="1100" b="0" i="0" dirty="0" err="1">
                <a:solidFill>
                  <a:srgbClr val="1F1F1F"/>
                </a:solidFill>
              </a:rPr>
              <a:t>labellers</a:t>
            </a:r>
            <a:r>
              <a:rPr sz="1100" b="0" i="0" dirty="0">
                <a:solidFill>
                  <a:srgbClr val="1F1F1F"/>
                </a:solidFill>
              </a:rPr>
              <a:t> per point.</a:t>
            </a:r>
          </a:p>
        </p:txBody>
      </p:sp>
      <p:sp>
        <p:nvSpPr>
          <p:cNvPr id="9" name="Oval 8"/>
          <p:cNvSpPr/>
          <p:nvPr/>
        </p:nvSpPr>
        <p:spPr>
          <a:xfrm>
            <a:off x="630936" y="3593591"/>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0" name="TextBox 9"/>
          <p:cNvSpPr txBox="1"/>
          <p:nvPr/>
        </p:nvSpPr>
        <p:spPr>
          <a:xfrm>
            <a:off x="1115568" y="3566160"/>
            <a:ext cx="3566160" cy="320040"/>
          </a:xfrm>
          <a:prstGeom prst="rect">
            <a:avLst/>
          </a:prstGeom>
          <a:noFill/>
        </p:spPr>
        <p:txBody>
          <a:bodyPr wrap="square" lIns="45720" tIns="27432" rIns="45720" bIns="27432" anchor="t">
            <a:spAutoFit/>
          </a:bodyPr>
          <a:lstStyle/>
          <a:p>
            <a:pPr algn="l">
              <a:spcAft>
                <a:spcPts val="400"/>
              </a:spcAft>
            </a:pPr>
            <a:r>
              <a:rPr sz="1400" b="1" i="0" dirty="0">
                <a:solidFill>
                  <a:srgbClr val="2E868F"/>
                </a:solidFill>
              </a:rPr>
              <a:t>Score every map on the same points</a:t>
            </a:r>
          </a:p>
        </p:txBody>
      </p:sp>
      <p:sp>
        <p:nvSpPr>
          <p:cNvPr id="11" name="TextBox 10"/>
          <p:cNvSpPr txBox="1"/>
          <p:nvPr/>
        </p:nvSpPr>
        <p:spPr>
          <a:xfrm>
            <a:off x="1115568" y="3877056"/>
            <a:ext cx="3566160" cy="731520"/>
          </a:xfrm>
          <a:prstGeom prst="rect">
            <a:avLst/>
          </a:prstGeom>
          <a:noFill/>
        </p:spPr>
        <p:txBody>
          <a:bodyPr wrap="square" lIns="45720" tIns="27432" rIns="45720" bIns="27432" anchor="t">
            <a:spAutoFit/>
          </a:bodyPr>
          <a:lstStyle/>
          <a:p>
            <a:pPr algn="l">
              <a:spcAft>
                <a:spcPts val="400"/>
              </a:spcAft>
            </a:pPr>
            <a:r>
              <a:rPr sz="1100" b="0" i="0" dirty="0">
                <a:solidFill>
                  <a:srgbClr val="1F1F1F"/>
                </a:solidFill>
              </a:rPr>
              <a:t>Accuracy, precision, recall and F1 with standard errors. 11 maps, 8 countries, no South Sudan.</a:t>
            </a:r>
          </a:p>
        </p:txBody>
      </p:sp>
      <p:sp>
        <p:nvSpPr>
          <p:cNvPr id="12" name="TextBox 11"/>
          <p:cNvSpPr txBox="1"/>
          <p:nvPr/>
        </p:nvSpPr>
        <p:spPr>
          <a:xfrm>
            <a:off x="4937760" y="1325880"/>
            <a:ext cx="3566160" cy="274320"/>
          </a:xfrm>
          <a:prstGeom prst="rect">
            <a:avLst/>
          </a:prstGeom>
          <a:noFill/>
        </p:spPr>
        <p:txBody>
          <a:bodyPr wrap="square" lIns="45720" tIns="27432" rIns="45720" bIns="27432" anchor="t">
            <a:spAutoFit/>
          </a:bodyPr>
          <a:lstStyle/>
          <a:p>
            <a:pPr algn="l">
              <a:spcAft>
                <a:spcPts val="400"/>
              </a:spcAft>
            </a:pPr>
            <a:r>
              <a:rPr sz="1300" b="1" i="0">
                <a:solidFill>
                  <a:srgbClr val="1F1F1F"/>
                </a:solidFill>
              </a:rPr>
              <a:t>Mali: 2.2% of the points are crop</a:t>
            </a:r>
          </a:p>
        </p:txBody>
      </p:sp>
      <p:graphicFrame>
        <p:nvGraphicFramePr>
          <p:cNvPr id="13" name="Table 12"/>
          <p:cNvGraphicFramePr>
            <a:graphicFrameLocks noGrp="1"/>
          </p:cNvGraphicFramePr>
          <p:nvPr/>
        </p:nvGraphicFramePr>
        <p:xfrm>
          <a:off x="4937760" y="1645920"/>
          <a:ext cx="3566160" cy="219456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74320">
                <a:tc>
                  <a:txBody>
                    <a:bodyPr/>
                    <a:lstStyle/>
                    <a:p>
                      <a:r>
                        <a:rPr sz="1100" b="1">
                          <a:solidFill>
                            <a:srgbClr val="FFFFFF"/>
                          </a:solidFill>
                        </a:rPr>
                        <a:t>Map</a:t>
                      </a:r>
                    </a:p>
                  </a:txBody>
                  <a:tcPr marL="54864" marR="54864" marT="27432" marB="27432" anchor="ctr">
                    <a:solidFill>
                      <a:srgbClr val="2E868F"/>
                    </a:solidFill>
                  </a:tcPr>
                </a:tc>
                <a:tc>
                  <a:txBody>
                    <a:bodyPr/>
                    <a:lstStyle/>
                    <a:p>
                      <a:r>
                        <a:rPr sz="1100" b="1">
                          <a:solidFill>
                            <a:srgbClr val="FFFFFF"/>
                          </a:solidFill>
                        </a:rPr>
                        <a:t>Accuracy</a:t>
                      </a:r>
                    </a:p>
                  </a:txBody>
                  <a:tcPr marL="54864" marR="54864" marT="27432" marB="27432" anchor="ctr">
                    <a:solidFill>
                      <a:srgbClr val="2E868F"/>
                    </a:solidFill>
                  </a:tcPr>
                </a:tc>
                <a:tc>
                  <a:txBody>
                    <a:bodyPr/>
                    <a:lstStyle/>
                    <a:p>
                      <a:r>
                        <a:rPr sz="1100" b="1">
                          <a:solidFill>
                            <a:srgbClr val="FFFFFF"/>
                          </a:solidFill>
                        </a:rPr>
                        <a:t>F1</a:t>
                      </a:r>
                    </a:p>
                  </a:txBody>
                  <a:tcPr marL="54864" marR="54864" marT="27432" marB="27432" anchor="ctr">
                    <a:solidFill>
                      <a:srgbClr val="2E868F"/>
                    </a:solidFill>
                  </a:tcPr>
                </a:tc>
                <a:extLst>
                  <a:ext uri="{0D108BD9-81ED-4DB2-BD59-A6C34878D82A}">
                    <a16:rowId xmlns:a16="http://schemas.microsoft.com/office/drawing/2014/main" val="10000"/>
                  </a:ext>
                </a:extLst>
              </a:tr>
              <a:tr h="274320">
                <a:tc>
                  <a:txBody>
                    <a:bodyPr/>
                    <a:lstStyle/>
                    <a:p>
                      <a:r>
                        <a:rPr sz="1100" b="1">
                          <a:solidFill>
                            <a:srgbClr val="C00000"/>
                          </a:solidFill>
                        </a:rPr>
                        <a:t>Esri</a:t>
                      </a:r>
                    </a:p>
                  </a:txBody>
                  <a:tcPr marL="54864" marR="54864" marT="27432" marB="27432" anchor="ctr">
                    <a:solidFill>
                      <a:srgbClr val="E9F5F6"/>
                    </a:solidFill>
                  </a:tcPr>
                </a:tc>
                <a:tc>
                  <a:txBody>
                    <a:bodyPr/>
                    <a:lstStyle/>
                    <a:p>
                      <a:pPr algn="ctr"/>
                      <a:r>
                        <a:rPr sz="1100" b="1">
                          <a:solidFill>
                            <a:srgbClr val="C00000"/>
                          </a:solidFill>
                        </a:rPr>
                        <a:t>0.97</a:t>
                      </a:r>
                    </a:p>
                  </a:txBody>
                  <a:tcPr marL="54864" marR="54864" marT="27432" marB="27432" anchor="ctr">
                    <a:solidFill>
                      <a:srgbClr val="E9F5F6"/>
                    </a:solidFill>
                  </a:tcPr>
                </a:tc>
                <a:tc>
                  <a:txBody>
                    <a:bodyPr/>
                    <a:lstStyle/>
                    <a:p>
                      <a:pPr algn="ctr"/>
                      <a:r>
                        <a:rPr sz="1100" b="1">
                          <a:solidFill>
                            <a:srgbClr val="C00000"/>
                          </a:solidFill>
                        </a:rPr>
                        <a:t>0.00</a:t>
                      </a:r>
                    </a:p>
                  </a:txBody>
                  <a:tcPr marL="54864" marR="54864" marT="27432" marB="27432" anchor="ctr">
                    <a:solidFill>
                      <a:srgbClr val="E9F5F6"/>
                    </a:solidFill>
                  </a:tcPr>
                </a:tc>
                <a:extLst>
                  <a:ext uri="{0D108BD9-81ED-4DB2-BD59-A6C34878D82A}">
                    <a16:rowId xmlns:a16="http://schemas.microsoft.com/office/drawing/2014/main" val="10001"/>
                  </a:ext>
                </a:extLst>
              </a:tr>
              <a:tr h="274320">
                <a:tc>
                  <a:txBody>
                    <a:bodyPr/>
                    <a:lstStyle/>
                    <a:p>
                      <a:r>
                        <a:rPr sz="1100" b="0">
                          <a:solidFill>
                            <a:srgbClr val="1F1F1F"/>
                          </a:solidFill>
                        </a:rPr>
                        <a:t>DE Africa</a:t>
                      </a:r>
                    </a:p>
                  </a:txBody>
                  <a:tcPr marL="54864" marR="54864" marT="27432" marB="27432" anchor="ctr">
                    <a:solidFill>
                      <a:srgbClr val="FFFFFF"/>
                    </a:solidFill>
                  </a:tcPr>
                </a:tc>
                <a:tc>
                  <a:txBody>
                    <a:bodyPr/>
                    <a:lstStyle/>
                    <a:p>
                      <a:pPr algn="ctr"/>
                      <a:r>
                        <a:rPr sz="1100" b="0">
                          <a:solidFill>
                            <a:srgbClr val="1F1F1F"/>
                          </a:solidFill>
                        </a:rPr>
                        <a:t>0.96</a:t>
                      </a:r>
                    </a:p>
                  </a:txBody>
                  <a:tcPr marL="54864" marR="54864" marT="27432" marB="27432" anchor="ctr">
                    <a:solidFill>
                      <a:srgbClr val="FFFFFF"/>
                    </a:solidFill>
                  </a:tcPr>
                </a:tc>
                <a:tc>
                  <a:txBody>
                    <a:bodyPr/>
                    <a:lstStyle/>
                    <a:p>
                      <a:pPr algn="ctr"/>
                      <a:r>
                        <a:rPr sz="1100" b="0">
                          <a:solidFill>
                            <a:srgbClr val="1F1F1F"/>
                          </a:solidFill>
                        </a:rPr>
                        <a:t>0.46</a:t>
                      </a:r>
                    </a:p>
                  </a:txBody>
                  <a:tcPr marL="54864" marR="54864" marT="27432" marB="27432" anchor="ctr">
                    <a:solidFill>
                      <a:srgbClr val="FFFFFF"/>
                    </a:solidFill>
                  </a:tcPr>
                </a:tc>
                <a:extLst>
                  <a:ext uri="{0D108BD9-81ED-4DB2-BD59-A6C34878D82A}">
                    <a16:rowId xmlns:a16="http://schemas.microsoft.com/office/drawing/2014/main" val="10002"/>
                  </a:ext>
                </a:extLst>
              </a:tr>
              <a:tr h="274320">
                <a:tc>
                  <a:txBody>
                    <a:bodyPr/>
                    <a:lstStyle/>
                    <a:p>
                      <a:r>
                        <a:rPr sz="1100" b="0">
                          <a:solidFill>
                            <a:srgbClr val="1F1F1F"/>
                          </a:solidFill>
                        </a:rPr>
                        <a:t>WorldCover</a:t>
                      </a:r>
                    </a:p>
                  </a:txBody>
                  <a:tcPr marL="54864" marR="54864" marT="27432" marB="27432" anchor="ctr">
                    <a:solidFill>
                      <a:srgbClr val="E9F5F6"/>
                    </a:solidFill>
                  </a:tcPr>
                </a:tc>
                <a:tc>
                  <a:txBody>
                    <a:bodyPr/>
                    <a:lstStyle/>
                    <a:p>
                      <a:pPr algn="ctr"/>
                      <a:r>
                        <a:rPr sz="1100" b="0">
                          <a:solidFill>
                            <a:srgbClr val="1F1F1F"/>
                          </a:solidFill>
                        </a:rPr>
                        <a:t>0.95</a:t>
                      </a:r>
                    </a:p>
                  </a:txBody>
                  <a:tcPr marL="54864" marR="54864" marT="27432" marB="27432" anchor="ctr">
                    <a:solidFill>
                      <a:srgbClr val="E9F5F6"/>
                    </a:solidFill>
                  </a:tcPr>
                </a:tc>
                <a:tc>
                  <a:txBody>
                    <a:bodyPr/>
                    <a:lstStyle/>
                    <a:p>
                      <a:pPr algn="ctr"/>
                      <a:r>
                        <a:rPr sz="1100" b="0">
                          <a:solidFill>
                            <a:srgbClr val="1F1F1F"/>
                          </a:solidFill>
                        </a:rPr>
                        <a:t>0.43</a:t>
                      </a:r>
                    </a:p>
                  </a:txBody>
                  <a:tcPr marL="54864" marR="54864" marT="27432" marB="27432" anchor="ctr">
                    <a:solidFill>
                      <a:srgbClr val="E9F5F6"/>
                    </a:solidFill>
                  </a:tcPr>
                </a:tc>
                <a:extLst>
                  <a:ext uri="{0D108BD9-81ED-4DB2-BD59-A6C34878D82A}">
                    <a16:rowId xmlns:a16="http://schemas.microsoft.com/office/drawing/2014/main" val="10003"/>
                  </a:ext>
                </a:extLst>
              </a:tr>
              <a:tr h="274320">
                <a:tc>
                  <a:txBody>
                    <a:bodyPr/>
                    <a:lstStyle/>
                    <a:p>
                      <a:r>
                        <a:rPr sz="1100" b="0">
                          <a:solidFill>
                            <a:srgbClr val="1F1F1F"/>
                          </a:solidFill>
                        </a:rPr>
                        <a:t>GLAD</a:t>
                      </a:r>
                    </a:p>
                  </a:txBody>
                  <a:tcPr marL="54864" marR="54864" marT="27432" marB="27432" anchor="ctr">
                    <a:solidFill>
                      <a:srgbClr val="FFFFFF"/>
                    </a:solidFill>
                  </a:tcPr>
                </a:tc>
                <a:tc>
                  <a:txBody>
                    <a:bodyPr/>
                    <a:lstStyle/>
                    <a:p>
                      <a:pPr algn="ctr"/>
                      <a:r>
                        <a:rPr sz="1100" b="0">
                          <a:solidFill>
                            <a:srgbClr val="1F1F1F"/>
                          </a:solidFill>
                        </a:rPr>
                        <a:t>0.96</a:t>
                      </a:r>
                    </a:p>
                  </a:txBody>
                  <a:tcPr marL="54864" marR="54864" marT="27432" marB="27432" anchor="ctr">
                    <a:solidFill>
                      <a:srgbClr val="FFFFFF"/>
                    </a:solidFill>
                  </a:tcPr>
                </a:tc>
                <a:tc>
                  <a:txBody>
                    <a:bodyPr/>
                    <a:lstStyle/>
                    <a:p>
                      <a:pPr algn="ctr"/>
                      <a:r>
                        <a:rPr sz="1100" b="0">
                          <a:solidFill>
                            <a:srgbClr val="1F1F1F"/>
                          </a:solidFill>
                        </a:rPr>
                        <a:t>0.33</a:t>
                      </a:r>
                    </a:p>
                  </a:txBody>
                  <a:tcPr marL="54864" marR="54864" marT="27432" marB="27432" anchor="ctr">
                    <a:solidFill>
                      <a:srgbClr val="FFFFFF"/>
                    </a:solidFill>
                  </a:tcPr>
                </a:tc>
                <a:extLst>
                  <a:ext uri="{0D108BD9-81ED-4DB2-BD59-A6C34878D82A}">
                    <a16:rowId xmlns:a16="http://schemas.microsoft.com/office/drawing/2014/main" val="10004"/>
                  </a:ext>
                </a:extLst>
              </a:tr>
              <a:tr h="274320">
                <a:tc>
                  <a:txBody>
                    <a:bodyPr/>
                    <a:lstStyle/>
                    <a:p>
                      <a:r>
                        <a:rPr sz="1100" b="0">
                          <a:solidFill>
                            <a:srgbClr val="1F1F1F"/>
                          </a:solidFill>
                        </a:rPr>
                        <a:t>ASAP</a:t>
                      </a:r>
                    </a:p>
                  </a:txBody>
                  <a:tcPr marL="54864" marR="54864" marT="27432" marB="27432" anchor="ctr">
                    <a:solidFill>
                      <a:srgbClr val="E9F5F6"/>
                    </a:solidFill>
                  </a:tcPr>
                </a:tc>
                <a:tc>
                  <a:txBody>
                    <a:bodyPr/>
                    <a:lstStyle/>
                    <a:p>
                      <a:pPr algn="ctr"/>
                      <a:r>
                        <a:rPr sz="1100" b="0">
                          <a:solidFill>
                            <a:srgbClr val="1F1F1F"/>
                          </a:solidFill>
                        </a:rPr>
                        <a:t>0.95</a:t>
                      </a:r>
                    </a:p>
                  </a:txBody>
                  <a:tcPr marL="54864" marR="54864" marT="27432" marB="27432" anchor="ctr">
                    <a:solidFill>
                      <a:srgbClr val="E9F5F6"/>
                    </a:solidFill>
                  </a:tcPr>
                </a:tc>
                <a:tc>
                  <a:txBody>
                    <a:bodyPr/>
                    <a:lstStyle/>
                    <a:p>
                      <a:pPr algn="ctr"/>
                      <a:r>
                        <a:rPr sz="1100" b="0">
                          <a:solidFill>
                            <a:srgbClr val="1F1F1F"/>
                          </a:solidFill>
                        </a:rPr>
                        <a:t>0.21</a:t>
                      </a:r>
                    </a:p>
                  </a:txBody>
                  <a:tcPr marL="54864" marR="54864" marT="27432" marB="27432" anchor="ctr">
                    <a:solidFill>
                      <a:srgbClr val="E9F5F6"/>
                    </a:solidFill>
                  </a:tcPr>
                </a:tc>
                <a:extLst>
                  <a:ext uri="{0D108BD9-81ED-4DB2-BD59-A6C34878D82A}">
                    <a16:rowId xmlns:a16="http://schemas.microsoft.com/office/drawing/2014/main" val="10005"/>
                  </a:ext>
                </a:extLst>
              </a:tr>
              <a:tr h="274320">
                <a:tc>
                  <a:txBody>
                    <a:bodyPr/>
                    <a:lstStyle/>
                    <a:p>
                      <a:r>
                        <a:rPr sz="1100" b="0">
                          <a:solidFill>
                            <a:srgbClr val="1F1F1F"/>
                          </a:solidFill>
                        </a:rPr>
                        <a:t>GFSAD</a:t>
                      </a:r>
                    </a:p>
                  </a:txBody>
                  <a:tcPr marL="54864" marR="54864" marT="27432" marB="27432" anchor="ctr">
                    <a:solidFill>
                      <a:srgbClr val="FFFFFF"/>
                    </a:solidFill>
                  </a:tcPr>
                </a:tc>
                <a:tc>
                  <a:txBody>
                    <a:bodyPr/>
                    <a:lstStyle/>
                    <a:p>
                      <a:pPr algn="ctr"/>
                      <a:r>
                        <a:rPr sz="1100" b="0">
                          <a:solidFill>
                            <a:srgbClr val="1F1F1F"/>
                          </a:solidFill>
                        </a:rPr>
                        <a:t>0.91</a:t>
                      </a:r>
                    </a:p>
                  </a:txBody>
                  <a:tcPr marL="54864" marR="54864" marT="27432" marB="27432" anchor="ctr">
                    <a:solidFill>
                      <a:srgbClr val="FFFFFF"/>
                    </a:solidFill>
                  </a:tcPr>
                </a:tc>
                <a:tc>
                  <a:txBody>
                    <a:bodyPr/>
                    <a:lstStyle/>
                    <a:p>
                      <a:pPr algn="ctr"/>
                      <a:r>
                        <a:rPr sz="1100" b="0">
                          <a:solidFill>
                            <a:srgbClr val="1F1F1F"/>
                          </a:solidFill>
                        </a:rPr>
                        <a:t>0.15</a:t>
                      </a:r>
                    </a:p>
                  </a:txBody>
                  <a:tcPr marL="54864" marR="54864" marT="27432" marB="27432" anchor="ctr">
                    <a:solidFill>
                      <a:srgbClr val="FFFFFF"/>
                    </a:solidFill>
                  </a:tcPr>
                </a:tc>
                <a:extLst>
                  <a:ext uri="{0D108BD9-81ED-4DB2-BD59-A6C34878D82A}">
                    <a16:rowId xmlns:a16="http://schemas.microsoft.com/office/drawing/2014/main" val="10006"/>
                  </a:ext>
                </a:extLst>
              </a:tr>
              <a:tr h="274320">
                <a:tc>
                  <a:txBody>
                    <a:bodyPr/>
                    <a:lstStyle/>
                    <a:p>
                      <a:r>
                        <a:rPr sz="1100" b="0">
                          <a:solidFill>
                            <a:srgbClr val="1F1F1F"/>
                          </a:solidFill>
                        </a:rPr>
                        <a:t>Mean of 11 maps</a:t>
                      </a:r>
                    </a:p>
                  </a:txBody>
                  <a:tcPr marL="54864" marR="54864" marT="27432" marB="27432" anchor="ctr">
                    <a:solidFill>
                      <a:srgbClr val="E9F5F6"/>
                    </a:solidFill>
                  </a:tcPr>
                </a:tc>
                <a:tc>
                  <a:txBody>
                    <a:bodyPr/>
                    <a:lstStyle/>
                    <a:p>
                      <a:pPr algn="ctr"/>
                      <a:r>
                        <a:rPr sz="1100" b="0">
                          <a:solidFill>
                            <a:srgbClr val="1F1F1F"/>
                          </a:solidFill>
                        </a:rPr>
                        <a:t>0.92</a:t>
                      </a:r>
                    </a:p>
                  </a:txBody>
                  <a:tcPr marL="54864" marR="54864" marT="27432" marB="27432" anchor="ctr">
                    <a:solidFill>
                      <a:srgbClr val="E9F5F6"/>
                    </a:solidFill>
                  </a:tcPr>
                </a:tc>
                <a:tc>
                  <a:txBody>
                    <a:bodyPr/>
                    <a:lstStyle/>
                    <a:p>
                      <a:pPr algn="ctr"/>
                      <a:r>
                        <a:rPr sz="1100" b="0">
                          <a:solidFill>
                            <a:srgbClr val="1F1F1F"/>
                          </a:solidFill>
                        </a:rPr>
                        <a:t>0.21</a:t>
                      </a:r>
                    </a:p>
                  </a:txBody>
                  <a:tcPr marL="54864" marR="54864" marT="27432" marB="27432" anchor="ctr">
                    <a:solidFill>
                      <a:srgbClr val="E9F5F6"/>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4937760" y="3931920"/>
            <a:ext cx="3566160" cy="73152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Accuracy misleads when crop is rare: Esri scores 0.97 and finds no crop at all. Aweil is like Mali, so we report precision, recall and F1.</a:t>
            </a:r>
          </a:p>
        </p:txBody>
      </p:sp>
      <p:sp>
        <p:nvSpPr>
          <p:cNvPr id="15" name="TextBox 14"/>
          <p:cNvSpPr txBox="1"/>
          <p:nvPr/>
        </p:nvSpPr>
        <p:spPr>
          <a:xfrm>
            <a:off x="630936" y="4754880"/>
            <a:ext cx="7882127" cy="274320"/>
          </a:xfrm>
          <a:prstGeom prst="rect">
            <a:avLst/>
          </a:prstGeom>
          <a:noFill/>
        </p:spPr>
        <p:txBody>
          <a:bodyPr wrap="square" lIns="45720" tIns="27432" rIns="45720" bIns="27432" anchor="t">
            <a:spAutoFit/>
          </a:bodyPr>
          <a:lstStyle/>
          <a:p>
            <a:pPr algn="l">
              <a:spcAft>
                <a:spcPts val="400"/>
              </a:spcAft>
            </a:pPr>
            <a:r>
              <a:rPr sz="900" b="0" i="0">
                <a:solidFill>
                  <a:srgbClr val="5F6368"/>
                </a:solidFill>
              </a:rPr>
              <a:t>Kerner et al. (2024), How accurate are existing land cover maps for agriculture in Sub-Saharan Africa? Scientific Data 11:486, Tables 1 and 4. Precision = user's accuracy, recall = producer's.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Research objective:</a:t>
            </a:r>
            <a:br/>
            <a:r>
              <a:rPr lang="en-US" dirty="0">
                <a:solidFill>
                  <a:srgbClr val="C00000"/>
                </a:solidFill>
              </a:rPr>
              <a:t>what we want to confirm today</a:t>
            </a:r>
            <a:endParaRPr lang="en-US" dirty="0">
              <a:solidFill>
                <a:schemeClr val="accent2">
                  <a:lumMod val="75000"/>
                </a:schemeClr>
              </a:solidFill>
            </a:endParaRPr>
          </a:p>
        </p:txBody>
      </p:sp>
      <p:sp>
        <p:nvSpPr>
          <p:cNvPr id="3" name="Rounded Rectangle 2"/>
          <p:cNvSpPr/>
          <p:nvPr/>
        </p:nvSpPr>
        <p:spPr>
          <a:xfrm>
            <a:off x="630936" y="1371600"/>
            <a:ext cx="5029200" cy="32918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1463040"/>
            <a:ext cx="4754880" cy="320040"/>
          </a:xfrm>
          <a:prstGeom prst="rect">
            <a:avLst/>
          </a:prstGeom>
          <a:noFill/>
        </p:spPr>
        <p:txBody>
          <a:bodyPr wrap="square" lIns="45720" tIns="27432" rIns="45720" bIns="27432" anchor="t">
            <a:spAutoFit/>
          </a:bodyPr>
          <a:lstStyle/>
          <a:p>
            <a:pPr algn="l">
              <a:spcAft>
                <a:spcPts val="400"/>
              </a:spcAft>
            </a:pPr>
            <a:r>
              <a:rPr sz="1300" b="1" i="0">
                <a:solidFill>
                  <a:srgbClr val="2E868F"/>
                </a:solidFill>
              </a:rPr>
              <a:t>Proposed RO</a:t>
            </a:r>
          </a:p>
        </p:txBody>
      </p:sp>
      <p:sp>
        <p:nvSpPr>
          <p:cNvPr id="5" name="TextBox 4"/>
          <p:cNvSpPr txBox="1"/>
          <p:nvPr/>
        </p:nvSpPr>
        <p:spPr>
          <a:xfrm>
            <a:off x="795528" y="1783080"/>
            <a:ext cx="4754880" cy="731520"/>
          </a:xfrm>
          <a:prstGeom prst="rect">
            <a:avLst/>
          </a:prstGeom>
          <a:noFill/>
        </p:spPr>
        <p:txBody>
          <a:bodyPr wrap="square" lIns="45720" tIns="27432" rIns="45720" bIns="27432" anchor="t">
            <a:spAutoFit/>
          </a:bodyPr>
          <a:lstStyle/>
          <a:p>
            <a:pPr algn="l">
              <a:spcAft>
                <a:spcPts val="400"/>
              </a:spcAft>
            </a:pPr>
            <a:r>
              <a:rPr sz="1400" b="1" i="0">
                <a:solidFill>
                  <a:srgbClr val="1F1F1F"/>
                </a:solidFill>
              </a:rPr>
              <a:t>Measure how much cropland ZOA's areas had in 2022, and how accurately public maps, and a readable map of our own, capture it.</a:t>
            </a:r>
          </a:p>
        </p:txBody>
      </p:sp>
      <p:sp>
        <p:nvSpPr>
          <p:cNvPr id="6" name="Oval 5"/>
          <p:cNvSpPr/>
          <p:nvPr/>
        </p:nvSpPr>
        <p:spPr>
          <a:xfrm>
            <a:off x="822960" y="2642616"/>
            <a:ext cx="310896" cy="310896"/>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7" name="TextBox 6"/>
          <p:cNvSpPr txBox="1"/>
          <p:nvPr/>
        </p:nvSpPr>
        <p:spPr>
          <a:xfrm>
            <a:off x="1234440" y="2606040"/>
            <a:ext cx="4297680" cy="240066"/>
          </a:xfrm>
          <a:prstGeom prst="rect">
            <a:avLst/>
          </a:prstGeom>
          <a:noFill/>
        </p:spPr>
        <p:txBody>
          <a:bodyPr wrap="square" lIns="45720" tIns="27432" rIns="45720" bIns="27432" anchor="t">
            <a:spAutoFit/>
          </a:bodyPr>
          <a:lstStyle/>
          <a:p>
            <a:pPr algn="l">
              <a:spcAft>
                <a:spcPts val="400"/>
              </a:spcAft>
            </a:pPr>
            <a:r>
              <a:rPr lang="es-ES" sz="1200" b="1" dirty="0" err="1">
                <a:solidFill>
                  <a:srgbClr val="1F1F1F"/>
                </a:solidFill>
              </a:rPr>
              <a:t>Estimate</a:t>
            </a:r>
            <a:r>
              <a:rPr lang="es-ES" sz="1200" b="1" dirty="0">
                <a:solidFill>
                  <a:srgbClr val="1F1F1F"/>
                </a:solidFill>
              </a:rPr>
              <a:t> </a:t>
            </a:r>
            <a:r>
              <a:rPr lang="es-ES" sz="1200" b="1" dirty="0" err="1">
                <a:solidFill>
                  <a:srgbClr val="1F1F1F"/>
                </a:solidFill>
              </a:rPr>
              <a:t>of</a:t>
            </a:r>
            <a:r>
              <a:rPr lang="es-ES" sz="1200" b="1" dirty="0">
                <a:solidFill>
                  <a:srgbClr val="1F1F1F"/>
                </a:solidFill>
              </a:rPr>
              <a:t> h</a:t>
            </a:r>
            <a:r>
              <a:rPr sz="1200" b="1" i="0" dirty="0">
                <a:solidFill>
                  <a:srgbClr val="1F1F1F"/>
                </a:solidFill>
              </a:rPr>
              <a:t>ow much cropland?</a:t>
            </a:r>
          </a:p>
        </p:txBody>
      </p:sp>
      <p:sp>
        <p:nvSpPr>
          <p:cNvPr id="8" name="TextBox 7"/>
          <p:cNvSpPr txBox="1"/>
          <p:nvPr/>
        </p:nvSpPr>
        <p:spPr>
          <a:xfrm>
            <a:off x="1234440" y="2834640"/>
            <a:ext cx="4297680" cy="274320"/>
          </a:xfrm>
          <a:prstGeom prst="rect">
            <a:avLst/>
          </a:prstGeom>
          <a:noFill/>
        </p:spPr>
        <p:txBody>
          <a:bodyPr wrap="square" lIns="45720" tIns="27432" rIns="45720" bIns="27432" anchor="t">
            <a:spAutoFit/>
          </a:bodyPr>
          <a:lstStyle/>
          <a:p>
            <a:pPr algn="l">
              <a:spcAft>
                <a:spcPts val="400"/>
              </a:spcAft>
            </a:pPr>
            <a:r>
              <a:rPr sz="1050" b="0" i="0">
                <a:solidFill>
                  <a:srgbClr val="5F6368"/>
                </a:solidFill>
              </a:rPr>
              <a:t>hectares ± 95% CI from ≈ 450 labelled points, independent of any map</a:t>
            </a:r>
          </a:p>
        </p:txBody>
      </p:sp>
      <p:sp>
        <p:nvSpPr>
          <p:cNvPr id="9" name="Oval 8"/>
          <p:cNvSpPr/>
          <p:nvPr/>
        </p:nvSpPr>
        <p:spPr>
          <a:xfrm>
            <a:off x="822960" y="3145536"/>
            <a:ext cx="310896" cy="310896"/>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10" name="TextBox 9"/>
          <p:cNvSpPr txBox="1"/>
          <p:nvPr/>
        </p:nvSpPr>
        <p:spPr>
          <a:xfrm>
            <a:off x="1234440" y="3108960"/>
            <a:ext cx="4297680" cy="274320"/>
          </a:xfrm>
          <a:prstGeom prst="rect">
            <a:avLst/>
          </a:prstGeom>
          <a:noFill/>
        </p:spPr>
        <p:txBody>
          <a:bodyPr wrap="square" lIns="45720" tIns="27432" rIns="45720" bIns="27432" anchor="t">
            <a:spAutoFit/>
          </a:bodyPr>
          <a:lstStyle/>
          <a:p>
            <a:pPr algn="l">
              <a:spcAft>
                <a:spcPts val="400"/>
              </a:spcAft>
            </a:pPr>
            <a:r>
              <a:rPr sz="1200" b="1" i="0">
                <a:solidFill>
                  <a:srgbClr val="1F1F1F"/>
                </a:solidFill>
              </a:rPr>
              <a:t>How wrong are the public maps?</a:t>
            </a:r>
          </a:p>
        </p:txBody>
      </p:sp>
      <p:sp>
        <p:nvSpPr>
          <p:cNvPr id="11" name="TextBox 10"/>
          <p:cNvSpPr txBox="1"/>
          <p:nvPr/>
        </p:nvSpPr>
        <p:spPr>
          <a:xfrm>
            <a:off x="1234440" y="3337560"/>
            <a:ext cx="4297680" cy="274320"/>
          </a:xfrm>
          <a:prstGeom prst="rect">
            <a:avLst/>
          </a:prstGeom>
          <a:noFill/>
        </p:spPr>
        <p:txBody>
          <a:bodyPr wrap="square" lIns="45720" tIns="27432" rIns="45720" bIns="27432" anchor="t">
            <a:spAutoFit/>
          </a:bodyPr>
          <a:lstStyle/>
          <a:p>
            <a:pPr algn="l">
              <a:spcAft>
                <a:spcPts val="400"/>
              </a:spcAft>
            </a:pPr>
            <a:r>
              <a:rPr sz="1050" b="0" i="0">
                <a:solidFill>
                  <a:srgbClr val="5F6368"/>
                </a:solidFill>
              </a:rPr>
              <a:t>7 maps scored on held-out points: precision, recall, F1, area</a:t>
            </a:r>
          </a:p>
        </p:txBody>
      </p:sp>
      <p:sp>
        <p:nvSpPr>
          <p:cNvPr id="12" name="Oval 11"/>
          <p:cNvSpPr/>
          <p:nvPr/>
        </p:nvSpPr>
        <p:spPr>
          <a:xfrm>
            <a:off x="822960" y="3648456"/>
            <a:ext cx="310896" cy="310896"/>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3" name="TextBox 12"/>
          <p:cNvSpPr txBox="1"/>
          <p:nvPr/>
        </p:nvSpPr>
        <p:spPr>
          <a:xfrm>
            <a:off x="1234440" y="3611880"/>
            <a:ext cx="4297680" cy="274320"/>
          </a:xfrm>
          <a:prstGeom prst="rect">
            <a:avLst/>
          </a:prstGeom>
          <a:noFill/>
        </p:spPr>
        <p:txBody>
          <a:bodyPr wrap="square" lIns="45720" tIns="27432" rIns="45720" bIns="27432" anchor="t">
            <a:spAutoFit/>
          </a:bodyPr>
          <a:lstStyle/>
          <a:p>
            <a:pPr algn="l">
              <a:spcAft>
                <a:spcPts val="400"/>
              </a:spcAft>
            </a:pPr>
            <a:r>
              <a:rPr sz="1200" b="1" i="0">
                <a:solidFill>
                  <a:srgbClr val="1F1F1F"/>
                </a:solidFill>
              </a:rPr>
              <a:t>Can readable rules do better here?</a:t>
            </a:r>
          </a:p>
        </p:txBody>
      </p:sp>
      <p:sp>
        <p:nvSpPr>
          <p:cNvPr id="14" name="TextBox 13"/>
          <p:cNvSpPr txBox="1"/>
          <p:nvPr/>
        </p:nvSpPr>
        <p:spPr>
          <a:xfrm>
            <a:off x="1234440" y="3840480"/>
            <a:ext cx="4297680" cy="274320"/>
          </a:xfrm>
          <a:prstGeom prst="rect">
            <a:avLst/>
          </a:prstGeom>
          <a:noFill/>
        </p:spPr>
        <p:txBody>
          <a:bodyPr wrap="square" lIns="45720" tIns="27432" rIns="45720" bIns="27432" anchor="t">
            <a:spAutoFit/>
          </a:bodyPr>
          <a:lstStyle/>
          <a:p>
            <a:pPr algn="l">
              <a:spcAft>
                <a:spcPts val="400"/>
              </a:spcAft>
            </a:pPr>
            <a:r>
              <a:rPr sz="1050" b="0" i="0">
                <a:solidFill>
                  <a:srgbClr val="5F6368"/>
                </a:solidFill>
              </a:rPr>
              <a:t>our 2022 map, scored on the same points</a:t>
            </a:r>
          </a:p>
        </p:txBody>
      </p:sp>
      <p:sp>
        <p:nvSpPr>
          <p:cNvPr id="15" name="Oval 14"/>
          <p:cNvSpPr/>
          <p:nvPr/>
        </p:nvSpPr>
        <p:spPr>
          <a:xfrm>
            <a:off x="822960" y="4151376"/>
            <a:ext cx="310896" cy="310896"/>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16" name="TextBox 15"/>
          <p:cNvSpPr txBox="1"/>
          <p:nvPr/>
        </p:nvSpPr>
        <p:spPr>
          <a:xfrm>
            <a:off x="1234440" y="4114800"/>
            <a:ext cx="4297680" cy="274320"/>
          </a:xfrm>
          <a:prstGeom prst="rect">
            <a:avLst/>
          </a:prstGeom>
          <a:noFill/>
        </p:spPr>
        <p:txBody>
          <a:bodyPr wrap="square" lIns="45720" tIns="27432" rIns="45720" bIns="27432" anchor="t">
            <a:spAutoFit/>
          </a:bodyPr>
          <a:lstStyle/>
          <a:p>
            <a:pPr algn="l">
              <a:spcAft>
                <a:spcPts val="400"/>
              </a:spcAft>
            </a:pPr>
            <a:r>
              <a:rPr sz="1200" b="1" i="0">
                <a:solidFill>
                  <a:srgbClr val="1F1F1F"/>
                </a:solidFill>
              </a:rPr>
              <a:t>Does the choice matter for AA?</a:t>
            </a:r>
          </a:p>
        </p:txBody>
      </p:sp>
      <p:sp>
        <p:nvSpPr>
          <p:cNvPr id="17" name="TextBox 16"/>
          <p:cNvSpPr txBox="1"/>
          <p:nvPr/>
        </p:nvSpPr>
        <p:spPr>
          <a:xfrm>
            <a:off x="1234440" y="4343400"/>
            <a:ext cx="4297680" cy="274320"/>
          </a:xfrm>
          <a:prstGeom prst="rect">
            <a:avLst/>
          </a:prstGeom>
          <a:noFill/>
        </p:spPr>
        <p:txBody>
          <a:bodyPr wrap="square" lIns="45720" tIns="27432" rIns="45720" bIns="27432" anchor="t">
            <a:spAutoFit/>
          </a:bodyPr>
          <a:lstStyle/>
          <a:p>
            <a:pPr algn="l">
              <a:spcAft>
                <a:spcPts val="400"/>
              </a:spcAft>
            </a:pPr>
            <a:r>
              <a:rPr sz="1050" b="0" i="0">
                <a:solidFill>
                  <a:srgbClr val="5F6368"/>
                </a:solidFill>
              </a:rPr>
              <a:t>2022 flood × each map: would a trigger have fired?</a:t>
            </a:r>
          </a:p>
        </p:txBody>
      </p:sp>
      <p:sp>
        <p:nvSpPr>
          <p:cNvPr id="18" name="TextBox 17"/>
          <p:cNvSpPr txBox="1"/>
          <p:nvPr/>
        </p:nvSpPr>
        <p:spPr>
          <a:xfrm>
            <a:off x="5943600" y="1371600"/>
            <a:ext cx="2560320" cy="320040"/>
          </a:xfrm>
          <a:prstGeom prst="rect">
            <a:avLst/>
          </a:prstGeom>
          <a:noFill/>
        </p:spPr>
        <p:txBody>
          <a:bodyPr wrap="square" lIns="45720" tIns="27432" rIns="45720" bIns="27432" anchor="t">
            <a:spAutoFit/>
          </a:bodyPr>
          <a:lstStyle/>
          <a:p>
            <a:pPr algn="l">
              <a:spcAft>
                <a:spcPts val="400"/>
              </a:spcAft>
            </a:pPr>
            <a:r>
              <a:rPr sz="1300" b="1" i="0">
                <a:solidFill>
                  <a:srgbClr val="2E868F"/>
                </a:solidFill>
              </a:rPr>
              <a:t>Scope</a:t>
            </a:r>
          </a:p>
        </p:txBody>
      </p:sp>
      <p:sp>
        <p:nvSpPr>
          <p:cNvPr id="19" name="TextBox 18"/>
          <p:cNvSpPr txBox="1"/>
          <p:nvPr/>
        </p:nvSpPr>
        <p:spPr>
          <a:xfrm>
            <a:off x="5943600" y="1737360"/>
            <a:ext cx="685800" cy="50292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Where</a:t>
            </a:r>
          </a:p>
        </p:txBody>
      </p:sp>
      <p:sp>
        <p:nvSpPr>
          <p:cNvPr id="20" name="TextBox 19"/>
          <p:cNvSpPr txBox="1"/>
          <p:nvPr/>
        </p:nvSpPr>
        <p:spPr>
          <a:xfrm>
            <a:off x="6629400" y="1737360"/>
            <a:ext cx="1874519" cy="5486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5 Aweil counties (Lol river) + Bor South: ZOA's areas</a:t>
            </a:r>
          </a:p>
        </p:txBody>
      </p:sp>
      <p:sp>
        <p:nvSpPr>
          <p:cNvPr id="21" name="TextBox 20"/>
          <p:cNvSpPr txBox="1"/>
          <p:nvPr/>
        </p:nvSpPr>
        <p:spPr>
          <a:xfrm>
            <a:off x="5943600" y="2322576"/>
            <a:ext cx="685800" cy="50292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When</a:t>
            </a:r>
          </a:p>
        </p:txBody>
      </p:sp>
      <p:sp>
        <p:nvSpPr>
          <p:cNvPr id="22" name="TextBox 21"/>
          <p:cNvSpPr txBox="1"/>
          <p:nvPr/>
        </p:nvSpPr>
        <p:spPr>
          <a:xfrm>
            <a:off x="6629400" y="2322576"/>
            <a:ext cx="1874519" cy="5486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2022 season: flooding, and CFSAM figures to compare</a:t>
            </a:r>
          </a:p>
        </p:txBody>
      </p:sp>
      <p:sp>
        <p:nvSpPr>
          <p:cNvPr id="23" name="TextBox 22"/>
          <p:cNvSpPr txBox="1"/>
          <p:nvPr/>
        </p:nvSpPr>
        <p:spPr>
          <a:xfrm>
            <a:off x="5943600" y="2907791"/>
            <a:ext cx="685800" cy="50292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Map</a:t>
            </a:r>
          </a:p>
        </p:txBody>
      </p:sp>
      <p:sp>
        <p:nvSpPr>
          <p:cNvPr id="24" name="TextBox 23"/>
          <p:cNvSpPr txBox="1"/>
          <p:nvPr/>
        </p:nvSpPr>
        <p:spPr>
          <a:xfrm>
            <a:off x="6629400" y="2907791"/>
            <a:ext cx="1874519" cy="5486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whole country, but checked only in ZOA's areas</a:t>
            </a:r>
          </a:p>
        </p:txBody>
      </p:sp>
      <p:sp>
        <p:nvSpPr>
          <p:cNvPr id="25" name="TextBox 24"/>
          <p:cNvSpPr txBox="1"/>
          <p:nvPr/>
        </p:nvSpPr>
        <p:spPr>
          <a:xfrm>
            <a:off x="5943600" y="3493008"/>
            <a:ext cx="685800" cy="50292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Out</a:t>
            </a:r>
          </a:p>
        </p:txBody>
      </p:sp>
      <p:sp>
        <p:nvSpPr>
          <p:cNvPr id="26" name="TextBox 25"/>
          <p:cNvSpPr txBox="1"/>
          <p:nvPr/>
        </p:nvSpPr>
        <p:spPr>
          <a:xfrm>
            <a:off x="6629400" y="3493008"/>
            <a:ext cx="1874519" cy="5486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the flood forecast (documented in prediction/)</a:t>
            </a:r>
          </a:p>
        </p:txBody>
      </p:sp>
      <p:sp>
        <p:nvSpPr>
          <p:cNvPr id="27" name="TextBox 26"/>
          <p:cNvSpPr txBox="1"/>
          <p:nvPr/>
        </p:nvSpPr>
        <p:spPr>
          <a:xfrm>
            <a:off x="5943600" y="4078224"/>
            <a:ext cx="685800" cy="502920"/>
          </a:xfrm>
          <a:prstGeom prst="rect">
            <a:avLst/>
          </a:prstGeom>
          <a:noFill/>
        </p:spPr>
        <p:txBody>
          <a:bodyPr wrap="square" lIns="45720" tIns="27432" rIns="45720" bIns="27432" anchor="t">
            <a:spAutoFit/>
          </a:bodyPr>
          <a:lstStyle/>
          <a:p>
            <a:pPr algn="l">
              <a:spcAft>
                <a:spcPts val="400"/>
              </a:spcAft>
            </a:pPr>
            <a:r>
              <a:rPr sz="1100" b="1" i="0">
                <a:solidFill>
                  <a:srgbClr val="C00000"/>
                </a:solidFill>
              </a:rPr>
              <a:t>Gap</a:t>
            </a:r>
          </a:p>
        </p:txBody>
      </p:sp>
      <p:sp>
        <p:nvSpPr>
          <p:cNvPr id="28" name="TextBox 27"/>
          <p:cNvSpPr txBox="1"/>
          <p:nvPr/>
        </p:nvSpPr>
        <p:spPr>
          <a:xfrm>
            <a:off x="6629400" y="4078224"/>
            <a:ext cx="1874519" cy="548640"/>
          </a:xfrm>
          <a:prstGeom prst="rect">
            <a:avLst/>
          </a:prstGeom>
          <a:noFill/>
        </p:spPr>
        <p:txBody>
          <a:bodyPr wrap="square" lIns="45720" tIns="27432" rIns="45720" bIns="27432" anchor="t">
            <a:spAutoFit/>
          </a:bodyPr>
          <a:lstStyle/>
          <a:p>
            <a:pPr algn="l">
              <a:spcAft>
                <a:spcPts val="400"/>
              </a:spcAft>
            </a:pPr>
            <a:r>
              <a:rPr sz="1100" b="0" i="0">
                <a:solidFill>
                  <a:srgbClr val="1F1F1F"/>
                </a:solidFill>
              </a:rPr>
              <a:t>Kerner et al. skipped South Sudan; we found no accuracy check 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Our method:</a:t>
            </a:r>
            <a:br/>
            <a:r>
              <a:rPr lang="en-US" dirty="0">
                <a:solidFill>
                  <a:srgbClr val="C00000"/>
                </a:solidFill>
              </a:rPr>
              <a:t>one labelled sample, two uses</a:t>
            </a:r>
            <a:endParaRPr lang="en-US" dirty="0">
              <a:solidFill>
                <a:schemeClr val="accent2">
                  <a:lumMod val="75000"/>
                </a:schemeClr>
              </a:solidFill>
            </a:endParaRPr>
          </a:p>
        </p:txBody>
      </p:sp>
      <p:sp>
        <p:nvSpPr>
          <p:cNvPr id="3" name="Oval 2"/>
          <p:cNvSpPr/>
          <p:nvPr/>
        </p:nvSpPr>
        <p:spPr>
          <a:xfrm>
            <a:off x="1143000" y="1417320"/>
            <a:ext cx="438912" cy="438912"/>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cxnSp>
        <p:nvCxnSpPr>
          <p:cNvPr id="4" name="Connector 3"/>
          <p:cNvCxnSpPr/>
          <p:nvPr/>
        </p:nvCxnSpPr>
        <p:spPr>
          <a:xfrm>
            <a:off x="1636776" y="1636776"/>
            <a:ext cx="1051560"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30936" y="1920240"/>
            <a:ext cx="1481328" cy="320040"/>
          </a:xfrm>
          <a:prstGeom prst="rect">
            <a:avLst/>
          </a:prstGeom>
          <a:noFill/>
        </p:spPr>
        <p:txBody>
          <a:bodyPr wrap="square" lIns="45720" tIns="27432" rIns="45720" bIns="27432" anchor="t">
            <a:spAutoFit/>
          </a:bodyPr>
          <a:lstStyle/>
          <a:p>
            <a:pPr algn="ctr">
              <a:spcAft>
                <a:spcPts val="400"/>
              </a:spcAft>
            </a:pPr>
            <a:r>
              <a:rPr sz="1300" b="1" i="0">
                <a:solidFill>
                  <a:srgbClr val="2E868F"/>
                </a:solidFill>
              </a:rPr>
              <a:t>Agreement map</a:t>
            </a:r>
          </a:p>
        </p:txBody>
      </p:sp>
      <p:sp>
        <p:nvSpPr>
          <p:cNvPr id="6" name="TextBox 5"/>
          <p:cNvSpPr txBox="1"/>
          <p:nvPr/>
        </p:nvSpPr>
        <p:spPr>
          <a:xfrm>
            <a:off x="630936" y="2240280"/>
            <a:ext cx="1481328" cy="822960"/>
          </a:xfrm>
          <a:prstGeom prst="rect">
            <a:avLst/>
          </a:prstGeom>
          <a:noFill/>
        </p:spPr>
        <p:txBody>
          <a:bodyPr wrap="square" lIns="45720" tIns="27432" rIns="45720" bIns="27432" anchor="t">
            <a:spAutoFit/>
          </a:bodyPr>
          <a:lstStyle/>
          <a:p>
            <a:pPr algn="ctr">
              <a:spcAft>
                <a:spcPts val="400"/>
              </a:spcAft>
            </a:pPr>
            <a:r>
              <a:rPr sz="1050" b="0" i="0">
                <a:solidFill>
                  <a:srgbClr val="1F1F1F"/>
                </a:solidFill>
              </a:rPr>
              <a:t>7 maps on one 10 m grid: how many say crop</a:t>
            </a:r>
          </a:p>
        </p:txBody>
      </p:sp>
      <p:sp>
        <p:nvSpPr>
          <p:cNvPr id="7" name="Oval 6"/>
          <p:cNvSpPr/>
          <p:nvPr/>
        </p:nvSpPr>
        <p:spPr>
          <a:xfrm>
            <a:off x="2743200" y="1417320"/>
            <a:ext cx="438912" cy="438912"/>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cxnSp>
        <p:nvCxnSpPr>
          <p:cNvPr id="8" name="Connector 7"/>
          <p:cNvCxnSpPr/>
          <p:nvPr/>
        </p:nvCxnSpPr>
        <p:spPr>
          <a:xfrm>
            <a:off x="3236976" y="1636776"/>
            <a:ext cx="1051560"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231136" y="1920240"/>
            <a:ext cx="1481328" cy="320040"/>
          </a:xfrm>
          <a:prstGeom prst="rect">
            <a:avLst/>
          </a:prstGeom>
          <a:noFill/>
        </p:spPr>
        <p:txBody>
          <a:bodyPr wrap="square" lIns="45720" tIns="27432" rIns="45720" bIns="27432" anchor="t">
            <a:spAutoFit/>
          </a:bodyPr>
          <a:lstStyle/>
          <a:p>
            <a:pPr algn="ctr">
              <a:spcAft>
                <a:spcPts val="400"/>
              </a:spcAft>
            </a:pPr>
            <a:r>
              <a:rPr sz="1300" b="1" i="0">
                <a:solidFill>
                  <a:srgbClr val="2E868F"/>
                </a:solidFill>
              </a:rPr>
              <a:t>Draw ≈ 450 points</a:t>
            </a:r>
          </a:p>
        </p:txBody>
      </p:sp>
      <p:sp>
        <p:nvSpPr>
          <p:cNvPr id="10" name="TextBox 9"/>
          <p:cNvSpPr txBox="1"/>
          <p:nvPr/>
        </p:nvSpPr>
        <p:spPr>
          <a:xfrm>
            <a:off x="2231136" y="2240280"/>
            <a:ext cx="1481328" cy="822960"/>
          </a:xfrm>
          <a:prstGeom prst="rect">
            <a:avLst/>
          </a:prstGeom>
          <a:noFill/>
        </p:spPr>
        <p:txBody>
          <a:bodyPr wrap="square" lIns="45720" tIns="27432" rIns="45720" bIns="27432" anchor="t">
            <a:spAutoFit/>
          </a:bodyPr>
          <a:lstStyle/>
          <a:p>
            <a:pPr algn="ctr">
              <a:spcAft>
                <a:spcPts val="400"/>
              </a:spcAft>
            </a:pPr>
            <a:r>
              <a:rPr sz="1050" b="0" i="0">
                <a:solidFill>
                  <a:srgbClr val="1F1F1F"/>
                </a:solidFill>
              </a:rPr>
              <a:t>strata 0 / 1–2 / 3+ maps say crop; most where none do</a:t>
            </a:r>
          </a:p>
        </p:txBody>
      </p:sp>
      <p:sp>
        <p:nvSpPr>
          <p:cNvPr id="11" name="Oval 10"/>
          <p:cNvSpPr/>
          <p:nvPr/>
        </p:nvSpPr>
        <p:spPr>
          <a:xfrm>
            <a:off x="4343400" y="1417320"/>
            <a:ext cx="438912" cy="438912"/>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cxnSp>
        <p:nvCxnSpPr>
          <p:cNvPr id="12" name="Connector 11"/>
          <p:cNvCxnSpPr/>
          <p:nvPr/>
        </p:nvCxnSpPr>
        <p:spPr>
          <a:xfrm>
            <a:off x="4837175" y="1636776"/>
            <a:ext cx="1051561"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31335" y="1920240"/>
            <a:ext cx="1481328" cy="320040"/>
          </a:xfrm>
          <a:prstGeom prst="rect">
            <a:avLst/>
          </a:prstGeom>
          <a:noFill/>
        </p:spPr>
        <p:txBody>
          <a:bodyPr wrap="square" lIns="45720" tIns="27432" rIns="45720" bIns="27432" anchor="t">
            <a:spAutoFit/>
          </a:bodyPr>
          <a:lstStyle/>
          <a:p>
            <a:pPr algn="ctr">
              <a:spcAft>
                <a:spcPts val="400"/>
              </a:spcAft>
            </a:pPr>
            <a:r>
              <a:rPr sz="1300" b="1" i="0">
                <a:solidFill>
                  <a:srgbClr val="2E868F"/>
                </a:solidFill>
              </a:rPr>
              <a:t>Label blind, twice</a:t>
            </a:r>
          </a:p>
        </p:txBody>
      </p:sp>
      <p:sp>
        <p:nvSpPr>
          <p:cNvPr id="14" name="TextBox 13"/>
          <p:cNvSpPr txBox="1"/>
          <p:nvPr/>
        </p:nvSpPr>
        <p:spPr>
          <a:xfrm>
            <a:off x="3831335" y="2240280"/>
            <a:ext cx="1481328" cy="822960"/>
          </a:xfrm>
          <a:prstGeom prst="rect">
            <a:avLst/>
          </a:prstGeom>
          <a:noFill/>
        </p:spPr>
        <p:txBody>
          <a:bodyPr wrap="square" lIns="45720" tIns="27432" rIns="45720" bIns="27432" anchor="t">
            <a:spAutoFit/>
          </a:bodyPr>
          <a:lstStyle/>
          <a:p>
            <a:pPr algn="ctr">
              <a:spcAft>
                <a:spcPts val="400"/>
              </a:spcAft>
            </a:pPr>
            <a:r>
              <a:rPr sz="1050" b="0" i="0">
                <a:solidFill>
                  <a:srgbClr val="1F1F1F"/>
                </a:solidFill>
              </a:rPr>
              <a:t>Sentinel-2 months + NDVI curve, Google Earth, Esri Wayback</a:t>
            </a:r>
          </a:p>
        </p:txBody>
      </p:sp>
      <p:sp>
        <p:nvSpPr>
          <p:cNvPr id="15" name="Oval 14"/>
          <p:cNvSpPr/>
          <p:nvPr/>
        </p:nvSpPr>
        <p:spPr>
          <a:xfrm>
            <a:off x="5943600" y="1417320"/>
            <a:ext cx="438912" cy="438912"/>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cxnSp>
        <p:nvCxnSpPr>
          <p:cNvPr id="16" name="Connector 15"/>
          <p:cNvCxnSpPr/>
          <p:nvPr/>
        </p:nvCxnSpPr>
        <p:spPr>
          <a:xfrm>
            <a:off x="6437375" y="1636776"/>
            <a:ext cx="1051561" cy="0"/>
          </a:xfrm>
          <a:prstGeom prst="line">
            <a:avLst/>
          </a:prstGeom>
          <a:ln w="25400">
            <a:solidFill>
              <a:srgbClr val="9A9A9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31536" y="1920240"/>
            <a:ext cx="1481328" cy="320040"/>
          </a:xfrm>
          <a:prstGeom prst="rect">
            <a:avLst/>
          </a:prstGeom>
          <a:noFill/>
        </p:spPr>
        <p:txBody>
          <a:bodyPr wrap="square" lIns="45720" tIns="27432" rIns="45720" bIns="27432" anchor="t">
            <a:spAutoFit/>
          </a:bodyPr>
          <a:lstStyle/>
          <a:p>
            <a:pPr algn="ctr">
              <a:spcAft>
                <a:spcPts val="400"/>
              </a:spcAft>
            </a:pPr>
            <a:r>
              <a:rPr sz="1300" b="1" i="0">
                <a:solidFill>
                  <a:srgbClr val="2E868F"/>
                </a:solidFill>
              </a:rPr>
              <a:t>Split first</a:t>
            </a:r>
          </a:p>
        </p:txBody>
      </p:sp>
      <p:sp>
        <p:nvSpPr>
          <p:cNvPr id="18" name="TextBox 17"/>
          <p:cNvSpPr txBox="1"/>
          <p:nvPr/>
        </p:nvSpPr>
        <p:spPr>
          <a:xfrm>
            <a:off x="5431536" y="2240280"/>
            <a:ext cx="1481328" cy="822960"/>
          </a:xfrm>
          <a:prstGeom prst="rect">
            <a:avLst/>
          </a:prstGeom>
          <a:noFill/>
        </p:spPr>
        <p:txBody>
          <a:bodyPr wrap="square" lIns="45720" tIns="27432" rIns="45720" bIns="27432" anchor="t">
            <a:spAutoFit/>
          </a:bodyPr>
          <a:lstStyle/>
          <a:p>
            <a:pPr algn="ctr">
              <a:spcAft>
                <a:spcPts val="400"/>
              </a:spcAft>
            </a:pPr>
            <a:r>
              <a:rPr sz="1050" b="0" i="0">
                <a:solidFill>
                  <a:srgbClr val="1F1F1F"/>
                </a:solidFill>
              </a:rPr>
              <a:t>150 to build the map, 300 locked away for testing</a:t>
            </a:r>
          </a:p>
        </p:txBody>
      </p:sp>
      <p:sp>
        <p:nvSpPr>
          <p:cNvPr id="19" name="Oval 18"/>
          <p:cNvSpPr/>
          <p:nvPr/>
        </p:nvSpPr>
        <p:spPr>
          <a:xfrm>
            <a:off x="7543800" y="1417320"/>
            <a:ext cx="438912" cy="438912"/>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5</a:t>
            </a:r>
          </a:p>
        </p:txBody>
      </p:sp>
      <p:sp>
        <p:nvSpPr>
          <p:cNvPr id="20" name="TextBox 19"/>
          <p:cNvSpPr txBox="1"/>
          <p:nvPr/>
        </p:nvSpPr>
        <p:spPr>
          <a:xfrm>
            <a:off x="7031736" y="1920240"/>
            <a:ext cx="1481328" cy="320040"/>
          </a:xfrm>
          <a:prstGeom prst="rect">
            <a:avLst/>
          </a:prstGeom>
          <a:noFill/>
        </p:spPr>
        <p:txBody>
          <a:bodyPr wrap="square" lIns="45720" tIns="27432" rIns="45720" bIns="27432" anchor="t">
            <a:spAutoFit/>
          </a:bodyPr>
          <a:lstStyle/>
          <a:p>
            <a:pPr algn="ctr">
              <a:spcAft>
                <a:spcPts val="400"/>
              </a:spcAft>
            </a:pPr>
            <a:r>
              <a:rPr sz="1300" b="1" i="0">
                <a:solidFill>
                  <a:srgbClr val="2E868F"/>
                </a:solidFill>
              </a:rPr>
              <a:t>Two results</a:t>
            </a:r>
          </a:p>
        </p:txBody>
      </p:sp>
      <p:sp>
        <p:nvSpPr>
          <p:cNvPr id="21" name="TextBox 20"/>
          <p:cNvSpPr txBox="1"/>
          <p:nvPr/>
        </p:nvSpPr>
        <p:spPr>
          <a:xfrm>
            <a:off x="7031736" y="2240280"/>
            <a:ext cx="1481328" cy="822960"/>
          </a:xfrm>
          <a:prstGeom prst="rect">
            <a:avLst/>
          </a:prstGeom>
          <a:noFill/>
        </p:spPr>
        <p:txBody>
          <a:bodyPr wrap="square" lIns="45720" tIns="27432" rIns="45720" bIns="27432" anchor="t">
            <a:spAutoFit/>
          </a:bodyPr>
          <a:lstStyle/>
          <a:p>
            <a:pPr algn="ctr">
              <a:spcAft>
                <a:spcPts val="400"/>
              </a:spcAft>
            </a:pPr>
            <a:r>
              <a:rPr sz="1050" b="0" i="0">
                <a:solidFill>
                  <a:srgbClr val="1F1F1F"/>
                </a:solidFill>
              </a:rPr>
              <a:t>cropland area ± CI, and a scorecard for every map</a:t>
            </a:r>
          </a:p>
        </p:txBody>
      </p:sp>
      <p:sp>
        <p:nvSpPr>
          <p:cNvPr id="22" name="Rounded Rectangle 21"/>
          <p:cNvSpPr/>
          <p:nvPr/>
        </p:nvSpPr>
        <p:spPr>
          <a:xfrm>
            <a:off x="630936" y="3108960"/>
            <a:ext cx="3858768" cy="11430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 y="3172968"/>
            <a:ext cx="3611880" cy="320040"/>
          </a:xfrm>
          <a:prstGeom prst="rect">
            <a:avLst/>
          </a:prstGeom>
          <a:noFill/>
        </p:spPr>
        <p:txBody>
          <a:bodyPr wrap="square" lIns="45720" tIns="27432" rIns="45720" bIns="27432" anchor="t">
            <a:spAutoFit/>
          </a:bodyPr>
          <a:lstStyle/>
          <a:p>
            <a:pPr algn="l">
              <a:spcAft>
                <a:spcPts val="400"/>
              </a:spcAft>
            </a:pPr>
            <a:r>
              <a:rPr sz="1300" b="1" i="0">
                <a:solidFill>
                  <a:srgbClr val="2E868F"/>
                </a:solidFill>
              </a:rPr>
              <a:t>Result A: how much cropland</a:t>
            </a:r>
          </a:p>
        </p:txBody>
      </p:sp>
      <p:sp>
        <p:nvSpPr>
          <p:cNvPr id="24" name="TextBox 23"/>
          <p:cNvSpPr txBox="1"/>
          <p:nvPr/>
        </p:nvSpPr>
        <p:spPr>
          <a:xfrm>
            <a:off x="768096" y="3474720"/>
            <a:ext cx="3611880" cy="77724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Stratified estimate on all points (Olofsson et al. 2014). Valid whatever the maps say. Aweil ≈ 330 points → about ± 2.5 percentage points: enough to tell 1% from 5%.</a:t>
            </a:r>
          </a:p>
        </p:txBody>
      </p:sp>
      <p:sp>
        <p:nvSpPr>
          <p:cNvPr id="25" name="Rounded Rectangle 24"/>
          <p:cNvSpPr/>
          <p:nvPr/>
        </p:nvSpPr>
        <p:spPr>
          <a:xfrm>
            <a:off x="4654296" y="3108960"/>
            <a:ext cx="3858768" cy="114300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91456" y="3172968"/>
            <a:ext cx="3611880" cy="320040"/>
          </a:xfrm>
          <a:prstGeom prst="rect">
            <a:avLst/>
          </a:prstGeom>
          <a:noFill/>
        </p:spPr>
        <p:txBody>
          <a:bodyPr wrap="square" lIns="45720" tIns="27432" rIns="45720" bIns="27432" anchor="t">
            <a:spAutoFit/>
          </a:bodyPr>
          <a:lstStyle/>
          <a:p>
            <a:pPr algn="l">
              <a:spcAft>
                <a:spcPts val="400"/>
              </a:spcAft>
            </a:pPr>
            <a:r>
              <a:rPr sz="1300" b="1" i="0">
                <a:solidFill>
                  <a:srgbClr val="2E868F"/>
                </a:solidFill>
              </a:rPr>
              <a:t>Result B: which map to trust</a:t>
            </a:r>
          </a:p>
        </p:txBody>
      </p:sp>
      <p:sp>
        <p:nvSpPr>
          <p:cNvPr id="27" name="TextBox 26"/>
          <p:cNvSpPr txBox="1"/>
          <p:nvPr/>
        </p:nvSpPr>
        <p:spPr>
          <a:xfrm>
            <a:off x="4791456" y="3474720"/>
            <a:ext cx="3611880" cy="77724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7 public maps + ours on the same 300 test points: precision, recall, F1 and area, with error bars. No map is judged on points it has seen.</a:t>
            </a:r>
          </a:p>
        </p:txBody>
      </p:sp>
      <p:sp>
        <p:nvSpPr>
          <p:cNvPr id="28" name="TextBox 27"/>
          <p:cNvSpPr txBox="1"/>
          <p:nvPr/>
        </p:nvSpPr>
        <p:spPr>
          <a:xfrm>
            <a:off x="630936" y="4343400"/>
            <a:ext cx="7882127" cy="41148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Changed from Kerner: we keep points where labellers disagree (report Cohen's kappa), and label from Sentinel-2 and Google Earth because the free Planet imagery (NICFI) ended in 2025.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Our method:</a:t>
            </a:r>
            <a:br/>
            <a:r>
              <a:rPr lang="en-US" dirty="0">
                <a:solidFill>
                  <a:srgbClr val="C00000"/>
                </a:solidFill>
              </a:rPr>
              <a:t>our own map, tested on held-out points</a:t>
            </a:r>
            <a:endParaRPr lang="en-US" dirty="0">
              <a:solidFill>
                <a:schemeClr val="accent2">
                  <a:lumMod val="75000"/>
                </a:schemeClr>
              </a:solidFill>
            </a:endParaRPr>
          </a:p>
        </p:txBody>
      </p:sp>
      <p:sp>
        <p:nvSpPr>
          <p:cNvPr id="3" name="TextBox 2"/>
          <p:cNvSpPr txBox="1"/>
          <p:nvPr/>
        </p:nvSpPr>
        <p:spPr>
          <a:xfrm>
            <a:off x="630936" y="1325880"/>
            <a:ext cx="4572000" cy="274320"/>
          </a:xfrm>
          <a:prstGeom prst="rect">
            <a:avLst/>
          </a:prstGeom>
          <a:noFill/>
        </p:spPr>
        <p:txBody>
          <a:bodyPr wrap="square" lIns="45720" tIns="27432" rIns="45720" bIns="27432" anchor="t">
            <a:spAutoFit/>
          </a:bodyPr>
          <a:lstStyle/>
          <a:p>
            <a:pPr algn="l">
              <a:spcAft>
                <a:spcPts val="400"/>
              </a:spcAft>
            </a:pPr>
            <a:r>
              <a:rPr sz="1200" b="1" i="0">
                <a:solidFill>
                  <a:srgbClr val="1F1F1F"/>
                </a:solidFill>
              </a:rPr>
              <a:t>What the labeller sees → what the computer measures</a:t>
            </a:r>
          </a:p>
        </p:txBody>
      </p:sp>
      <p:graphicFrame>
        <p:nvGraphicFramePr>
          <p:cNvPr id="4" name="Table 3"/>
          <p:cNvGraphicFramePr>
            <a:graphicFrameLocks noGrp="1"/>
          </p:cNvGraphicFramePr>
          <p:nvPr/>
        </p:nvGraphicFramePr>
        <p:xfrm>
          <a:off x="630936" y="1645920"/>
          <a:ext cx="4663440" cy="19202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274320">
                <a:tc>
                  <a:txBody>
                    <a:bodyPr/>
                    <a:lstStyle/>
                    <a:p>
                      <a:r>
                        <a:rPr sz="1100" b="1">
                          <a:solidFill>
                            <a:srgbClr val="FFFFFF"/>
                          </a:solidFill>
                        </a:rPr>
                        <a:t>Cue</a:t>
                      </a:r>
                    </a:p>
                  </a:txBody>
                  <a:tcPr marL="54864" marR="54864" marT="27432" marB="27432" anchor="ctr">
                    <a:solidFill>
                      <a:srgbClr val="2E868F"/>
                    </a:solidFill>
                  </a:tcPr>
                </a:tc>
                <a:tc>
                  <a:txBody>
                    <a:bodyPr/>
                    <a:lstStyle/>
                    <a:p>
                      <a:r>
                        <a:rPr sz="1100" b="1">
                          <a:solidFill>
                            <a:srgbClr val="FFFFFF"/>
                          </a:solidFill>
                        </a:rPr>
                        <a:t>Feature (from Sentinel-2 / -1)</a:t>
                      </a:r>
                    </a:p>
                  </a:txBody>
                  <a:tcPr marL="54864" marR="54864" marT="27432" marB="27432" anchor="ctr">
                    <a:solidFill>
                      <a:srgbClr val="2E868F"/>
                    </a:solidFill>
                  </a:tcPr>
                </a:tc>
                <a:extLst>
                  <a:ext uri="{0D108BD9-81ED-4DB2-BD59-A6C34878D82A}">
                    <a16:rowId xmlns:a16="http://schemas.microsoft.com/office/drawing/2014/main" val="10000"/>
                  </a:ext>
                </a:extLst>
              </a:tr>
              <a:tr h="274320">
                <a:tc>
                  <a:txBody>
                    <a:bodyPr/>
                    <a:lstStyle/>
                    <a:p>
                      <a:r>
                        <a:rPr sz="1000" b="0">
                          <a:solidFill>
                            <a:srgbClr val="1F1F1F"/>
                          </a:solidFill>
                        </a:rPr>
                        <a:t>Bare soil before sowing</a:t>
                      </a:r>
                    </a:p>
                  </a:txBody>
                  <a:tcPr marL="54864" marR="54864" marT="27432" marB="27432" anchor="ctr">
                    <a:solidFill>
                      <a:srgbClr val="E9F5F6"/>
                    </a:solidFill>
                  </a:tcPr>
                </a:tc>
                <a:tc>
                  <a:txBody>
                    <a:bodyPr/>
                    <a:lstStyle/>
                    <a:p>
                      <a:r>
                        <a:rPr sz="1000" b="0">
                          <a:solidFill>
                            <a:srgbClr val="1F1F1F"/>
                          </a:solidFill>
                        </a:rPr>
                        <a:t>low NDVI, bare-soil index Apr–May</a:t>
                      </a:r>
                    </a:p>
                  </a:txBody>
                  <a:tcPr marL="54864" marR="54864" marT="27432" marB="27432" anchor="ctr">
                    <a:solidFill>
                      <a:srgbClr val="E9F5F6"/>
                    </a:solidFill>
                  </a:tcPr>
                </a:tc>
                <a:extLst>
                  <a:ext uri="{0D108BD9-81ED-4DB2-BD59-A6C34878D82A}">
                    <a16:rowId xmlns:a16="http://schemas.microsoft.com/office/drawing/2014/main" val="10001"/>
                  </a:ext>
                </a:extLst>
              </a:tr>
              <a:tr h="274320">
                <a:tc>
                  <a:txBody>
                    <a:bodyPr/>
                    <a:lstStyle/>
                    <a:p>
                      <a:r>
                        <a:rPr sz="1000" b="0">
                          <a:solidFill>
                            <a:srgbClr val="1F1F1F"/>
                          </a:solidFill>
                        </a:rPr>
                        <a:t>Green-up with the rains</a:t>
                      </a:r>
                    </a:p>
                  </a:txBody>
                  <a:tcPr marL="54864" marR="54864" marT="27432" marB="27432" anchor="ctr">
                    <a:solidFill>
                      <a:srgbClr val="FFFFFF"/>
                    </a:solidFill>
                  </a:tcPr>
                </a:tc>
                <a:tc>
                  <a:txBody>
                    <a:bodyPr/>
                    <a:lstStyle/>
                    <a:p>
                      <a:r>
                        <a:rPr sz="1000" b="0">
                          <a:solidFill>
                            <a:srgbClr val="1F1F1F"/>
                          </a:solidFill>
                        </a:rPr>
                        <a:t>NDVI rise Jul–Aug; radar if cloudy</a:t>
                      </a:r>
                    </a:p>
                  </a:txBody>
                  <a:tcPr marL="54864" marR="54864" marT="27432" marB="27432" anchor="ctr">
                    <a:solidFill>
                      <a:srgbClr val="FFFFFF"/>
                    </a:solidFill>
                  </a:tcPr>
                </a:tc>
                <a:extLst>
                  <a:ext uri="{0D108BD9-81ED-4DB2-BD59-A6C34878D82A}">
                    <a16:rowId xmlns:a16="http://schemas.microsoft.com/office/drawing/2014/main" val="10002"/>
                  </a:ext>
                </a:extLst>
              </a:tr>
              <a:tr h="274320">
                <a:tc>
                  <a:txBody>
                    <a:bodyPr/>
                    <a:lstStyle/>
                    <a:p>
                      <a:r>
                        <a:rPr sz="1000" b="0">
                          <a:solidFill>
                            <a:srgbClr val="1F1F1F"/>
                          </a:solidFill>
                        </a:rPr>
                        <a:t>Harvest, grass stays green</a:t>
                      </a:r>
                    </a:p>
                  </a:txBody>
                  <a:tcPr marL="54864" marR="54864" marT="27432" marB="27432" anchor="ctr">
                    <a:solidFill>
                      <a:srgbClr val="E9F5F6"/>
                    </a:solidFill>
                  </a:tcPr>
                </a:tc>
                <a:tc>
                  <a:txBody>
                    <a:bodyPr/>
                    <a:lstStyle/>
                    <a:p>
                      <a:r>
                        <a:rPr sz="1000" b="0">
                          <a:solidFill>
                            <a:srgbClr val="1F1F1F"/>
                          </a:solidFill>
                        </a:rPr>
                        <a:t>NDVI drop Sep–Oct vs 500 m around</a:t>
                      </a:r>
                    </a:p>
                  </a:txBody>
                  <a:tcPr marL="54864" marR="54864" marT="27432" marB="27432" anchor="ctr">
                    <a:solidFill>
                      <a:srgbClr val="E9F5F6"/>
                    </a:solidFill>
                  </a:tcPr>
                </a:tc>
                <a:extLst>
                  <a:ext uri="{0D108BD9-81ED-4DB2-BD59-A6C34878D82A}">
                    <a16:rowId xmlns:a16="http://schemas.microsoft.com/office/drawing/2014/main" val="10003"/>
                  </a:ext>
                </a:extLst>
              </a:tr>
              <a:tr h="274320">
                <a:tc>
                  <a:txBody>
                    <a:bodyPr/>
                    <a:lstStyle/>
                    <a:p>
                      <a:r>
                        <a:rPr sz="1000" b="0">
                          <a:solidFill>
                            <a:srgbClr val="1F1F1F"/>
                          </a:solidFill>
                        </a:rPr>
                        <a:t>Regular plots with edges</a:t>
                      </a:r>
                    </a:p>
                  </a:txBody>
                  <a:tcPr marL="54864" marR="54864" marT="27432" marB="27432" anchor="ctr">
                    <a:solidFill>
                      <a:srgbClr val="FFFFFF"/>
                    </a:solidFill>
                  </a:tcPr>
                </a:tc>
                <a:tc>
                  <a:txBody>
                    <a:bodyPr/>
                    <a:lstStyle/>
                    <a:p>
                      <a:r>
                        <a:rPr sz="1000" b="0">
                          <a:solidFill>
                            <a:srgbClr val="1F1F1F"/>
                          </a:solidFill>
                        </a:rPr>
                        <a:t>texture / edge density at 10 m</a:t>
                      </a:r>
                    </a:p>
                  </a:txBody>
                  <a:tcPr marL="54864" marR="54864" marT="27432" marB="27432" anchor="ctr">
                    <a:solidFill>
                      <a:srgbClr val="FFFFFF"/>
                    </a:solidFill>
                  </a:tcPr>
                </a:tc>
                <a:extLst>
                  <a:ext uri="{0D108BD9-81ED-4DB2-BD59-A6C34878D82A}">
                    <a16:rowId xmlns:a16="http://schemas.microsoft.com/office/drawing/2014/main" val="10004"/>
                  </a:ext>
                </a:extLst>
              </a:tr>
              <a:tr h="274320">
                <a:tc>
                  <a:txBody>
                    <a:bodyPr/>
                    <a:lstStyle/>
                    <a:p>
                      <a:r>
                        <a:rPr sz="1000" b="0">
                          <a:solidFill>
                            <a:srgbClr val="1F1F1F"/>
                          </a:solidFill>
                        </a:rPr>
                        <a:t>Homesteads nearby</a:t>
                      </a:r>
                    </a:p>
                  </a:txBody>
                  <a:tcPr marL="54864" marR="54864" marT="27432" marB="27432" anchor="ctr">
                    <a:solidFill>
                      <a:srgbClr val="E9F5F6"/>
                    </a:solidFill>
                  </a:tcPr>
                </a:tc>
                <a:tc>
                  <a:txBody>
                    <a:bodyPr/>
                    <a:lstStyle/>
                    <a:p>
                      <a:r>
                        <a:rPr sz="1000" b="0">
                          <a:solidFill>
                            <a:srgbClr val="1F1F1F"/>
                          </a:solidFill>
                        </a:rPr>
                        <a:t>distance to buildings</a:t>
                      </a:r>
                    </a:p>
                  </a:txBody>
                  <a:tcPr marL="54864" marR="54864" marT="27432" marB="27432" anchor="ctr">
                    <a:solidFill>
                      <a:srgbClr val="E9F5F6"/>
                    </a:solidFill>
                  </a:tcPr>
                </a:tc>
                <a:extLst>
                  <a:ext uri="{0D108BD9-81ED-4DB2-BD59-A6C34878D82A}">
                    <a16:rowId xmlns:a16="http://schemas.microsoft.com/office/drawing/2014/main" val="10005"/>
                  </a:ext>
                </a:extLst>
              </a:tr>
              <a:tr h="274320">
                <a:tc>
                  <a:txBody>
                    <a:bodyPr/>
                    <a:lstStyle/>
                    <a:p>
                      <a:r>
                        <a:rPr sz="1000" b="0">
                          <a:solidFill>
                            <a:srgbClr val="1F1F1F"/>
                          </a:solidFill>
                        </a:rPr>
                        <a:t>Not crop: trees, water, burns</a:t>
                      </a:r>
                    </a:p>
                  </a:txBody>
                  <a:tcPr marL="54864" marR="54864" marT="27432" marB="27432" anchor="ctr">
                    <a:solidFill>
                      <a:srgbClr val="FFFFFF"/>
                    </a:solidFill>
                  </a:tcPr>
                </a:tc>
                <a:tc>
                  <a:txBody>
                    <a:bodyPr/>
                    <a:lstStyle/>
                    <a:p>
                      <a:r>
                        <a:rPr sz="1000" b="0">
                          <a:solidFill>
                            <a:srgbClr val="1F1F1F"/>
                          </a:solidFill>
                        </a:rPr>
                        <a:t>dry-season NDVI, water, burn scars</a:t>
                      </a:r>
                    </a:p>
                  </a:txBody>
                  <a:tcPr marL="54864" marR="54864"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5577840" y="1325880"/>
            <a:ext cx="2926080" cy="274320"/>
          </a:xfrm>
          <a:prstGeom prst="rect">
            <a:avLst/>
          </a:prstGeom>
          <a:noFill/>
        </p:spPr>
        <p:txBody>
          <a:bodyPr wrap="square" lIns="45720" tIns="27432" rIns="45720" bIns="27432" anchor="t">
            <a:spAutoFit/>
          </a:bodyPr>
          <a:lstStyle/>
          <a:p>
            <a:pPr algn="l">
              <a:spcAft>
                <a:spcPts val="400"/>
              </a:spcAft>
            </a:pPr>
            <a:r>
              <a:rPr sz="1200" b="1" i="0">
                <a:solidFill>
                  <a:srgbClr val="1F1F1F"/>
                </a:solidFill>
              </a:rPr>
              <a:t>Three versions, one test</a:t>
            </a:r>
          </a:p>
        </p:txBody>
      </p:sp>
      <p:sp>
        <p:nvSpPr>
          <p:cNvPr id="6" name="Oval 5"/>
          <p:cNvSpPr/>
          <p:nvPr/>
        </p:nvSpPr>
        <p:spPr>
          <a:xfrm>
            <a:off x="5577840" y="1691640"/>
            <a:ext cx="329184" cy="329184"/>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7" name="TextBox 6"/>
          <p:cNvSpPr txBox="1"/>
          <p:nvPr/>
        </p:nvSpPr>
        <p:spPr>
          <a:xfrm>
            <a:off x="5989320" y="1664208"/>
            <a:ext cx="2514600" cy="274320"/>
          </a:xfrm>
          <a:prstGeom prst="rect">
            <a:avLst/>
          </a:prstGeom>
          <a:noFill/>
        </p:spPr>
        <p:txBody>
          <a:bodyPr wrap="square" lIns="45720" tIns="27432" rIns="45720" bIns="27432" anchor="t">
            <a:spAutoFit/>
          </a:bodyPr>
          <a:lstStyle/>
          <a:p>
            <a:pPr algn="l">
              <a:spcAft>
                <a:spcPts val="400"/>
              </a:spcAft>
            </a:pPr>
            <a:r>
              <a:rPr sz="1200" b="1" i="0">
                <a:solidFill>
                  <a:srgbClr val="2E868F"/>
                </a:solidFill>
              </a:rPr>
              <a:t>Hand rules</a:t>
            </a:r>
          </a:p>
        </p:txBody>
      </p:sp>
      <p:sp>
        <p:nvSpPr>
          <p:cNvPr id="8" name="TextBox 7"/>
          <p:cNvSpPr txBox="1"/>
          <p:nvPr/>
        </p:nvSpPr>
        <p:spPr>
          <a:xfrm>
            <a:off x="5989320" y="1911095"/>
            <a:ext cx="2514600" cy="457200"/>
          </a:xfrm>
          <a:prstGeom prst="rect">
            <a:avLst/>
          </a:prstGeom>
          <a:noFill/>
        </p:spPr>
        <p:txBody>
          <a:bodyPr wrap="square" lIns="45720" tIns="27432" rIns="45720" bIns="27432" anchor="t">
            <a:spAutoFit/>
          </a:bodyPr>
          <a:lstStyle/>
          <a:p>
            <a:pPr algn="l">
              <a:spcAft>
                <a:spcPts val="400"/>
              </a:spcAft>
            </a:pPr>
            <a:r>
              <a:rPr sz="1000" b="0" i="0">
                <a:solidFill>
                  <a:srgbClr val="1F1F1F"/>
                </a:solidFill>
              </a:rPr>
              <a:t>baseline: if-then thresholds we set by looking at the 150 points</a:t>
            </a:r>
          </a:p>
        </p:txBody>
      </p:sp>
      <p:sp>
        <p:nvSpPr>
          <p:cNvPr id="9" name="Oval 8"/>
          <p:cNvSpPr/>
          <p:nvPr/>
        </p:nvSpPr>
        <p:spPr>
          <a:xfrm>
            <a:off x="5577840" y="2404872"/>
            <a:ext cx="329184" cy="329184"/>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10" name="TextBox 9"/>
          <p:cNvSpPr txBox="1"/>
          <p:nvPr/>
        </p:nvSpPr>
        <p:spPr>
          <a:xfrm>
            <a:off x="5989320" y="2377440"/>
            <a:ext cx="2514600" cy="274320"/>
          </a:xfrm>
          <a:prstGeom prst="rect">
            <a:avLst/>
          </a:prstGeom>
          <a:noFill/>
        </p:spPr>
        <p:txBody>
          <a:bodyPr wrap="square" lIns="45720" tIns="27432" rIns="45720" bIns="27432" anchor="t">
            <a:spAutoFit/>
          </a:bodyPr>
          <a:lstStyle/>
          <a:p>
            <a:pPr algn="l">
              <a:spcAft>
                <a:spcPts val="400"/>
              </a:spcAft>
            </a:pPr>
            <a:r>
              <a:rPr sz="1200" b="1" i="0">
                <a:solidFill>
                  <a:srgbClr val="2E868F"/>
                </a:solidFill>
              </a:rPr>
              <a:t>Small decision tree</a:t>
            </a:r>
          </a:p>
        </p:txBody>
      </p:sp>
      <p:sp>
        <p:nvSpPr>
          <p:cNvPr id="11" name="TextBox 10"/>
          <p:cNvSpPr txBox="1"/>
          <p:nvPr/>
        </p:nvSpPr>
        <p:spPr>
          <a:xfrm>
            <a:off x="5989320" y="2624328"/>
            <a:ext cx="2514600" cy="457200"/>
          </a:xfrm>
          <a:prstGeom prst="rect">
            <a:avLst/>
          </a:prstGeom>
          <a:noFill/>
        </p:spPr>
        <p:txBody>
          <a:bodyPr wrap="square" lIns="45720" tIns="27432" rIns="45720" bIns="27432" anchor="t">
            <a:spAutoFit/>
          </a:bodyPr>
          <a:lstStyle/>
          <a:p>
            <a:pPr algn="l">
              <a:spcAft>
                <a:spcPts val="400"/>
              </a:spcAft>
            </a:pPr>
            <a:r>
              <a:rPr sz="1000" b="0" i="0">
                <a:solidFill>
                  <a:srgbClr val="1F1F1F"/>
                </a:solidFill>
              </a:rPr>
              <a:t>main candidate: 3–4 levels, still prints as readable rules</a:t>
            </a:r>
          </a:p>
        </p:txBody>
      </p:sp>
      <p:sp>
        <p:nvSpPr>
          <p:cNvPr id="12" name="Oval 11"/>
          <p:cNvSpPr/>
          <p:nvPr/>
        </p:nvSpPr>
        <p:spPr>
          <a:xfrm>
            <a:off x="5577840" y="3118103"/>
            <a:ext cx="329184" cy="329184"/>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3" name="TextBox 12"/>
          <p:cNvSpPr txBox="1"/>
          <p:nvPr/>
        </p:nvSpPr>
        <p:spPr>
          <a:xfrm>
            <a:off x="5989320" y="3090672"/>
            <a:ext cx="2514600" cy="274320"/>
          </a:xfrm>
          <a:prstGeom prst="rect">
            <a:avLst/>
          </a:prstGeom>
          <a:noFill/>
        </p:spPr>
        <p:txBody>
          <a:bodyPr wrap="square" lIns="45720" tIns="27432" rIns="45720" bIns="27432" anchor="t">
            <a:spAutoFit/>
          </a:bodyPr>
          <a:lstStyle/>
          <a:p>
            <a:pPr algn="l">
              <a:spcAft>
                <a:spcPts val="400"/>
              </a:spcAft>
            </a:pPr>
            <a:r>
              <a:rPr sz="1200" b="1" i="0">
                <a:solidFill>
                  <a:srgbClr val="2E868F"/>
                </a:solidFill>
              </a:rPr>
              <a:t>Black box</a:t>
            </a:r>
          </a:p>
        </p:txBody>
      </p:sp>
      <p:sp>
        <p:nvSpPr>
          <p:cNvPr id="14" name="TextBox 13"/>
          <p:cNvSpPr txBox="1"/>
          <p:nvPr/>
        </p:nvSpPr>
        <p:spPr>
          <a:xfrm>
            <a:off x="5989320" y="3337560"/>
            <a:ext cx="2514600" cy="457200"/>
          </a:xfrm>
          <a:prstGeom prst="rect">
            <a:avLst/>
          </a:prstGeom>
          <a:noFill/>
        </p:spPr>
        <p:txBody>
          <a:bodyPr wrap="square" lIns="45720" tIns="27432" rIns="45720" bIns="27432" anchor="t">
            <a:spAutoFit/>
          </a:bodyPr>
          <a:lstStyle/>
          <a:p>
            <a:pPr algn="l">
              <a:spcAft>
                <a:spcPts val="400"/>
              </a:spcAft>
            </a:pPr>
            <a:r>
              <a:rPr sz="1000" b="0" i="0">
                <a:solidFill>
                  <a:srgbClr val="1F1F1F"/>
                </a:solidFill>
              </a:rPr>
              <a:t>benchmark only: random forest or Google's satellite embeddings</a:t>
            </a:r>
          </a:p>
        </p:txBody>
      </p:sp>
      <p:sp>
        <p:nvSpPr>
          <p:cNvPr id="15" name="Rounded Rectangle 14"/>
          <p:cNvSpPr/>
          <p:nvPr/>
        </p:nvSpPr>
        <p:spPr>
          <a:xfrm>
            <a:off x="5577840" y="3840480"/>
            <a:ext cx="2926080" cy="82296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87568" y="3886200"/>
            <a:ext cx="2743200" cy="777240"/>
          </a:xfrm>
          <a:prstGeom prst="rect">
            <a:avLst/>
          </a:prstGeom>
          <a:noFill/>
        </p:spPr>
        <p:txBody>
          <a:bodyPr wrap="square" lIns="45720" tIns="27432" rIns="45720" bIns="27432" anchor="t">
            <a:spAutoFit/>
          </a:bodyPr>
          <a:lstStyle/>
          <a:p>
            <a:pPr algn="l">
              <a:spcAft>
                <a:spcPts val="400"/>
              </a:spcAft>
            </a:pPr>
            <a:r>
              <a:rPr sz="1050" b="1" i="0">
                <a:solidFill>
                  <a:srgbClr val="2E868F"/>
                </a:solidFill>
              </a:rPr>
              <a:t>Fit on the 150 calibration points → freeze the rules in a dated file → score on the 300 test points, next to the 7 public maps.</a:t>
            </a:r>
          </a:p>
        </p:txBody>
      </p:sp>
      <p:sp>
        <p:nvSpPr>
          <p:cNvPr id="17" name="TextBox 16"/>
          <p:cNvSpPr txBox="1"/>
          <p:nvPr/>
        </p:nvSpPr>
        <p:spPr>
          <a:xfrm>
            <a:off x="630936" y="3931920"/>
            <a:ext cx="4663440" cy="731520"/>
          </a:xfrm>
          <a:prstGeom prst="rect">
            <a:avLst/>
          </a:prstGeom>
          <a:noFill/>
        </p:spPr>
        <p:txBody>
          <a:bodyPr wrap="square" lIns="45720" tIns="27432" rIns="45720" bIns="27432" anchor="t">
            <a:spAutoFit/>
          </a:bodyPr>
          <a:lstStyle/>
          <a:p>
            <a:pPr algn="l">
              <a:spcAft>
                <a:spcPts val="400"/>
              </a:spcAft>
            </a:pPr>
            <a:r>
              <a:rPr sz="1050" b="0" i="0">
                <a:solidFill>
                  <a:srgbClr val="1F1F1F"/>
                </a:solidFill>
              </a:rPr>
              <a:t>Why rules: anyone (ZOA, a reviewer) can read why a pixel is crop; it reruns for any year; radar sees through the July–September clouds. If ours loses, the area estimate still stands.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wrap="square" lIns="91425" tIns="91425" rIns="91425" bIns="91425" anchor="t" anchorCtr="0">
            <a:noAutofit/>
          </a:bodyPr>
          <a:lstStyle/>
          <a:p>
            <a:r>
              <a:rPr lang="en-US" dirty="0"/>
              <a:t>Your feedback:</a:t>
            </a:r>
            <a:br/>
            <a:r>
              <a:rPr lang="en-US" dirty="0">
                <a:solidFill>
                  <a:srgbClr val="C00000"/>
                </a:solidFill>
              </a:rPr>
              <a:t>four questions</a:t>
            </a:r>
            <a:endParaRPr lang="en-US" dirty="0">
              <a:solidFill>
                <a:schemeClr val="accent2">
                  <a:lumMod val="75000"/>
                </a:schemeClr>
              </a:solidFill>
            </a:endParaRPr>
          </a:p>
        </p:txBody>
      </p:sp>
      <p:sp>
        <p:nvSpPr>
          <p:cNvPr id="3" name="Rounded Rectangle 2"/>
          <p:cNvSpPr/>
          <p:nvPr/>
        </p:nvSpPr>
        <p:spPr>
          <a:xfrm>
            <a:off x="630936" y="141732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6" y="157276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5" name="TextBox 4"/>
          <p:cNvSpPr txBox="1"/>
          <p:nvPr/>
        </p:nvSpPr>
        <p:spPr>
          <a:xfrm>
            <a:off x="1271016" y="155448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Is this useful to ZOA?</a:t>
            </a:r>
          </a:p>
        </p:txBody>
      </p:sp>
      <p:sp>
        <p:nvSpPr>
          <p:cNvPr id="6" name="TextBox 5"/>
          <p:cNvSpPr txBox="1"/>
          <p:nvPr/>
        </p:nvSpPr>
        <p:spPr>
          <a:xfrm>
            <a:off x="1271016" y="1984248"/>
            <a:ext cx="3108960" cy="868680"/>
          </a:xfrm>
          <a:prstGeom prst="rect">
            <a:avLst/>
          </a:prstGeom>
          <a:noFill/>
        </p:spPr>
        <p:txBody>
          <a:bodyPr wrap="square" lIns="45720" tIns="27432" rIns="45720" bIns="27432" anchor="t">
            <a:spAutoFit/>
          </a:bodyPr>
          <a:lstStyle/>
          <a:p>
            <a:pPr algn="l">
              <a:spcAft>
                <a:spcPts val="400"/>
              </a:spcAft>
            </a:pPr>
            <a:r>
              <a:rPr sz="1150" b="0" i="0">
                <a:solidFill>
                  <a:srgbClr val="1F1F1F"/>
                </a:solidFill>
              </a:rPr>
              <a:t>It does not prescribe an AA action. It gives ZOA a checked cropland number and which map to trust, to process and share with communities. Is that a strong enough contribution?</a:t>
            </a:r>
          </a:p>
        </p:txBody>
      </p:sp>
      <p:sp>
        <p:nvSpPr>
          <p:cNvPr id="7" name="Rounded Rectangle 6"/>
          <p:cNvSpPr/>
          <p:nvPr/>
        </p:nvSpPr>
        <p:spPr>
          <a:xfrm>
            <a:off x="4654296" y="141732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791456" y="157276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9" name="TextBox 8"/>
          <p:cNvSpPr txBox="1"/>
          <p:nvPr/>
        </p:nvSpPr>
        <p:spPr>
          <a:xfrm>
            <a:off x="5294376" y="155448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How strong is the method?</a:t>
            </a:r>
          </a:p>
        </p:txBody>
      </p:sp>
      <p:sp>
        <p:nvSpPr>
          <p:cNvPr id="10" name="TextBox 9"/>
          <p:cNvSpPr txBox="1"/>
          <p:nvPr/>
        </p:nvSpPr>
        <p:spPr>
          <a:xfrm>
            <a:off x="5294376" y="1984248"/>
            <a:ext cx="3108960" cy="868680"/>
          </a:xfrm>
          <a:prstGeom prst="rect">
            <a:avLst/>
          </a:prstGeom>
          <a:noFill/>
        </p:spPr>
        <p:txBody>
          <a:bodyPr wrap="square" lIns="45720" tIns="27432" rIns="45720" bIns="27432" anchor="t">
            <a:spAutoFit/>
          </a:bodyPr>
          <a:lstStyle/>
          <a:p>
            <a:pPr algn="l">
              <a:spcAft>
                <a:spcPts val="400"/>
              </a:spcAft>
            </a:pPr>
            <a:r>
              <a:rPr sz="1150" b="0" i="0">
                <a:solidFill>
                  <a:srgbClr val="1F1F1F"/>
                </a:solidFill>
              </a:rPr>
              <a:t>What would you add? Do you already see a flaw or a gap in the sample, the labels or the test?</a:t>
            </a:r>
          </a:p>
        </p:txBody>
      </p:sp>
      <p:sp>
        <p:nvSpPr>
          <p:cNvPr id="11" name="Rounded Rectangle 10"/>
          <p:cNvSpPr/>
          <p:nvPr/>
        </p:nvSpPr>
        <p:spPr>
          <a:xfrm>
            <a:off x="630936" y="306324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68096" y="321868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3" name="TextBox 12"/>
          <p:cNvSpPr txBox="1"/>
          <p:nvPr/>
        </p:nvSpPr>
        <p:spPr>
          <a:xfrm>
            <a:off x="1271016" y="320040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Is labelling by hand worth it?</a:t>
            </a:r>
          </a:p>
        </p:txBody>
      </p:sp>
      <p:sp>
        <p:nvSpPr>
          <p:cNvPr id="14" name="TextBox 13"/>
          <p:cNvSpPr txBox="1"/>
          <p:nvPr/>
        </p:nvSpPr>
        <p:spPr>
          <a:xfrm>
            <a:off x="1271016" y="3630168"/>
            <a:ext cx="3108960" cy="868680"/>
          </a:xfrm>
          <a:prstGeom prst="rect">
            <a:avLst/>
          </a:prstGeom>
          <a:noFill/>
        </p:spPr>
        <p:txBody>
          <a:bodyPr wrap="square" lIns="45720" tIns="27432" rIns="45720" bIns="27432" anchor="t">
            <a:spAutoFit/>
          </a:bodyPr>
          <a:lstStyle/>
          <a:p>
            <a:pPr algn="l">
              <a:spcAft>
                <a:spcPts val="400"/>
              </a:spcAft>
            </a:pPr>
            <a:r>
              <a:rPr sz="1150" b="0" i="0">
                <a:solidFill>
                  <a:srgbClr val="1F1F1F"/>
                </a:solidFill>
              </a:rPr>
              <a:t>≈ 450 points × 2 labellers ≈ 22 hours (≈ 4.5 h each). Good use of our time, or is there a shortcut?</a:t>
            </a:r>
          </a:p>
        </p:txBody>
      </p:sp>
      <p:sp>
        <p:nvSpPr>
          <p:cNvPr id="15" name="Rounded Rectangle 14"/>
          <p:cNvSpPr/>
          <p:nvPr/>
        </p:nvSpPr>
        <p:spPr>
          <a:xfrm>
            <a:off x="4654296" y="3063240"/>
            <a:ext cx="3858768" cy="1463040"/>
          </a:xfrm>
          <a:prstGeom prst="roundRect">
            <a:avLst>
              <a:gd name="adj" fmla="val 8000"/>
            </a:avLst>
          </a:prstGeom>
          <a:solidFill>
            <a:srgbClr val="E9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791456" y="3218688"/>
            <a:ext cx="384048" cy="384048"/>
          </a:xfrm>
          <a:prstGeom prst="ellipse">
            <a:avLst/>
          </a:prstGeom>
          <a:solidFill>
            <a:srgbClr val="2E86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17" name="TextBox 16"/>
          <p:cNvSpPr txBox="1"/>
          <p:nvPr/>
        </p:nvSpPr>
        <p:spPr>
          <a:xfrm>
            <a:off x="5294376" y="3200400"/>
            <a:ext cx="3108960" cy="411480"/>
          </a:xfrm>
          <a:prstGeom prst="rect">
            <a:avLst/>
          </a:prstGeom>
          <a:noFill/>
        </p:spPr>
        <p:txBody>
          <a:bodyPr wrap="square" lIns="45720" tIns="27432" rIns="45720" bIns="27432" anchor="ctr">
            <a:spAutoFit/>
          </a:bodyPr>
          <a:lstStyle/>
          <a:p>
            <a:pPr algn="l">
              <a:spcAft>
                <a:spcPts val="400"/>
              </a:spcAft>
            </a:pPr>
            <a:r>
              <a:rPr sz="1500" b="1" i="0">
                <a:solidFill>
                  <a:srgbClr val="2E868F"/>
                </a:solidFill>
              </a:rPr>
              <a:t>Is 2022 a useful year?</a:t>
            </a:r>
          </a:p>
        </p:txBody>
      </p:sp>
      <p:sp>
        <p:nvSpPr>
          <p:cNvPr id="18" name="TextBox 17"/>
          <p:cNvSpPr txBox="1"/>
          <p:nvPr/>
        </p:nvSpPr>
        <p:spPr>
          <a:xfrm>
            <a:off x="5294376" y="3630168"/>
            <a:ext cx="3108960" cy="868680"/>
          </a:xfrm>
          <a:prstGeom prst="rect">
            <a:avLst/>
          </a:prstGeom>
          <a:noFill/>
        </p:spPr>
        <p:txBody>
          <a:bodyPr wrap="square" lIns="45720" tIns="27432" rIns="45720" bIns="27432" anchor="t">
            <a:spAutoFit/>
          </a:bodyPr>
          <a:lstStyle/>
          <a:p>
            <a:pPr algn="l">
              <a:spcAft>
                <a:spcPts val="400"/>
              </a:spcAft>
            </a:pPr>
            <a:r>
              <a:rPr sz="1150" b="0" i="0">
                <a:solidFill>
                  <a:srgbClr val="1F1F1F"/>
                </a:solidFill>
              </a:rPr>
              <a:t>Many maps stop at 2019 (GLAD, DE Africa). Is a 2022 check useful to ZOA, or would a more recent year matter more?</a:t>
            </a:r>
          </a:p>
        </p:txBody>
      </p:sp>
    </p:spTree>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D01F0A757A6E4B8E266DFF115DEFC8" ma:contentTypeVersion="3" ma:contentTypeDescription="Create a new document." ma:contentTypeScope="" ma:versionID="086d442b31e9f859da6600fb332441ea">
  <xsd:schema xmlns:xsd="http://www.w3.org/2001/XMLSchema" xmlns:xs="http://www.w3.org/2001/XMLSchema" xmlns:p="http://schemas.microsoft.com/office/2006/metadata/properties" xmlns:ns2="51a4d26d-dc56-48ad-8eaf-447f1931d2d7" targetNamespace="http://schemas.microsoft.com/office/2006/metadata/properties" ma:root="true" ma:fieldsID="7109467aa0cde0f0c3b9f63556f0ea82" ns2:_="">
    <xsd:import namespace="51a4d26d-dc56-48ad-8eaf-447f1931d2d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a4d26d-dc56-48ad-8eaf-447f1931d2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F15014-63E8-414E-8B5D-F2ABD9265F95}">
  <ds:schemaRefs>
    <ds:schemaRef ds:uri="http://schemas.microsoft.com/sharepoint/v3/contenttype/forms"/>
  </ds:schemaRefs>
</ds:datastoreItem>
</file>

<file path=customXml/itemProps2.xml><?xml version="1.0" encoding="utf-8"?>
<ds:datastoreItem xmlns:ds="http://schemas.openxmlformats.org/officeDocument/2006/customXml" ds:itemID="{0477F5EF-D882-409B-8A30-0781F18DA8EE}">
  <ds:schemaRefs>
    <ds:schemaRef ds:uri="51a4d26d-dc56-48ad-8eaf-447f1931d2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6379A6F-C83C-4D44-A21F-9B5E72F1A14C}">
  <ds:schemaRefs>
    <ds:schemaRef ds:uri="http://purl.org/dc/elements/1.1/"/>
    <ds:schemaRef ds:uri="http://purl.org/dc/terms/"/>
    <ds:schemaRef ds:uri="http://schemas.microsoft.com/office/2006/documentManagement/types"/>
    <ds:schemaRef ds:uri="http://schemas.microsoft.com/office/2006/metadata/properties"/>
    <ds:schemaRef ds:uri="51a4d26d-dc56-48ad-8eaf-447f1931d2d7"/>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14</TotalTime>
  <Words>2383</Words>
  <Application>Microsoft Office PowerPoint</Application>
  <PresentationFormat>On-screen Show (16:9)</PresentationFormat>
  <Paragraphs>174</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Lato</vt:lpstr>
      <vt:lpstr>Vidaloka</vt:lpstr>
      <vt:lpstr>Aptos</vt:lpstr>
      <vt:lpstr>Arial</vt:lpstr>
      <vt:lpstr>Aptos Display</vt:lpstr>
      <vt:lpstr>Office Theme</vt:lpstr>
      <vt:lpstr>PowerPoint Presentation</vt:lpstr>
      <vt:lpstr>The problem: a trigger that needs a cropland map</vt:lpstr>
      <vt:lpstr>The story: seven maps, seven answers</vt:lpstr>
      <vt:lpstr>The story: the maps barely agree, and they are old</vt:lpstr>
      <vt:lpstr>Prior work: how Kerner et al. (2024) audited 11 maps</vt:lpstr>
      <vt:lpstr>Research objective: what we want to confirm today</vt:lpstr>
      <vt:lpstr>Our method: one labelled sample, two uses</vt:lpstr>
      <vt:lpstr>Our method: our own map, tested on held-out points</vt:lpstr>
      <vt:lpstr>Your feedback: four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review presentation</dc:title>
  <cp:lastModifiedBy>Volpe-Prignano Garcia, Marc</cp:lastModifiedBy>
  <cp:revision>4</cp:revision>
  <dcterms:modified xsi:type="dcterms:W3CDTF">2026-09-29T23:35:43Z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0x01010070D01F0A757A6E4B8E266DFF115DEFC8</vt:lpwstr>
  </property>
  <property fmtid="{D5CDD505-2E9C-101B-9397-08002B2CF9AE}" pid="3" name="MediaServiceImageTags">
    <vt:lpwstr/>
  </property>
</Properties>
</file>