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5" r:id="rId4"/>
  </p:sldMasterIdLst>
  <p:notesMasterIdLst>
    <p:notesMasterId r:id="rId24"/>
  </p:notesMasterIdLst>
  <p:sldIdLst>
    <p:sldId id="269" r:id="rId5"/>
    <p:sldId id="267" r:id="rId6"/>
    <p:sldId id="268" r:id="rId7"/>
    <p:sldId id="274" r:id="rId8"/>
    <p:sldId id="275" r:id="rId9"/>
    <p:sldId id="276" r:id="rId10"/>
    <p:sldId id="277" r:id="rId11"/>
    <p:sldId id="271" r:id="rId12"/>
    <p:sldId id="278" r:id="rId13"/>
    <p:sldId id="279" r:id="rId14"/>
    <p:sldId id="259" r:id="rId15"/>
    <p:sldId id="260" r:id="rId16"/>
    <p:sldId id="261" r:id="rId17"/>
    <p:sldId id="262" r:id="rId18"/>
    <p:sldId id="280" r:id="rId19"/>
    <p:sldId id="281" r:id="rId20"/>
    <p:sldId id="282" r:id="rId21"/>
    <p:sldId id="263" r:id="rId22"/>
    <p:sldId id="273" r:id="rId23"/>
  </p:sldIdLst>
  <p:sldSz cx="9144000" cy="5143500" type="screen16x9"/>
  <p:notesSz cx="6858000" cy="9144000"/>
  <p:embeddedFontLst>
    <p:embeddedFont>
      <p:font typeface="Lato" panose="020F0502020204030203" pitchFamily="34" charset="0"/>
      <p:regular r:id="rId2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AAAA558-6C18-5A65-25B3-E81B7D58A182}" name="Onuţu, Diana" initials="OD" userId="S::d.onutu@student.tue.nl::bb51f9f8-8512-4a3a-9dbe-aea2f85e1097" providerId="AD"/>
  <p188:author id="{6F3F1D99-D5F0-E0ED-E9BE-F002CC228C58}" name="Hattingh-Haasbroek, Juliette" initials="HJ" userId="S::j.hattingh.haasbroek@student.tue.nl::20a05f05-2cec-4fa4-8c81-47330fa392d0" providerId="AD"/>
  <p188:author id="{671B6FF4-39C5-32F8-B8DE-F9A1B8AD6B74}" name="Hattingh-Haasbroek, Annebel" initials="HA" userId="S::a.hattingh.haasbroek@student.tue.nl::5d09379f-1045-435e-acdb-d6a35b092a8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1.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ttingh-Haasbroek, Juliette" userId="S::j.hattingh.haasbroek@student.tue.nl::20a05f05-2cec-4fa4-8c81-47330fa392d0" providerId="AD" clId="Web-{2B917264-14F7-D888-A5C6-2B5AFE357976}"/>
    <pc:docChg chg="mod addSld delSld modSld">
      <pc:chgData name="Hattingh-Haasbroek, Juliette" userId="S::j.hattingh.haasbroek@student.tue.nl::20a05f05-2cec-4fa4-8c81-47330fa392d0" providerId="AD" clId="Web-{2B917264-14F7-D888-A5C6-2B5AFE357976}" dt="2026-08-07T12:03:19.254" v="99"/>
      <pc:docMkLst>
        <pc:docMk/>
      </pc:docMkLst>
      <pc:sldChg chg="modSp">
        <pc:chgData name="Hattingh-Haasbroek, Juliette" userId="S::j.hattingh.haasbroek@student.tue.nl::20a05f05-2cec-4fa4-8c81-47330fa392d0" providerId="AD" clId="Web-{2B917264-14F7-D888-A5C6-2B5AFE357976}" dt="2026-08-07T11:55:10.333" v="91" actId="20577"/>
        <pc:sldMkLst>
          <pc:docMk/>
          <pc:sldMk cId="3870772867" sldId="268"/>
        </pc:sldMkLst>
        <pc:spChg chg="mod">
          <ac:chgData name="Hattingh-Haasbroek, Juliette" userId="S::j.hattingh.haasbroek@student.tue.nl::20a05f05-2cec-4fa4-8c81-47330fa392d0" providerId="AD" clId="Web-{2B917264-14F7-D888-A5C6-2B5AFE357976}" dt="2026-08-07T11:55:10.333" v="91" actId="20577"/>
          <ac:spMkLst>
            <pc:docMk/>
            <pc:sldMk cId="3870772867" sldId="268"/>
            <ac:spMk id="2" creationId="{B573CFF8-5255-13D2-80F7-9A88BA5B1C6E}"/>
          </ac:spMkLst>
        </pc:spChg>
      </pc:sldChg>
      <pc:sldChg chg="modSp">
        <pc:chgData name="Hattingh-Haasbroek, Juliette" userId="S::j.hattingh.haasbroek@student.tue.nl::20a05f05-2cec-4fa4-8c81-47330fa392d0" providerId="AD" clId="Web-{2B917264-14F7-D888-A5C6-2B5AFE357976}" dt="2026-08-07T11:50:31.058" v="28" actId="20577"/>
        <pc:sldMkLst>
          <pc:docMk/>
          <pc:sldMk cId="2382854525" sldId="269"/>
        </pc:sldMkLst>
        <pc:spChg chg="mod">
          <ac:chgData name="Hattingh-Haasbroek, Juliette" userId="S::j.hattingh.haasbroek@student.tue.nl::20a05f05-2cec-4fa4-8c81-47330fa392d0" providerId="AD" clId="Web-{2B917264-14F7-D888-A5C6-2B5AFE357976}" dt="2026-08-07T11:50:31.058" v="28" actId="20577"/>
          <ac:spMkLst>
            <pc:docMk/>
            <pc:sldMk cId="2382854525" sldId="269"/>
            <ac:spMk id="3" creationId="{67202C24-20A5-288E-9D7E-3712C766AE19}"/>
          </ac:spMkLst>
        </pc:spChg>
        <pc:spChg chg="mod">
          <ac:chgData name="Hattingh-Haasbroek, Juliette" userId="S::j.hattingh.haasbroek@student.tue.nl::20a05f05-2cec-4fa4-8c81-47330fa392d0" providerId="AD" clId="Web-{2B917264-14F7-D888-A5C6-2B5AFE357976}" dt="2026-08-07T11:47:03.099" v="0" actId="20577"/>
          <ac:spMkLst>
            <pc:docMk/>
            <pc:sldMk cId="2382854525" sldId="269"/>
            <ac:spMk id="5" creationId="{DEE4505E-7ABC-0E21-0318-0546422790F6}"/>
          </ac:spMkLst>
        </pc:spChg>
      </pc:sldChg>
      <pc:sldChg chg="add replId">
        <pc:chgData name="Hattingh-Haasbroek, Juliette" userId="S::j.hattingh.haasbroek@student.tue.nl::20a05f05-2cec-4fa4-8c81-47330fa392d0" providerId="AD" clId="Web-{2B917264-14F7-D888-A5C6-2B5AFE357976}" dt="2026-08-07T12:00:24.467" v="96"/>
        <pc:sldMkLst>
          <pc:docMk/>
          <pc:sldMk cId="258992506" sldId="271"/>
        </pc:sldMkLst>
      </pc:sldChg>
    </pc:docChg>
  </pc:docChgLst>
  <pc:docChgLst>
    <pc:chgData name="Hattingh-Haasbroek, Annebel" userId="S::a.hattingh.haasbroek@student.tue.nl::5d09379f-1045-435e-acdb-d6a35b092a88" providerId="AD" clId="Web-{D5AF53C8-792F-27C3-5102-20D37271C47D}"/>
    <pc:docChg chg="modSld">
      <pc:chgData name="Hattingh-Haasbroek, Annebel" userId="S::a.hattingh.haasbroek@student.tue.nl::5d09379f-1045-435e-acdb-d6a35b092a88" providerId="AD" clId="Web-{D5AF53C8-792F-27C3-5102-20D37271C47D}" dt="2026-08-07T11:43:39.920" v="38" actId="1076"/>
      <pc:docMkLst>
        <pc:docMk/>
      </pc:docMkLst>
      <pc:sldChg chg="addSp delSp modSp">
        <pc:chgData name="Hattingh-Haasbroek, Annebel" userId="S::a.hattingh.haasbroek@student.tue.nl::5d09379f-1045-435e-acdb-d6a35b092a88" providerId="AD" clId="Web-{D5AF53C8-792F-27C3-5102-20D37271C47D}" dt="2026-08-07T11:43:39.920" v="38" actId="1076"/>
        <pc:sldMkLst>
          <pc:docMk/>
          <pc:sldMk cId="2382854525" sldId="269"/>
        </pc:sldMkLst>
        <pc:picChg chg="mod">
          <ac:chgData name="Hattingh-Haasbroek, Annebel" userId="S::a.hattingh.haasbroek@student.tue.nl::5d09379f-1045-435e-acdb-d6a35b092a88" providerId="AD" clId="Web-{D5AF53C8-792F-27C3-5102-20D37271C47D}" dt="2026-08-07T11:43:39.920" v="38" actId="1076"/>
          <ac:picMkLst>
            <pc:docMk/>
            <pc:sldMk cId="2382854525" sldId="269"/>
            <ac:picMk id="2" creationId="{DACE6B32-F391-852C-E5FE-7FFD2C841F63}"/>
          </ac:picMkLst>
        </pc:picChg>
        <pc:picChg chg="add mod">
          <ac:chgData name="Hattingh-Haasbroek, Annebel" userId="S::a.hattingh.haasbroek@student.tue.nl::5d09379f-1045-435e-acdb-d6a35b092a88" providerId="AD" clId="Web-{D5AF53C8-792F-27C3-5102-20D37271C47D}" dt="2026-08-07T11:41:19.336" v="27" actId="14100"/>
          <ac:picMkLst>
            <pc:docMk/>
            <pc:sldMk cId="2382854525" sldId="269"/>
            <ac:picMk id="4" creationId="{C16E19AC-794B-5F08-2FCE-900C733EB5B6}"/>
          </ac:picMkLst>
        </pc:picChg>
        <pc:picChg chg="add mod modCrop">
          <ac:chgData name="Hattingh-Haasbroek, Annebel" userId="S::a.hattingh.haasbroek@student.tue.nl::5d09379f-1045-435e-acdb-d6a35b092a88" providerId="AD" clId="Web-{D5AF53C8-792F-27C3-5102-20D37271C47D}" dt="2026-08-07T11:43:21.091" v="37" actId="14100"/>
          <ac:picMkLst>
            <pc:docMk/>
            <pc:sldMk cId="2382854525" sldId="269"/>
            <ac:picMk id="7" creationId="{AC210045-8D44-7578-D529-A303A529DB9E}"/>
          </ac:picMkLst>
        </pc:picChg>
      </pc:sldChg>
    </pc:docChg>
  </pc:docChgLst>
  <pc:docChgLst>
    <pc:chgData name="Hattingh-Haasbroek, Juliette" userId="S::j.hattingh.haasbroek@student.tue.nl::20a05f05-2cec-4fa4-8c81-47330fa392d0" providerId="AD" clId="Web-{7271A565-E3CD-DC7F-5756-E620B11E7806}"/>
    <pc:docChg chg="delSld modSld">
      <pc:chgData name="Hattingh-Haasbroek, Juliette" userId="S::j.hattingh.haasbroek@student.tue.nl::20a05f05-2cec-4fa4-8c81-47330fa392d0" providerId="AD" clId="Web-{7271A565-E3CD-DC7F-5756-E620B11E7806}" dt="2026-08-07T11:45:59.626" v="28" actId="20577"/>
      <pc:docMkLst>
        <pc:docMk/>
      </pc:docMkLst>
      <pc:sldChg chg="addSp modSp">
        <pc:chgData name="Hattingh-Haasbroek, Juliette" userId="S::j.hattingh.haasbroek@student.tue.nl::20a05f05-2cec-4fa4-8c81-47330fa392d0" providerId="AD" clId="Web-{7271A565-E3CD-DC7F-5756-E620B11E7806}" dt="2026-08-07T11:45:59.626" v="28" actId="20577"/>
        <pc:sldMkLst>
          <pc:docMk/>
          <pc:sldMk cId="2382854525" sldId="269"/>
        </pc:sldMkLst>
        <pc:spChg chg="mod">
          <ac:chgData name="Hattingh-Haasbroek, Juliette" userId="S::j.hattingh.haasbroek@student.tue.nl::20a05f05-2cec-4fa4-8c81-47330fa392d0" providerId="AD" clId="Web-{7271A565-E3CD-DC7F-5756-E620B11E7806}" dt="2026-08-07T11:45:59.626" v="28" actId="20577"/>
          <ac:spMkLst>
            <pc:docMk/>
            <pc:sldMk cId="2382854525" sldId="269"/>
            <ac:spMk id="3" creationId="{67202C24-20A5-288E-9D7E-3712C766AE19}"/>
          </ac:spMkLst>
        </pc:spChg>
        <pc:spChg chg="mod">
          <ac:chgData name="Hattingh-Haasbroek, Juliette" userId="S::j.hattingh.haasbroek@student.tue.nl::20a05f05-2cec-4fa4-8c81-47330fa392d0" providerId="AD" clId="Web-{7271A565-E3CD-DC7F-5756-E620B11E7806}" dt="2026-08-07T11:45:18.578" v="26" actId="20577"/>
          <ac:spMkLst>
            <pc:docMk/>
            <pc:sldMk cId="2382854525" sldId="269"/>
            <ac:spMk id="5" creationId="{DEE4505E-7ABC-0E21-0318-0546422790F6}"/>
          </ac:spMkLst>
        </pc:spChg>
        <pc:picChg chg="add mod">
          <ac:chgData name="Hattingh-Haasbroek, Juliette" userId="S::j.hattingh.haasbroek@student.tue.nl::20a05f05-2cec-4fa4-8c81-47330fa392d0" providerId="AD" clId="Web-{7271A565-E3CD-DC7F-5756-E620B11E7806}" dt="2026-08-07T11:44:54.467" v="20" actId="1076"/>
          <ac:picMkLst>
            <pc:docMk/>
            <pc:sldMk cId="2382854525" sldId="269"/>
            <ac:picMk id="2" creationId="{DACE6B32-F391-852C-E5FE-7FFD2C841F63}"/>
          </ac:picMkLst>
        </pc:picChg>
        <pc:picChg chg="mod">
          <ac:chgData name="Hattingh-Haasbroek, Juliette" userId="S::j.hattingh.haasbroek@student.tue.nl::20a05f05-2cec-4fa4-8c81-47330fa392d0" providerId="AD" clId="Web-{7271A565-E3CD-DC7F-5756-E620B11E7806}" dt="2026-08-07T11:44:46.154" v="17" actId="1076"/>
          <ac:picMkLst>
            <pc:docMk/>
            <pc:sldMk cId="2382854525" sldId="269"/>
            <ac:picMk id="4" creationId="{C16E19AC-794B-5F08-2FCE-900C733EB5B6}"/>
          </ac:picMkLst>
        </pc:picChg>
        <pc:picChg chg="mod">
          <ac:chgData name="Hattingh-Haasbroek, Juliette" userId="S::j.hattingh.haasbroek@student.tue.nl::20a05f05-2cec-4fa4-8c81-47330fa392d0" providerId="AD" clId="Web-{7271A565-E3CD-DC7F-5756-E620B11E7806}" dt="2026-08-07T11:44:46.154" v="18" actId="1076"/>
          <ac:picMkLst>
            <pc:docMk/>
            <pc:sldMk cId="2382854525" sldId="269"/>
            <ac:picMk id="7" creationId="{AC210045-8D44-7578-D529-A303A529DB9E}"/>
          </ac:picMkLst>
        </pc:picChg>
      </pc:sldChg>
    </pc:docChg>
  </pc:docChgLst>
  <pc:docChgLst>
    <pc:chgData name="Hattingh-Haasbroek, Annebel" userId="S::a.hattingh.haasbroek@student.tue.nl::5d09379f-1045-435e-acdb-d6a35b092a88" providerId="AD" clId="Web-{BB77AF6C-8F6D-D388-1C67-416D1F414A84}"/>
    <pc:docChg chg="modSld">
      <pc:chgData name="Hattingh-Haasbroek, Annebel" userId="S::a.hattingh.haasbroek@student.tue.nl::5d09379f-1045-435e-acdb-d6a35b092a88" providerId="AD" clId="Web-{BB77AF6C-8F6D-D388-1C67-416D1F414A84}" dt="2026-08-10T14:28:51.226" v="11" actId="20577"/>
      <pc:docMkLst>
        <pc:docMk/>
      </pc:docMkLst>
      <pc:sldChg chg="modSp">
        <pc:chgData name="Hattingh-Haasbroek, Annebel" userId="S::a.hattingh.haasbroek@student.tue.nl::5d09379f-1045-435e-acdb-d6a35b092a88" providerId="AD" clId="Web-{BB77AF6C-8F6D-D388-1C67-416D1F414A84}" dt="2026-08-10T14:28:51.226" v="11" actId="20577"/>
        <pc:sldMkLst>
          <pc:docMk/>
          <pc:sldMk cId="110435291" sldId="273"/>
        </pc:sldMkLst>
        <pc:spChg chg="mod">
          <ac:chgData name="Hattingh-Haasbroek, Annebel" userId="S::a.hattingh.haasbroek@student.tue.nl::5d09379f-1045-435e-acdb-d6a35b092a88" providerId="AD" clId="Web-{BB77AF6C-8F6D-D388-1C67-416D1F414A84}" dt="2026-08-10T14:28:51.226" v="11" actId="20577"/>
          <ac:spMkLst>
            <pc:docMk/>
            <pc:sldMk cId="110435291" sldId="273"/>
            <ac:spMk id="3" creationId="{73A60500-F33A-DC5B-43EE-BE7B0B40ECC1}"/>
          </ac:spMkLst>
        </pc:spChg>
      </pc:sldChg>
    </pc:docChg>
  </pc:docChgLst>
  <pc:docChgLst>
    <pc:chgData name="Hattingh-Haasbroek, Juliette" userId="S::j.hattingh.haasbroek@student.tue.nl::20a05f05-2cec-4fa4-8c81-47330fa392d0" providerId="AD" clId="Web-{6597718B-57EA-21C4-2432-21B1E7344B12}"/>
    <pc:docChg chg="addSld delSld modSld sldOrd">
      <pc:chgData name="Hattingh-Haasbroek, Juliette" userId="S::j.hattingh.haasbroek@student.tue.nl::20a05f05-2cec-4fa4-8c81-47330fa392d0" providerId="AD" clId="Web-{6597718B-57EA-21C4-2432-21B1E7344B12}" dt="2026-08-10T10:50:44.169" v="14"/>
      <pc:docMkLst>
        <pc:docMk/>
      </pc:docMkLst>
      <pc:sldChg chg="modSp">
        <pc:chgData name="Hattingh-Haasbroek, Juliette" userId="S::j.hattingh.haasbroek@student.tue.nl::20a05f05-2cec-4fa4-8c81-47330fa392d0" providerId="AD" clId="Web-{6597718B-57EA-21C4-2432-21B1E7344B12}" dt="2026-08-10T10:48:12.816" v="3" actId="20577"/>
        <pc:sldMkLst>
          <pc:docMk/>
          <pc:sldMk cId="0" sldId="259"/>
        </pc:sldMkLst>
        <pc:spChg chg="mod">
          <ac:chgData name="Hattingh-Haasbroek, Juliette" userId="S::j.hattingh.haasbroek@student.tue.nl::20a05f05-2cec-4fa4-8c81-47330fa392d0" providerId="AD" clId="Web-{6597718B-57EA-21C4-2432-21B1E7344B12}" dt="2026-08-10T10:48:12.816" v="3" actId="20577"/>
          <ac:spMkLst>
            <pc:docMk/>
            <pc:sldMk cId="0" sldId="259"/>
            <ac:spMk id="264" creationId="{00000000-0000-0000-0000-000000000000}"/>
          </ac:spMkLst>
        </pc:spChg>
      </pc:sldChg>
      <pc:sldChg chg="modSp">
        <pc:chgData name="Hattingh-Haasbroek, Juliette" userId="S::j.hattingh.haasbroek@student.tue.nl::20a05f05-2cec-4fa4-8c81-47330fa392d0" providerId="AD" clId="Web-{6597718B-57EA-21C4-2432-21B1E7344B12}" dt="2026-08-10T10:48:53.896" v="7" actId="20577"/>
        <pc:sldMkLst>
          <pc:docMk/>
          <pc:sldMk cId="0" sldId="260"/>
        </pc:sldMkLst>
        <pc:spChg chg="mod">
          <ac:chgData name="Hattingh-Haasbroek, Juliette" userId="S::j.hattingh.haasbroek@student.tue.nl::20a05f05-2cec-4fa4-8c81-47330fa392d0" providerId="AD" clId="Web-{6597718B-57EA-21C4-2432-21B1E7344B12}" dt="2026-08-10T10:48:53.896" v="7" actId="20577"/>
          <ac:spMkLst>
            <pc:docMk/>
            <pc:sldMk cId="0" sldId="260"/>
            <ac:spMk id="270" creationId="{00000000-0000-0000-0000-000000000000}"/>
          </ac:spMkLst>
        </pc:spChg>
      </pc:sldChg>
      <pc:sldChg chg="modSp">
        <pc:chgData name="Hattingh-Haasbroek, Juliette" userId="S::j.hattingh.haasbroek@student.tue.nl::20a05f05-2cec-4fa4-8c81-47330fa392d0" providerId="AD" clId="Web-{6597718B-57EA-21C4-2432-21B1E7344B12}" dt="2026-08-10T10:48:41.958" v="5" actId="20577"/>
        <pc:sldMkLst>
          <pc:docMk/>
          <pc:sldMk cId="0" sldId="261"/>
        </pc:sldMkLst>
        <pc:spChg chg="mod">
          <ac:chgData name="Hattingh-Haasbroek, Juliette" userId="S::j.hattingh.haasbroek@student.tue.nl::20a05f05-2cec-4fa4-8c81-47330fa392d0" providerId="AD" clId="Web-{6597718B-57EA-21C4-2432-21B1E7344B12}" dt="2026-08-10T10:48:41.958" v="5" actId="20577"/>
          <ac:spMkLst>
            <pc:docMk/>
            <pc:sldMk cId="0" sldId="261"/>
            <ac:spMk id="276" creationId="{00000000-0000-0000-0000-000000000000}"/>
          </ac:spMkLst>
        </pc:spChg>
      </pc:sldChg>
      <pc:sldChg chg="modSp">
        <pc:chgData name="Hattingh-Haasbroek, Juliette" userId="S::j.hattingh.haasbroek@student.tue.nl::20a05f05-2cec-4fa4-8c81-47330fa392d0" providerId="AD" clId="Web-{6597718B-57EA-21C4-2432-21B1E7344B12}" dt="2026-08-10T10:49:07.835" v="9" actId="20577"/>
        <pc:sldMkLst>
          <pc:docMk/>
          <pc:sldMk cId="0" sldId="262"/>
        </pc:sldMkLst>
        <pc:spChg chg="mod">
          <ac:chgData name="Hattingh-Haasbroek, Juliette" userId="S::j.hattingh.haasbroek@student.tue.nl::20a05f05-2cec-4fa4-8c81-47330fa392d0" providerId="AD" clId="Web-{6597718B-57EA-21C4-2432-21B1E7344B12}" dt="2026-08-10T10:49:07.835" v="9" actId="20577"/>
          <ac:spMkLst>
            <pc:docMk/>
            <pc:sldMk cId="0" sldId="262"/>
            <ac:spMk id="282" creationId="{00000000-0000-0000-0000-000000000000}"/>
          </ac:spMkLst>
        </pc:spChg>
      </pc:sldChg>
      <pc:sldChg chg="modSp">
        <pc:chgData name="Hattingh-Haasbroek, Juliette" userId="S::j.hattingh.haasbroek@student.tue.nl::20a05f05-2cec-4fa4-8c81-47330fa392d0" providerId="AD" clId="Web-{6597718B-57EA-21C4-2432-21B1E7344B12}" dt="2026-08-10T10:49:11.929" v="10" actId="20577"/>
        <pc:sldMkLst>
          <pc:docMk/>
          <pc:sldMk cId="0" sldId="263"/>
        </pc:sldMkLst>
        <pc:spChg chg="mod">
          <ac:chgData name="Hattingh-Haasbroek, Juliette" userId="S::j.hattingh.haasbroek@student.tue.nl::20a05f05-2cec-4fa4-8c81-47330fa392d0" providerId="AD" clId="Web-{6597718B-57EA-21C4-2432-21B1E7344B12}" dt="2026-08-10T10:49:11.929" v="10" actId="20577"/>
          <ac:spMkLst>
            <pc:docMk/>
            <pc:sldMk cId="0" sldId="263"/>
            <ac:spMk id="288" creationId="{00000000-0000-0000-0000-000000000000}"/>
          </ac:spMkLst>
        </pc:spChg>
      </pc:sldChg>
      <pc:sldChg chg="modSp">
        <pc:chgData name="Hattingh-Haasbroek, Juliette" userId="S::j.hattingh.haasbroek@student.tue.nl::20a05f05-2cec-4fa4-8c81-47330fa392d0" providerId="AD" clId="Web-{6597718B-57EA-21C4-2432-21B1E7344B12}" dt="2026-08-10T10:46:36.606" v="0"/>
        <pc:sldMkLst>
          <pc:docMk/>
          <pc:sldMk cId="2382854525" sldId="269"/>
        </pc:sldMkLst>
        <pc:spChg chg="ord">
          <ac:chgData name="Hattingh-Haasbroek, Juliette" userId="S::j.hattingh.haasbroek@student.tue.nl::20a05f05-2cec-4fa4-8c81-47330fa392d0" providerId="AD" clId="Web-{6597718B-57EA-21C4-2432-21B1E7344B12}" dt="2026-08-10T10:46:36.606" v="0"/>
          <ac:spMkLst>
            <pc:docMk/>
            <pc:sldMk cId="2382854525" sldId="269"/>
            <ac:spMk id="5" creationId="{DEE4505E-7ABC-0E21-0318-0546422790F6}"/>
          </ac:spMkLst>
        </pc:spChg>
      </pc:sldChg>
      <pc:sldChg chg="modSp">
        <pc:chgData name="Hattingh-Haasbroek, Juliette" userId="S::j.hattingh.haasbroek@student.tue.nl::20a05f05-2cec-4fa4-8c81-47330fa392d0" providerId="AD" clId="Web-{6597718B-57EA-21C4-2432-21B1E7344B12}" dt="2026-08-10T10:48:06.221" v="2" actId="20577"/>
        <pc:sldMkLst>
          <pc:docMk/>
          <pc:sldMk cId="258992506" sldId="271"/>
        </pc:sldMkLst>
        <pc:spChg chg="mod">
          <ac:chgData name="Hattingh-Haasbroek, Juliette" userId="S::j.hattingh.haasbroek@student.tue.nl::20a05f05-2cec-4fa4-8c81-47330fa392d0" providerId="AD" clId="Web-{6597718B-57EA-21C4-2432-21B1E7344B12}" dt="2026-08-10T10:48:06.221" v="2" actId="20577"/>
          <ac:spMkLst>
            <pc:docMk/>
            <pc:sldMk cId="258992506" sldId="271"/>
            <ac:spMk id="258" creationId="{106681BB-F2CD-829B-6230-55CA2E24F067}"/>
          </ac:spMkLst>
        </pc:spChg>
      </pc:sldChg>
      <pc:sldChg chg="add ord replId">
        <pc:chgData name="Hattingh-Haasbroek, Juliette" userId="S::j.hattingh.haasbroek@student.tue.nl::20a05f05-2cec-4fa4-8c81-47330fa392d0" providerId="AD" clId="Web-{6597718B-57EA-21C4-2432-21B1E7344B12}" dt="2026-08-10T10:50:33.262" v="13"/>
        <pc:sldMkLst>
          <pc:docMk/>
          <pc:sldMk cId="110435291" sldId="273"/>
        </pc:sldMkLst>
      </pc:sldChg>
    </pc:docChg>
  </pc:docChgLst>
  <pc:docChgLst>
    <pc:chgData name="Hattingh-Haasbroek, Juliette" userId="S::j.hattingh.haasbroek@student.tue.nl::20a05f05-2cec-4fa4-8c81-47330fa392d0" providerId="AD" clId="Web-{5BBB2023-6E02-0D53-421B-4DE858C553EC}"/>
    <pc:docChg chg="modSld">
      <pc:chgData name="Hattingh-Haasbroek, Juliette" userId="S::j.hattingh.haasbroek@student.tue.nl::20a05f05-2cec-4fa4-8c81-47330fa392d0" providerId="AD" clId="Web-{5BBB2023-6E02-0D53-421B-4DE858C553EC}" dt="2026-08-10T11:17:20.456" v="44" actId="20577"/>
      <pc:docMkLst>
        <pc:docMk/>
      </pc:docMkLst>
      <pc:sldChg chg="modSp">
        <pc:chgData name="Hattingh-Haasbroek, Juliette" userId="S::j.hattingh.haasbroek@student.tue.nl::20a05f05-2cec-4fa4-8c81-47330fa392d0" providerId="AD" clId="Web-{5BBB2023-6E02-0D53-421B-4DE858C553EC}" dt="2026-08-10T11:17:04.331" v="42" actId="20577"/>
        <pc:sldMkLst>
          <pc:docMk/>
          <pc:sldMk cId="0" sldId="262"/>
        </pc:sldMkLst>
        <pc:spChg chg="mod">
          <ac:chgData name="Hattingh-Haasbroek, Juliette" userId="S::j.hattingh.haasbroek@student.tue.nl::20a05f05-2cec-4fa4-8c81-47330fa392d0" providerId="AD" clId="Web-{5BBB2023-6E02-0D53-421B-4DE858C553EC}" dt="2026-08-10T11:17:04.331" v="42" actId="20577"/>
          <ac:spMkLst>
            <pc:docMk/>
            <pc:sldMk cId="0" sldId="262"/>
            <ac:spMk id="282" creationId="{00000000-0000-0000-0000-000000000000}"/>
          </ac:spMkLst>
        </pc:spChg>
      </pc:sldChg>
      <pc:sldChg chg="modSp">
        <pc:chgData name="Hattingh-Haasbroek, Juliette" userId="S::j.hattingh.haasbroek@student.tue.nl::20a05f05-2cec-4fa4-8c81-47330fa392d0" providerId="AD" clId="Web-{5BBB2023-6E02-0D53-421B-4DE858C553EC}" dt="2026-08-10T11:17:20.456" v="44" actId="20577"/>
        <pc:sldMkLst>
          <pc:docMk/>
          <pc:sldMk cId="0" sldId="263"/>
        </pc:sldMkLst>
        <pc:spChg chg="mod">
          <ac:chgData name="Hattingh-Haasbroek, Juliette" userId="S::j.hattingh.haasbroek@student.tue.nl::20a05f05-2cec-4fa4-8c81-47330fa392d0" providerId="AD" clId="Web-{5BBB2023-6E02-0D53-421B-4DE858C553EC}" dt="2026-08-10T11:17:20.456" v="44" actId="20577"/>
          <ac:spMkLst>
            <pc:docMk/>
            <pc:sldMk cId="0" sldId="263"/>
            <ac:spMk id="288" creationId="{00000000-0000-0000-0000-000000000000}"/>
          </ac:spMkLst>
        </pc:spChg>
      </pc:sldChg>
      <pc:sldChg chg="modSp">
        <pc:chgData name="Hattingh-Haasbroek, Juliette" userId="S::j.hattingh.haasbroek@student.tue.nl::20a05f05-2cec-4fa4-8c81-47330fa392d0" providerId="AD" clId="Web-{5BBB2023-6E02-0D53-421B-4DE858C553EC}" dt="2026-08-10T11:14:33.718" v="41" actId="20577"/>
        <pc:sldMkLst>
          <pc:docMk/>
          <pc:sldMk cId="3870772867" sldId="268"/>
        </pc:sldMkLst>
        <pc:spChg chg="mod">
          <ac:chgData name="Hattingh-Haasbroek, Juliette" userId="S::j.hattingh.haasbroek@student.tue.nl::20a05f05-2cec-4fa4-8c81-47330fa392d0" providerId="AD" clId="Web-{5BBB2023-6E02-0D53-421B-4DE858C553EC}" dt="2026-08-10T11:14:33.718" v="41" actId="20577"/>
          <ac:spMkLst>
            <pc:docMk/>
            <pc:sldMk cId="3870772867" sldId="268"/>
            <ac:spMk id="3" creationId="{2FE5723D-AE46-2DA1-A358-28917D556EC8}"/>
          </ac:spMkLst>
        </pc:spChg>
      </pc:sldChg>
      <pc:sldChg chg="addSp modSp">
        <pc:chgData name="Hattingh-Haasbroek, Juliette" userId="S::j.hattingh.haasbroek@student.tue.nl::20a05f05-2cec-4fa4-8c81-47330fa392d0" providerId="AD" clId="Web-{5BBB2023-6E02-0D53-421B-4DE858C553EC}" dt="2026-08-10T11:13:55.889" v="39" actId="20577"/>
        <pc:sldMkLst>
          <pc:docMk/>
          <pc:sldMk cId="110435291" sldId="273"/>
        </pc:sldMkLst>
        <pc:spChg chg="mod">
          <ac:chgData name="Hattingh-Haasbroek, Juliette" userId="S::j.hattingh.haasbroek@student.tue.nl::20a05f05-2cec-4fa4-8c81-47330fa392d0" providerId="AD" clId="Web-{5BBB2023-6E02-0D53-421B-4DE858C553EC}" dt="2026-08-10T11:09:28.148" v="7" actId="20577"/>
          <ac:spMkLst>
            <pc:docMk/>
            <pc:sldMk cId="110435291" sldId="273"/>
            <ac:spMk id="2" creationId="{8F74BB17-E84F-DB4A-0E37-638719C31102}"/>
          </ac:spMkLst>
        </pc:spChg>
        <pc:spChg chg="mod">
          <ac:chgData name="Hattingh-Haasbroek, Juliette" userId="S::j.hattingh.haasbroek@student.tue.nl::20a05f05-2cec-4fa4-8c81-47330fa392d0" providerId="AD" clId="Web-{5BBB2023-6E02-0D53-421B-4DE858C553EC}" dt="2026-08-10T11:13:55.889" v="39" actId="20577"/>
          <ac:spMkLst>
            <pc:docMk/>
            <pc:sldMk cId="110435291" sldId="273"/>
            <ac:spMk id="3" creationId="{73A60500-F33A-DC5B-43EE-BE7B0B40ECC1}"/>
          </ac:spMkLst>
        </pc:spChg>
        <pc:spChg chg="add mod">
          <ac:chgData name="Hattingh-Haasbroek, Juliette" userId="S::j.hattingh.haasbroek@student.tue.nl::20a05f05-2cec-4fa4-8c81-47330fa392d0" providerId="AD" clId="Web-{5BBB2023-6E02-0D53-421B-4DE858C553EC}" dt="2026-08-10T11:11:44.777" v="27" actId="20577"/>
          <ac:spMkLst>
            <pc:docMk/>
            <pc:sldMk cId="110435291" sldId="273"/>
            <ac:spMk id="5" creationId="{1686B79B-195D-2461-79ED-C14B0AAAA43E}"/>
          </ac:spMkLst>
        </pc:spChg>
        <pc:spChg chg="add mod">
          <ac:chgData name="Hattingh-Haasbroek, Juliette" userId="S::j.hattingh.haasbroek@student.tue.nl::20a05f05-2cec-4fa4-8c81-47330fa392d0" providerId="AD" clId="Web-{5BBB2023-6E02-0D53-421B-4DE858C553EC}" dt="2026-08-10T11:12:02.433" v="29" actId="20577"/>
          <ac:spMkLst>
            <pc:docMk/>
            <pc:sldMk cId="110435291" sldId="273"/>
            <ac:spMk id="7" creationId="{3D4E69E7-93D6-5CB6-72D4-B60B45BBC62C}"/>
          </ac:spMkLst>
        </pc:spChg>
        <pc:spChg chg="add mod">
          <ac:chgData name="Hattingh-Haasbroek, Juliette" userId="S::j.hattingh.haasbroek@student.tue.nl::20a05f05-2cec-4fa4-8c81-47330fa392d0" providerId="AD" clId="Web-{5BBB2023-6E02-0D53-421B-4DE858C553EC}" dt="2026-08-10T11:12:51.934" v="33" actId="20577"/>
          <ac:spMkLst>
            <pc:docMk/>
            <pc:sldMk cId="110435291" sldId="273"/>
            <ac:spMk id="9" creationId="{4809994E-2E63-5A6E-C243-27014BA40D57}"/>
          </ac:spMkLst>
        </pc:spChg>
        <pc:spChg chg="add mod">
          <ac:chgData name="Hattingh-Haasbroek, Juliette" userId="S::j.hattingh.haasbroek@student.tue.nl::20a05f05-2cec-4fa4-8c81-47330fa392d0" providerId="AD" clId="Web-{5BBB2023-6E02-0D53-421B-4DE858C553EC}" dt="2026-08-10T11:12:21.309" v="32" actId="20577"/>
          <ac:spMkLst>
            <pc:docMk/>
            <pc:sldMk cId="110435291" sldId="273"/>
            <ac:spMk id="11" creationId="{B21B9015-7258-4D1A-B48D-96FB67AD004E}"/>
          </ac:spMkLst>
        </pc:spChg>
        <pc:grpChg chg="add">
          <ac:chgData name="Hattingh-Haasbroek, Juliette" userId="S::j.hattingh.haasbroek@student.tue.nl::20a05f05-2cec-4fa4-8c81-47330fa392d0" providerId="AD" clId="Web-{5BBB2023-6E02-0D53-421B-4DE858C553EC}" dt="2026-08-10T11:10:38.150" v="18"/>
          <ac:grpSpMkLst>
            <pc:docMk/>
            <pc:sldMk cId="110435291" sldId="273"/>
            <ac:grpSpMk id="15" creationId="{92830BA8-D506-FBF0-A684-56C154DD2AB5}"/>
          </ac:grpSpMkLst>
        </pc:grpChg>
        <pc:grpChg chg="add">
          <ac:chgData name="Hattingh-Haasbroek, Juliette" userId="S::j.hattingh.haasbroek@student.tue.nl::20a05f05-2cec-4fa4-8c81-47330fa392d0" providerId="AD" clId="Web-{5BBB2023-6E02-0D53-421B-4DE858C553EC}" dt="2026-08-10T11:10:38.166" v="19"/>
          <ac:grpSpMkLst>
            <pc:docMk/>
            <pc:sldMk cId="110435291" sldId="273"/>
            <ac:grpSpMk id="19" creationId="{CD840F8B-57AA-A927-DA79-A865610CD478}"/>
          </ac:grpSpMkLst>
        </pc:grpChg>
      </pc:sldChg>
    </pc:docChg>
  </pc:docChgLst>
  <pc:docChgLst>
    <pc:chgData name="Hattingh-Haasbroek, Juliette" userId="S::j.hattingh.haasbroek@student.tue.nl::20a05f05-2cec-4fa4-8c81-47330fa392d0" providerId="AD" clId="Web-{56568E12-1677-D620-2B52-3BABA1C5097F}"/>
    <pc:docChg chg="addSld delSld modSld">
      <pc:chgData name="Hattingh-Haasbroek, Juliette" userId="S::j.hattingh.haasbroek@student.tue.nl::20a05f05-2cec-4fa4-8c81-47330fa392d0" providerId="AD" clId="Web-{56568E12-1677-D620-2B52-3BABA1C5097F}" dt="2026-08-07T11:36:02.171" v="58"/>
      <pc:docMkLst>
        <pc:docMk/>
      </pc:docMkLst>
      <pc:sldChg chg="addSp delSp modSp new">
        <pc:chgData name="Hattingh-Haasbroek, Juliette" userId="S::j.hattingh.haasbroek@student.tue.nl::20a05f05-2cec-4fa4-8c81-47330fa392d0" providerId="AD" clId="Web-{56568E12-1677-D620-2B52-3BABA1C5097F}" dt="2026-08-07T11:36:02.171" v="58"/>
        <pc:sldMkLst>
          <pc:docMk/>
          <pc:sldMk cId="2382854525" sldId="269"/>
        </pc:sldMkLst>
        <pc:spChg chg="add mod">
          <ac:chgData name="Hattingh-Haasbroek, Juliette" userId="S::j.hattingh.haasbroek@student.tue.nl::20a05f05-2cec-4fa4-8c81-47330fa392d0" providerId="AD" clId="Web-{56568E12-1677-D620-2B52-3BABA1C5097F}" dt="2026-08-07T11:30:48.756" v="51" actId="1076"/>
          <ac:spMkLst>
            <pc:docMk/>
            <pc:sldMk cId="2382854525" sldId="269"/>
            <ac:spMk id="3" creationId="{67202C24-20A5-288E-9D7E-3712C766AE19}"/>
          </ac:spMkLst>
        </pc:spChg>
        <pc:spChg chg="add mod">
          <ac:chgData name="Hattingh-Haasbroek, Juliette" userId="S::j.hattingh.haasbroek@student.tue.nl::20a05f05-2cec-4fa4-8c81-47330fa392d0" providerId="AD" clId="Web-{56568E12-1677-D620-2B52-3BABA1C5097F}" dt="2026-08-07T11:30:48.772" v="52" actId="1076"/>
          <ac:spMkLst>
            <pc:docMk/>
            <pc:sldMk cId="2382854525" sldId="269"/>
            <ac:spMk id="5" creationId="{DEE4505E-7ABC-0E21-0318-0546422790F6}"/>
          </ac:spMkLst>
        </pc:spChg>
      </pc:sldChg>
    </pc:docChg>
  </pc:docChgLst>
  <pc:docChgLst>
    <pc:chgData name="Gonzalez Miranda, Erandi" userId="ce6c0d3c-5575-4105-a5fa-726756340338" providerId="ADAL" clId="{A4A9EF8B-0739-4689-90D1-289C004E0AB6}"/>
    <pc:docChg chg="undo custSel addSld delSld modSld modMainMaster">
      <pc:chgData name="Gonzalez Miranda, Erandi" userId="ce6c0d3c-5575-4105-a5fa-726756340338" providerId="ADAL" clId="{A4A9EF8B-0739-4689-90D1-289C004E0AB6}" dt="2026-08-10T12:08:24.201" v="541" actId="2696"/>
      <pc:docMkLst>
        <pc:docMk/>
      </pc:docMkLst>
      <pc:sldChg chg="add del">
        <pc:chgData name="Gonzalez Miranda, Erandi" userId="ce6c0d3c-5575-4105-a5fa-726756340338" providerId="ADAL" clId="{A4A9EF8B-0739-4689-90D1-289C004E0AB6}" dt="2026-08-10T12:08:24.201" v="541" actId="2696"/>
        <pc:sldMkLst>
          <pc:docMk/>
          <pc:sldMk cId="0" sldId="259"/>
        </pc:sldMkLst>
      </pc:sldChg>
      <pc:sldChg chg="modSp mod modCm">
        <pc:chgData name="Gonzalez Miranda, Erandi" userId="ce6c0d3c-5575-4105-a5fa-726756340338" providerId="ADAL" clId="{A4A9EF8B-0739-4689-90D1-289C004E0AB6}" dt="2026-08-10T12:07:10.011" v="539" actId="20577"/>
        <pc:sldMkLst>
          <pc:docMk/>
          <pc:sldMk cId="0" sldId="262"/>
        </pc:sldMkLst>
        <pc:spChg chg="mod">
          <ac:chgData name="Gonzalez Miranda, Erandi" userId="ce6c0d3c-5575-4105-a5fa-726756340338" providerId="ADAL" clId="{A4A9EF8B-0739-4689-90D1-289C004E0AB6}" dt="2026-08-10T12:07:10.011" v="539" actId="20577"/>
          <ac:spMkLst>
            <pc:docMk/>
            <pc:sldMk cId="0" sldId="262"/>
            <ac:spMk id="282" creationId="{00000000-0000-0000-0000-000000000000}"/>
          </ac:spMkLst>
        </pc:spChg>
        <pc:extLst>
          <p:ext xmlns:p="http://schemas.openxmlformats.org/presentationml/2006/main" uri="{D6D511B9-2390-475A-947B-AFAB55BFBCF1}">
            <pc226:cmChg xmlns:pc226="http://schemas.microsoft.com/office/powerpoint/2022/06/main/command" chg="mod">
              <pc226:chgData name="Gonzalez Miranda, Erandi" userId="ce6c0d3c-5575-4105-a5fa-726756340338" providerId="ADAL" clId="{A4A9EF8B-0739-4689-90D1-289C004E0AB6}" dt="2026-08-10T12:07:10.011" v="539" actId="20577"/>
              <pc2:cmMkLst xmlns:pc2="http://schemas.microsoft.com/office/powerpoint/2019/9/main/command">
                <pc:docMk/>
                <pc:sldMk cId="0" sldId="262"/>
                <pc2:cmMk id="{9E357128-BDAD-4596-8477-5B6D15A3E45C}"/>
              </pc2:cmMkLst>
            </pc226:cmChg>
          </p:ext>
        </pc:extLst>
      </pc:sldChg>
      <pc:sldMasterChg chg="modSldLayout">
        <pc:chgData name="Gonzalez Miranda, Erandi" userId="ce6c0d3c-5575-4105-a5fa-726756340338" providerId="ADAL" clId="{A4A9EF8B-0739-4689-90D1-289C004E0AB6}" dt="2026-08-05T09:28:55.465" v="533" actId="478"/>
        <pc:sldMasterMkLst>
          <pc:docMk/>
          <pc:sldMasterMk cId="3560221808" sldId="2147483695"/>
        </pc:sldMasterMkLst>
        <pc:sldLayoutChg chg="addSp modSp mod">
          <pc:chgData name="Gonzalez Miranda, Erandi" userId="ce6c0d3c-5575-4105-a5fa-726756340338" providerId="ADAL" clId="{A4A9EF8B-0739-4689-90D1-289C004E0AB6}" dt="2026-08-05T09:26:13.788" v="449" actId="1037"/>
          <pc:sldLayoutMkLst>
            <pc:docMk/>
            <pc:sldMasterMk cId="3560221808" sldId="2147483695"/>
            <pc:sldLayoutMk cId="332934846" sldId="2147483696"/>
          </pc:sldLayoutMkLst>
          <pc:picChg chg="add mod">
            <ac:chgData name="Gonzalez Miranda, Erandi" userId="ce6c0d3c-5575-4105-a5fa-726756340338" providerId="ADAL" clId="{A4A9EF8B-0739-4689-90D1-289C004E0AB6}" dt="2026-08-05T09:26:13.788" v="449" actId="1037"/>
            <ac:picMkLst>
              <pc:docMk/>
              <pc:sldMasterMk cId="3560221808" sldId="2147483695"/>
              <pc:sldLayoutMk cId="332934846" sldId="2147483696"/>
              <ac:picMk id="8" creationId="{7E4AB850-DB14-1C08-2BB5-EFA9D1F8EF07}"/>
            </ac:picMkLst>
          </pc:picChg>
          <pc:picChg chg="add mod">
            <ac:chgData name="Gonzalez Miranda, Erandi" userId="ce6c0d3c-5575-4105-a5fa-726756340338" providerId="ADAL" clId="{A4A9EF8B-0739-4689-90D1-289C004E0AB6}" dt="2026-08-05T09:26:13.788" v="449" actId="1037"/>
            <ac:picMkLst>
              <pc:docMk/>
              <pc:sldMasterMk cId="3560221808" sldId="2147483695"/>
              <pc:sldLayoutMk cId="332934846" sldId="2147483696"/>
              <ac:picMk id="10" creationId="{7394EC7F-5BBC-59CE-7C58-FB895D6932C8}"/>
            </ac:picMkLst>
          </pc:picChg>
          <pc:picChg chg="add mod">
            <ac:chgData name="Gonzalez Miranda, Erandi" userId="ce6c0d3c-5575-4105-a5fa-726756340338" providerId="ADAL" clId="{A4A9EF8B-0739-4689-90D1-289C004E0AB6}" dt="2026-08-05T09:26:13.788" v="449" actId="1037"/>
            <ac:picMkLst>
              <pc:docMk/>
              <pc:sldMasterMk cId="3560221808" sldId="2147483695"/>
              <pc:sldLayoutMk cId="332934846" sldId="2147483696"/>
              <ac:picMk id="12" creationId="{CF154139-B550-806E-2BC0-3EF6B61D671C}"/>
            </ac:picMkLst>
          </pc:picChg>
        </pc:sldLayoutChg>
        <pc:sldLayoutChg chg="addSp delSp modSp mod">
          <pc:chgData name="Gonzalez Miranda, Erandi" userId="ce6c0d3c-5575-4105-a5fa-726756340338" providerId="ADAL" clId="{A4A9EF8B-0739-4689-90D1-289C004E0AB6}" dt="2026-08-05T09:28:55.465" v="533" actId="478"/>
          <pc:sldLayoutMkLst>
            <pc:docMk/>
            <pc:sldMasterMk cId="3560221808" sldId="2147483695"/>
            <pc:sldLayoutMk cId="2362226540" sldId="2147483697"/>
          </pc:sldLayoutMkLst>
        </pc:sldLayoutChg>
      </pc:sldMasterChg>
    </pc:docChg>
  </pc:docChgLst>
  <pc:docChgLst>
    <pc:chgData name="Hattingh-Haasbroek, Juliette" userId="S::j.hattingh.haasbroek@student.tue.nl::20a05f05-2cec-4fa4-8c81-47330fa392d0" providerId="AD" clId="Web-{273FD574-8A03-DF3E-C1D5-770E60C0B530}"/>
    <pc:docChg chg="delSld modSld">
      <pc:chgData name="Hattingh-Haasbroek, Juliette" userId="S::j.hattingh.haasbroek@student.tue.nl::20a05f05-2cec-4fa4-8c81-47330fa392d0" providerId="AD" clId="Web-{273FD574-8A03-DF3E-C1D5-770E60C0B530}" dt="2026-08-10T14:34:25.928" v="196"/>
      <pc:docMkLst>
        <pc:docMk/>
      </pc:docMkLst>
      <pc:sldChg chg="modSp modCm">
        <pc:chgData name="Hattingh-Haasbroek, Juliette" userId="S::j.hattingh.haasbroek@student.tue.nl::20a05f05-2cec-4fa4-8c81-47330fa392d0" providerId="AD" clId="Web-{273FD574-8A03-DF3E-C1D5-770E60C0B530}" dt="2026-08-10T14:29:50.967" v="174" actId="20577"/>
        <pc:sldMkLst>
          <pc:docMk/>
          <pc:sldMk cId="0" sldId="259"/>
        </pc:sldMkLst>
        <pc:spChg chg="mod">
          <ac:chgData name="Hattingh-Haasbroek, Juliette" userId="S::j.hattingh.haasbroek@student.tue.nl::20a05f05-2cec-4fa4-8c81-47330fa392d0" providerId="AD" clId="Web-{273FD574-8A03-DF3E-C1D5-770E60C0B530}" dt="2026-08-10T14:29:50.967" v="174" actId="20577"/>
          <ac:spMkLst>
            <pc:docMk/>
            <pc:sldMk cId="0" sldId="259"/>
            <ac:spMk id="264" creationId="{00000000-0000-0000-0000-000000000000}"/>
          </ac:spMkLst>
        </pc:spChg>
        <pc:spChg chg="mod">
          <ac:chgData name="Hattingh-Haasbroek, Juliette" userId="S::j.hattingh.haasbroek@student.tue.nl::20a05f05-2cec-4fa4-8c81-47330fa392d0" providerId="AD" clId="Web-{273FD574-8A03-DF3E-C1D5-770E60C0B530}" dt="2026-08-10T14:29:04.012" v="148" actId="20577"/>
          <ac:spMkLst>
            <pc:docMk/>
            <pc:sldMk cId="0" sldId="259"/>
            <ac:spMk id="265" creationId="{00000000-0000-0000-0000-000000000000}"/>
          </ac:spMkLst>
        </pc:spChg>
        <pc:extLst>
          <p:ext xmlns:p="http://schemas.openxmlformats.org/presentationml/2006/main" uri="{D6D511B9-2390-475A-947B-AFAB55BFBCF1}">
            <pc226:cmChg xmlns:pc226="http://schemas.microsoft.com/office/powerpoint/2022/06/main/command" chg="mod">
              <pc226:chgData name="Hattingh-Haasbroek, Juliette" userId="S::j.hattingh.haasbroek@student.tue.nl::20a05f05-2cec-4fa4-8c81-47330fa392d0" providerId="AD" clId="Web-{273FD574-8A03-DF3E-C1D5-770E60C0B530}" dt="2026-08-10T14:29:50.967" v="174" actId="20577"/>
              <pc2:cmMkLst xmlns:pc2="http://schemas.microsoft.com/office/powerpoint/2019/9/main/command">
                <pc:docMk/>
                <pc:sldMk cId="0" sldId="259"/>
                <pc2:cmMk id="{ED67624D-139E-45B2-9F04-F2193AF5A089}"/>
              </pc2:cmMkLst>
            </pc226:cmChg>
          </p:ext>
        </pc:extLst>
      </pc:sldChg>
      <pc:sldChg chg="modSp">
        <pc:chgData name="Hattingh-Haasbroek, Juliette" userId="S::j.hattingh.haasbroek@student.tue.nl::20a05f05-2cec-4fa4-8c81-47330fa392d0" providerId="AD" clId="Web-{273FD574-8A03-DF3E-C1D5-770E60C0B530}" dt="2026-08-10T14:30:56.375" v="192" actId="20577"/>
        <pc:sldMkLst>
          <pc:docMk/>
          <pc:sldMk cId="0" sldId="260"/>
        </pc:sldMkLst>
        <pc:spChg chg="mod">
          <ac:chgData name="Hattingh-Haasbroek, Juliette" userId="S::j.hattingh.haasbroek@student.tue.nl::20a05f05-2cec-4fa4-8c81-47330fa392d0" providerId="AD" clId="Web-{273FD574-8A03-DF3E-C1D5-770E60C0B530}" dt="2026-08-10T14:30:03.014" v="178" actId="20577"/>
          <ac:spMkLst>
            <pc:docMk/>
            <pc:sldMk cId="0" sldId="260"/>
            <ac:spMk id="270" creationId="{00000000-0000-0000-0000-000000000000}"/>
          </ac:spMkLst>
        </pc:spChg>
        <pc:spChg chg="mod">
          <ac:chgData name="Hattingh-Haasbroek, Juliette" userId="S::j.hattingh.haasbroek@student.tue.nl::20a05f05-2cec-4fa4-8c81-47330fa392d0" providerId="AD" clId="Web-{273FD574-8A03-DF3E-C1D5-770E60C0B530}" dt="2026-08-10T14:30:56.375" v="192" actId="20577"/>
          <ac:spMkLst>
            <pc:docMk/>
            <pc:sldMk cId="0" sldId="260"/>
            <ac:spMk id="271" creationId="{00000000-0000-0000-0000-000000000000}"/>
          </ac:spMkLst>
        </pc:spChg>
      </pc:sldChg>
      <pc:sldChg chg="modSp">
        <pc:chgData name="Hattingh-Haasbroek, Juliette" userId="S::j.hattingh.haasbroek@student.tue.nl::20a05f05-2cec-4fa4-8c81-47330fa392d0" providerId="AD" clId="Web-{273FD574-8A03-DF3E-C1D5-770E60C0B530}" dt="2026-08-10T14:31:01.422" v="193" actId="20577"/>
        <pc:sldMkLst>
          <pc:docMk/>
          <pc:sldMk cId="0" sldId="261"/>
        </pc:sldMkLst>
        <pc:spChg chg="mod">
          <ac:chgData name="Hattingh-Haasbroek, Juliette" userId="S::j.hattingh.haasbroek@student.tue.nl::20a05f05-2cec-4fa4-8c81-47330fa392d0" providerId="AD" clId="Web-{273FD574-8A03-DF3E-C1D5-770E60C0B530}" dt="2026-08-10T14:30:11.201" v="182" actId="20577"/>
          <ac:spMkLst>
            <pc:docMk/>
            <pc:sldMk cId="0" sldId="261"/>
            <ac:spMk id="276" creationId="{00000000-0000-0000-0000-000000000000}"/>
          </ac:spMkLst>
        </pc:spChg>
        <pc:spChg chg="mod">
          <ac:chgData name="Hattingh-Haasbroek, Juliette" userId="S::j.hattingh.haasbroek@student.tue.nl::20a05f05-2cec-4fa4-8c81-47330fa392d0" providerId="AD" clId="Web-{273FD574-8A03-DF3E-C1D5-770E60C0B530}" dt="2026-08-10T14:31:01.422" v="193" actId="20577"/>
          <ac:spMkLst>
            <pc:docMk/>
            <pc:sldMk cId="0" sldId="261"/>
            <ac:spMk id="277" creationId="{00000000-0000-0000-0000-000000000000}"/>
          </ac:spMkLst>
        </pc:spChg>
      </pc:sldChg>
      <pc:sldChg chg="modSp modCm">
        <pc:chgData name="Hattingh-Haasbroek, Juliette" userId="S::j.hattingh.haasbroek@student.tue.nl::20a05f05-2cec-4fa4-8c81-47330fa392d0" providerId="AD" clId="Web-{273FD574-8A03-DF3E-C1D5-770E60C0B530}" dt="2026-08-10T14:31:06.016" v="194" actId="20577"/>
        <pc:sldMkLst>
          <pc:docMk/>
          <pc:sldMk cId="0" sldId="262"/>
        </pc:sldMkLst>
        <pc:spChg chg="mod">
          <ac:chgData name="Hattingh-Haasbroek, Juliette" userId="S::j.hattingh.haasbroek@student.tue.nl::20a05f05-2cec-4fa4-8c81-47330fa392d0" providerId="AD" clId="Web-{273FD574-8A03-DF3E-C1D5-770E60C0B530}" dt="2026-08-10T14:30:15.561" v="184" actId="20577"/>
          <ac:spMkLst>
            <pc:docMk/>
            <pc:sldMk cId="0" sldId="262"/>
            <ac:spMk id="282" creationId="{00000000-0000-0000-0000-000000000000}"/>
          </ac:spMkLst>
        </pc:spChg>
        <pc:spChg chg="mod">
          <ac:chgData name="Hattingh-Haasbroek, Juliette" userId="S::j.hattingh.haasbroek@student.tue.nl::20a05f05-2cec-4fa4-8c81-47330fa392d0" providerId="AD" clId="Web-{273FD574-8A03-DF3E-C1D5-770E60C0B530}" dt="2026-08-10T14:31:06.016" v="194" actId="20577"/>
          <ac:spMkLst>
            <pc:docMk/>
            <pc:sldMk cId="0" sldId="262"/>
            <ac:spMk id="283" creationId="{00000000-0000-0000-0000-000000000000}"/>
          </ac:spMkLst>
        </pc:spChg>
        <pc:extLst>
          <p:ext xmlns:p="http://schemas.openxmlformats.org/presentationml/2006/main" uri="{D6D511B9-2390-475A-947B-AFAB55BFBCF1}">
            <pc226:cmChg xmlns:pc226="http://schemas.microsoft.com/office/powerpoint/2022/06/main/command" chg="mod">
              <pc226:chgData name="Hattingh-Haasbroek, Juliette" userId="S::j.hattingh.haasbroek@student.tue.nl::20a05f05-2cec-4fa4-8c81-47330fa392d0" providerId="AD" clId="Web-{273FD574-8A03-DF3E-C1D5-770E60C0B530}" dt="2026-08-10T14:30:15.561" v="184" actId="20577"/>
              <pc2:cmMkLst xmlns:pc2="http://schemas.microsoft.com/office/powerpoint/2019/9/main/command">
                <pc:docMk/>
                <pc:sldMk cId="0" sldId="262"/>
                <pc2:cmMk id="{9E357128-BDAD-4596-8477-5B6D15A3E45C}"/>
              </pc2:cmMkLst>
            </pc226:cmChg>
          </p:ext>
        </pc:extLst>
      </pc:sldChg>
      <pc:sldChg chg="modSp">
        <pc:chgData name="Hattingh-Haasbroek, Juliette" userId="S::j.hattingh.haasbroek@student.tue.nl::20a05f05-2cec-4fa4-8c81-47330fa392d0" providerId="AD" clId="Web-{273FD574-8A03-DF3E-C1D5-770E60C0B530}" dt="2026-08-10T14:31:10.922" v="195" actId="20577"/>
        <pc:sldMkLst>
          <pc:docMk/>
          <pc:sldMk cId="0" sldId="263"/>
        </pc:sldMkLst>
        <pc:spChg chg="mod">
          <ac:chgData name="Hattingh-Haasbroek, Juliette" userId="S::j.hattingh.haasbroek@student.tue.nl::20a05f05-2cec-4fa4-8c81-47330fa392d0" providerId="AD" clId="Web-{273FD574-8A03-DF3E-C1D5-770E60C0B530}" dt="2026-08-10T14:30:28.108" v="188" actId="20577"/>
          <ac:spMkLst>
            <pc:docMk/>
            <pc:sldMk cId="0" sldId="263"/>
            <ac:spMk id="288" creationId="{00000000-0000-0000-0000-000000000000}"/>
          </ac:spMkLst>
        </pc:spChg>
        <pc:spChg chg="mod">
          <ac:chgData name="Hattingh-Haasbroek, Juliette" userId="S::j.hattingh.haasbroek@student.tue.nl::20a05f05-2cec-4fa4-8c81-47330fa392d0" providerId="AD" clId="Web-{273FD574-8A03-DF3E-C1D5-770E60C0B530}" dt="2026-08-10T14:31:10.922" v="195" actId="20577"/>
          <ac:spMkLst>
            <pc:docMk/>
            <pc:sldMk cId="0" sldId="263"/>
            <ac:spMk id="289" creationId="{00000000-0000-0000-0000-000000000000}"/>
          </ac:spMkLst>
        </pc:spChg>
      </pc:sldChg>
      <pc:sldChg chg="addSp delSp modSp">
        <pc:chgData name="Hattingh-Haasbroek, Juliette" userId="S::j.hattingh.haasbroek@student.tue.nl::20a05f05-2cec-4fa4-8c81-47330fa392d0" providerId="AD" clId="Web-{273FD574-8A03-DF3E-C1D5-770E60C0B530}" dt="2026-08-10T14:28:43.418" v="144" actId="20577"/>
        <pc:sldMkLst>
          <pc:docMk/>
          <pc:sldMk cId="258992506" sldId="271"/>
        </pc:sldMkLst>
        <pc:spChg chg="add mod">
          <ac:chgData name="Hattingh-Haasbroek, Juliette" userId="S::j.hattingh.haasbroek@student.tue.nl::20a05f05-2cec-4fa4-8c81-47330fa392d0" providerId="AD" clId="Web-{273FD574-8A03-DF3E-C1D5-770E60C0B530}" dt="2026-08-10T14:28:38.433" v="137" actId="20577"/>
          <ac:spMkLst>
            <pc:docMk/>
            <pc:sldMk cId="258992506" sldId="271"/>
            <ac:spMk id="3" creationId="{95C82ED3-CDCC-D703-21FC-118D08EE15CF}"/>
          </ac:spMkLst>
        </pc:spChg>
        <pc:spChg chg="mod">
          <ac:chgData name="Hattingh-Haasbroek, Juliette" userId="S::j.hattingh.haasbroek@student.tue.nl::20a05f05-2cec-4fa4-8c81-47330fa392d0" providerId="AD" clId="Web-{273FD574-8A03-DF3E-C1D5-770E60C0B530}" dt="2026-08-10T14:28:43.418" v="144" actId="20577"/>
          <ac:spMkLst>
            <pc:docMk/>
            <pc:sldMk cId="258992506" sldId="271"/>
            <ac:spMk id="258" creationId="{106681BB-F2CD-829B-6230-55CA2E24F067}"/>
          </ac:spMkLst>
        </pc:spChg>
      </pc:sldChg>
      <pc:sldChg chg="modSp">
        <pc:chgData name="Hattingh-Haasbroek, Juliette" userId="S::j.hattingh.haasbroek@student.tue.nl::20a05f05-2cec-4fa4-8c81-47330fa392d0" providerId="AD" clId="Web-{273FD574-8A03-DF3E-C1D5-770E60C0B530}" dt="2026-08-10T14:30:46.328" v="191" actId="20577"/>
        <pc:sldMkLst>
          <pc:docMk/>
          <pc:sldMk cId="110435291" sldId="273"/>
        </pc:sldMkLst>
        <pc:spChg chg="mod">
          <ac:chgData name="Hattingh-Haasbroek, Juliette" userId="S::j.hattingh.haasbroek@student.tue.nl::20a05f05-2cec-4fa4-8c81-47330fa392d0" providerId="AD" clId="Web-{273FD574-8A03-DF3E-C1D5-770E60C0B530}" dt="2026-08-10T14:30:46.328" v="191" actId="20577"/>
          <ac:spMkLst>
            <pc:docMk/>
            <pc:sldMk cId="110435291" sldId="273"/>
            <ac:spMk id="3" creationId="{73A60500-F33A-DC5B-43EE-BE7B0B40ECC1}"/>
          </ac:spMkLst>
        </pc:spChg>
        <pc:spChg chg="mod">
          <ac:chgData name="Hattingh-Haasbroek, Juliette" userId="S::j.hattingh.haasbroek@student.tue.nl::20a05f05-2cec-4fa4-8c81-47330fa392d0" providerId="AD" clId="Web-{273FD574-8A03-DF3E-C1D5-770E60C0B530}" dt="2026-08-10T14:22:41.125" v="83" actId="20577"/>
          <ac:spMkLst>
            <pc:docMk/>
            <pc:sldMk cId="110435291" sldId="273"/>
            <ac:spMk id="7" creationId="{3D4E69E7-93D6-5CB6-72D4-B60B45BBC62C}"/>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200" b="1"/>
              <a:t>Cropland in the 5 Aweil counties (% of land)</a:t>
            </a:r>
          </a:p>
        </c:rich>
      </c:tx>
      <c:overlay val="0"/>
    </c:title>
    <c:autoTitleDeleted val="0"/>
    <c:plotArea>
      <c:layout/>
      <c:barChart>
        <c:barDir val="bar"/>
        <c:grouping val="clustered"/>
        <c:varyColors val="1"/>
        <c:ser>
          <c:idx val="0"/>
          <c:order val="0"/>
          <c:tx>
            <c:strRef>
              <c:f>Sheet1!$B$1</c:f>
              <c:strCache>
                <c:ptCount val="1"/>
                <c:pt idx="0">
                  <c:v>Share of the 5 Aweil counties mapped as crop (%)</c:v>
                </c:pt>
              </c:strCache>
            </c:strRef>
          </c:tx>
          <c:invertIfNegative val="1"/>
          <c:dPt>
            <c:idx val="0"/>
            <c:invertIfNegative val="1"/>
            <c:bubble3D val="0"/>
            <c:spPr>
              <a:solidFill>
                <a:srgbClr val="D4A017"/>
              </a:solidFill>
            </c:spPr>
            <c:extLst>
              <c:ext xmlns:c16="http://schemas.microsoft.com/office/drawing/2014/chart" uri="{C3380CC4-5D6E-409C-BE32-E72D297353CC}">
                <c16:uniqueId val="{00000001-828B-4C42-BEB9-33144D927B7B}"/>
              </c:ext>
            </c:extLst>
          </c:dPt>
          <c:dPt>
            <c:idx val="1"/>
            <c:invertIfNegative val="1"/>
            <c:bubble3D val="0"/>
            <c:spPr>
              <a:solidFill>
                <a:srgbClr val="D4A017"/>
              </a:solidFill>
            </c:spPr>
            <c:extLst>
              <c:ext xmlns:c16="http://schemas.microsoft.com/office/drawing/2014/chart" uri="{C3380CC4-5D6E-409C-BE32-E72D297353CC}">
                <c16:uniqueId val="{00000003-828B-4C42-BEB9-33144D927B7B}"/>
              </c:ext>
            </c:extLst>
          </c:dPt>
          <c:dPt>
            <c:idx val="2"/>
            <c:invertIfNegative val="1"/>
            <c:bubble3D val="0"/>
            <c:spPr>
              <a:solidFill>
                <a:srgbClr val="D4A017"/>
              </a:solidFill>
            </c:spPr>
            <c:extLst>
              <c:ext xmlns:c16="http://schemas.microsoft.com/office/drawing/2014/chart" uri="{C3380CC4-5D6E-409C-BE32-E72D297353CC}">
                <c16:uniqueId val="{00000005-828B-4C42-BEB9-33144D927B7B}"/>
              </c:ext>
            </c:extLst>
          </c:dPt>
          <c:dPt>
            <c:idx val="3"/>
            <c:invertIfNegative val="1"/>
            <c:bubble3D val="0"/>
            <c:spPr>
              <a:solidFill>
                <a:srgbClr val="2E868F"/>
              </a:solidFill>
            </c:spPr>
            <c:extLst>
              <c:ext xmlns:c16="http://schemas.microsoft.com/office/drawing/2014/chart" uri="{C3380CC4-5D6E-409C-BE32-E72D297353CC}">
                <c16:uniqueId val="{00000007-828B-4C42-BEB9-33144D927B7B}"/>
              </c:ext>
            </c:extLst>
          </c:dPt>
          <c:dPt>
            <c:idx val="4"/>
            <c:invertIfNegative val="1"/>
            <c:bubble3D val="0"/>
            <c:spPr>
              <a:solidFill>
                <a:srgbClr val="D4A017"/>
              </a:solidFill>
            </c:spPr>
            <c:extLst>
              <c:ext xmlns:c16="http://schemas.microsoft.com/office/drawing/2014/chart" uri="{C3380CC4-5D6E-409C-BE32-E72D297353CC}">
                <c16:uniqueId val="{00000009-828B-4C42-BEB9-33144D927B7B}"/>
              </c:ext>
            </c:extLst>
          </c:dPt>
          <c:dPt>
            <c:idx val="5"/>
            <c:invertIfNegative val="1"/>
            <c:bubble3D val="0"/>
            <c:spPr>
              <a:solidFill>
                <a:srgbClr val="D4A017"/>
              </a:solidFill>
            </c:spPr>
            <c:extLst>
              <c:ext xmlns:c16="http://schemas.microsoft.com/office/drawing/2014/chart" uri="{C3380CC4-5D6E-409C-BE32-E72D297353CC}">
                <c16:uniqueId val="{0000000B-828B-4C42-BEB9-33144D927B7B}"/>
              </c:ext>
            </c:extLst>
          </c:dPt>
          <c:dPt>
            <c:idx val="6"/>
            <c:invertIfNegative val="1"/>
            <c:bubble3D val="0"/>
            <c:spPr>
              <a:solidFill>
                <a:srgbClr val="D4A017"/>
              </a:solidFill>
            </c:spPr>
            <c:extLst>
              <c:ext xmlns:c16="http://schemas.microsoft.com/office/drawing/2014/chart" uri="{C3380CC4-5D6E-409C-BE32-E72D297353CC}">
                <c16:uniqueId val="{0000000D-828B-4C42-BEB9-33144D927B7B}"/>
              </c:ext>
            </c:extLst>
          </c:dPt>
          <c:dPt>
            <c:idx val="7"/>
            <c:invertIfNegative val="1"/>
            <c:bubble3D val="0"/>
            <c:spPr>
              <a:solidFill>
                <a:srgbClr val="D4A017"/>
              </a:solidFill>
            </c:spPr>
            <c:extLst>
              <c:ext xmlns:c16="http://schemas.microsoft.com/office/drawing/2014/chart" uri="{C3380CC4-5D6E-409C-BE32-E72D297353CC}">
                <c16:uniqueId val="{0000000F-828B-4C42-BEB9-33144D927B7B}"/>
              </c:ext>
            </c:extLst>
          </c:dPt>
          <c:dPt>
            <c:idx val="8"/>
            <c:invertIfNegative val="1"/>
            <c:bubble3D val="0"/>
            <c:spPr>
              <a:solidFill>
                <a:srgbClr val="9A9A9A"/>
              </a:solidFill>
            </c:spPr>
            <c:extLst>
              <c:ext xmlns:c16="http://schemas.microsoft.com/office/drawing/2014/chart" uri="{C3380CC4-5D6E-409C-BE32-E72D297353CC}">
                <c16:uniqueId val="{00000011-828B-4C42-BEB9-33144D927B7B}"/>
              </c:ext>
            </c:extLst>
          </c:dPt>
          <c:dLbls>
            <c:numFmt formatCode="0.0&quot;%&quot;" sourceLinked="0"/>
            <c:spPr>
              <a:noFill/>
              <a:ln>
                <a:noFill/>
              </a:ln>
              <a:effectLst/>
            </c:spPr>
            <c:txPr>
              <a:bodyPr/>
              <a:lstStyle/>
              <a:p>
                <a:pPr>
                  <a:defRPr sz="1000"/>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Dynamic World 2022</c:v>
                </c:pt>
                <c:pt idx="1">
                  <c:v>WorldCover 2021</c:v>
                </c:pt>
                <c:pt idx="2">
                  <c:v>Esri 2022</c:v>
                </c:pt>
                <c:pt idx="3">
                  <c:v>ASAP (course data)</c:v>
                </c:pt>
                <c:pt idx="4">
                  <c:v>GLAD 2019</c:v>
                </c:pt>
                <c:pt idx="5">
                  <c:v>WorldCereal 2021</c:v>
                </c:pt>
                <c:pt idx="6">
                  <c:v>DE Africa 2019</c:v>
                </c:pt>
                <c:pt idx="7">
                  <c:v>GFSAD 2015</c:v>
                </c:pt>
                <c:pt idx="8">
                  <c:v>CFSAM 2022 (modelled)</c:v>
                </c:pt>
              </c:strCache>
            </c:strRef>
          </c:cat>
          <c:val>
            <c:numRef>
              <c:f>Sheet1!$B$2:$B$10</c:f>
              <c:numCache>
                <c:formatCode>General</c:formatCode>
                <c:ptCount val="9"/>
                <c:pt idx="0">
                  <c:v>0.1</c:v>
                </c:pt>
                <c:pt idx="1">
                  <c:v>0.35</c:v>
                </c:pt>
                <c:pt idx="2">
                  <c:v>0.42</c:v>
                </c:pt>
                <c:pt idx="3">
                  <c:v>0.96</c:v>
                </c:pt>
                <c:pt idx="4">
                  <c:v>0.99</c:v>
                </c:pt>
                <c:pt idx="5">
                  <c:v>1</c:v>
                </c:pt>
                <c:pt idx="6">
                  <c:v>1.78</c:v>
                </c:pt>
                <c:pt idx="7">
                  <c:v>1.92</c:v>
                </c:pt>
                <c:pt idx="8">
                  <c:v>5.41</c:v>
                </c:pt>
              </c:numCache>
            </c:numRef>
          </c:val>
          <c:extLst>
            <c:ext xmlns:c16="http://schemas.microsoft.com/office/drawing/2014/chart" uri="{C3380CC4-5D6E-409C-BE32-E72D297353CC}">
              <c16:uniqueId val="{00000012-828B-4C42-BEB9-33144D927B7B}"/>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BFBFBF"/>
            </a:solidFill>
          </a:ln>
        </c:spPr>
        <c:txPr>
          <a:bodyPr/>
          <a:lstStyle/>
          <a:p>
            <a:pPr>
              <a:defRPr sz="1000"/>
            </a:pPr>
            <a:endParaRPr lang="es-ES"/>
          </a:p>
        </c:txPr>
        <c:crossAx val="-2113994440"/>
        <c:crosses val="autoZero"/>
        <c:auto val="1"/>
        <c:lblAlgn val="ctr"/>
        <c:lblOffset val="100"/>
        <c:noMultiLvlLbl val="0"/>
      </c:catAx>
      <c:valAx>
        <c:axId val="-2113994440"/>
        <c:scaling>
          <c:orientation val="minMax"/>
          <c:max val="6.5"/>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Trigger wording: Stakeholder Q&amp;A 2, slides 31 and 40 ("a flood inundating cropland"). Areas: slide 3. RO as in the team's final plan of 27 Sep 2026; forecasting is out of scope.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Pacetti et al. 2017 overlay a MODIS flood map (UNOSAT) on land-use maps, then convert lost crops into calories and water footprint. Quote from the discussion (p. 501). Sensitivity: water-depth threshold ±20% -&gt; 12% change in energy-content losses (abstract). ADAM: report of 2 May 2024, no accuracy statement. Kerner et al. 2024: maps agree unanimously on &lt;0.5% of pixels; no single map optimal.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Sources: Kerner et al. 2024 Table 4 (countries). Optical blindness Jul-Sep: team's mask analysis and Downs 2023 (MODIS misses most flooding in South Sudan). CFSAM 2022 method: harvested area computed from population, household size, farming share and area per household (CFSAM 2022 summary, p. 2).</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Numbers from external_deep_research/superior_ro_search_report.md: check 2 (masks x ASAP, 2022 ~3,700 ha nationally; 0-470 ha per ZOA county-season; 0 ha in Bor South every year) and check 1 (ASAP vs CFSAM, 70 of 77 matched counties). CFSAM 2022 summary p. 1: 130,000 ha of cultivated land damaged. CFSAM is itself a modelled estimate, so the gap shows the size of the uncertainty, not the true loss.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0B48AC0A-F553-5E3A-7712-28A98DBE0EB0}"/>
            </a:ext>
          </a:extLst>
        </p:cNvPr>
        <p:cNvGrpSpPr/>
        <p:nvPr/>
      </p:nvGrpSpPr>
      <p:grpSpPr>
        <a:xfrm>
          <a:off x="0" y="0"/>
          <a:ext cx="0" cy="0"/>
          <a:chOff x="0" y="0"/>
          <a:chExt cx="0" cy="0"/>
        </a:xfrm>
      </p:grpSpPr>
      <p:sp>
        <p:nvSpPr>
          <p:cNvPr id="255" name="Google Shape;255;g1470e4bd30a_0_3:notes">
            <a:extLst>
              <a:ext uri="{FF2B5EF4-FFF2-40B4-BE49-F238E27FC236}">
                <a16:creationId xmlns:a16="http://schemas.microsoft.com/office/drawing/2014/main" id="{9D2DD278-6139-50F1-65ED-A8A22A1AE0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1470e4bd30a_0_3:notes">
            <a:extLst>
              <a:ext uri="{FF2B5EF4-FFF2-40B4-BE49-F238E27FC236}">
                <a16:creationId xmlns:a16="http://schemas.microsoft.com/office/drawing/2014/main" id="{92164AAF-90A6-A30C-9048-FE7B80898A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Code: processing_data/cropland/ (download_*.py, derived_cropland_layers.py, cropland_agreement.py, check_cropland_rasters.py). Documentation: data/cropland/README.md, MANIFEST.csv, CHECKS.md.</a:t>
            </a:r>
          </a:p>
        </p:txBody>
      </p:sp>
    </p:spTree>
    <p:extLst>
      <p:ext uri="{BB962C8B-B14F-4D97-AF65-F5344CB8AC3E}">
        <p14:creationId xmlns:p14="http://schemas.microsoft.com/office/powerpoint/2010/main" val="3989414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Seven maps, seven answers for one place: from 0.2% (WorldCover, Esri) to 48.9% (GFSAD) of the window. Deliberately outside Aweil and Bor South: labellers must not see the maps in the study area. Figure: data/cropland/demo/, script processing_data/cropland/demo_map_panels.py.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Data: data/cropland/agreement/ (county_crop_share.csv, pairwise_agreement.csv, strata_n_maps.csv). Four main maps = WorldCereal 2021, WorldCover 2021, Esri 2022, Dynamic World Jun-Nov 2022. Best pairwise crop overlap (Jaccard) 25% (WorldCereal vs WorldCover, one county); kappa at most 0.39. Typical map ~1% vs CFSAM 5.4%. Consequence for the design: 'all maps agree' cannot be a stratum; the sample must also cover the 'no map says crop' land, where most real cropland may be.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1470e4bd30a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1470e4bd30a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All five were caught by the checks in processing_data/cropland/check_cropland_rasters.py and are documented in data/cropland/README.md. The Esri trap alone would have mapped flooded vegetation as crop.</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1470e4bd30a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1470e4bd30a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Progress with the stakeholders: the Q&amp;A 2 answers fixed the areas, the scale (community) and what ZOA wants from data (reliability and risks). The cropland audit answers the undercount concern directly. Quotes as cited in the team's RO search report; check wording against the slides before presenting.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1470e4bd30a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1470e4bd30a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470e4bd30a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1470e4bd30a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Same problem as the methodological slides, but asked as an SLE question: the choice of map is not neutral, it decides who is visible. The question is a draft for the team; the essay text must be the team's own. Check lecture page numbers against the lecture PDFs before citing them.</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crop-mask result from the method part, told as an SLE point: which farmer 'exists' depends on the map picked, and that pick is usually made silently by the tool. Window: 6 x 6 km near Turalei (Twic), kept outside Aweil and Bor South so the labelling stays blind. Aweil numbers from data/cropland/agreement/strata_n_maps.csv (four main maps = WorldCereal 2021, WorldCover 2021, Esri 2022, Dynamic World Jun-Nov 2022; seven = plus GLAD 2019, DE Africa 2019, GFSAD 2015).</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Neglect has technical reasons (clouds, small fields, no ground truth) and possibly institutional ones: the lectures ask who produces knowledge and for whom. The audit point is a question to explore, not a finding. ADAM: report of 2 May 2024, no accuracy statement.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Who bears the error: a missed field falls on the smallholder, a false alarm on the budget. Numbers: flood masks x ASAP (2022, national, ~3,700 ha) vs CFSAM 2022 summary p. 1 (130,000 ha of cultivated land damaged); CFSAM is itself modelled, so ~3% shows the size of the gap, not the true loss. Bor South roads: Logistics Cluster maps 2022-2026, eda/ROADS_FLOOD_EDA.md.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1470e4bd30a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1470e4bd30a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Team: check that these four match your own experience before presenting. They come from the RO history: the forecast was dropped from the RO (27 Sep plan), CFSAM turned out to be modelled, the cropland maps disagree, and the road data showed closures in Bor South the flood masks miss.</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4E65F3B8-1A0E-4842-9236-6EFE55733D87}"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267278-17E4-6544-A863-474EF429F071}" type="slidenum">
              <a:rPr lang="en-US" smtClean="0"/>
              <a:t>‹#›</a:t>
            </a:fld>
            <a:endParaRPr lang="en-US"/>
          </a:p>
        </p:txBody>
      </p:sp>
      <p:pic>
        <p:nvPicPr>
          <p:cNvPr id="8" name="Picture 7">
            <a:extLst>
              <a:ext uri="{FF2B5EF4-FFF2-40B4-BE49-F238E27FC236}">
                <a16:creationId xmlns:a16="http://schemas.microsoft.com/office/drawing/2014/main" id="{7E4AB850-DB14-1C08-2BB5-EFA9D1F8EF07}"/>
              </a:ext>
            </a:extLst>
          </p:cNvPr>
          <p:cNvPicPr>
            <a:picLocks noChangeAspect="1"/>
          </p:cNvPicPr>
          <p:nvPr userDrawn="1"/>
        </p:nvPicPr>
        <p:blipFill>
          <a:blip r:embed="rId2"/>
          <a:stretch>
            <a:fillRect/>
          </a:stretch>
        </p:blipFill>
        <p:spPr>
          <a:xfrm>
            <a:off x="3524092" y="3974634"/>
            <a:ext cx="1370601" cy="620316"/>
          </a:xfrm>
          <a:prstGeom prst="rect">
            <a:avLst/>
          </a:prstGeom>
        </p:spPr>
      </p:pic>
      <p:pic>
        <p:nvPicPr>
          <p:cNvPr id="10" name="Picture 9">
            <a:extLst>
              <a:ext uri="{FF2B5EF4-FFF2-40B4-BE49-F238E27FC236}">
                <a16:creationId xmlns:a16="http://schemas.microsoft.com/office/drawing/2014/main" id="{7394EC7F-5BBC-59CE-7C58-FB895D6932C8}"/>
              </a:ext>
            </a:extLst>
          </p:cNvPr>
          <p:cNvPicPr>
            <a:picLocks noChangeAspect="1"/>
          </p:cNvPicPr>
          <p:nvPr userDrawn="1"/>
        </p:nvPicPr>
        <p:blipFill>
          <a:blip r:embed="rId3"/>
          <a:stretch>
            <a:fillRect/>
          </a:stretch>
        </p:blipFill>
        <p:spPr>
          <a:xfrm>
            <a:off x="1119464" y="3974634"/>
            <a:ext cx="1362884" cy="620316"/>
          </a:xfrm>
          <a:prstGeom prst="rect">
            <a:avLst/>
          </a:prstGeom>
        </p:spPr>
      </p:pic>
      <p:pic>
        <p:nvPicPr>
          <p:cNvPr id="12" name="Picture 11">
            <a:extLst>
              <a:ext uri="{FF2B5EF4-FFF2-40B4-BE49-F238E27FC236}">
                <a16:creationId xmlns:a16="http://schemas.microsoft.com/office/drawing/2014/main" id="{CF154139-B550-806E-2BC0-3EF6B61D671C}"/>
              </a:ext>
            </a:extLst>
          </p:cNvPr>
          <p:cNvPicPr>
            <a:picLocks noChangeAspect="1"/>
          </p:cNvPicPr>
          <p:nvPr userDrawn="1"/>
        </p:nvPicPr>
        <p:blipFill>
          <a:blip r:embed="rId4"/>
          <a:stretch>
            <a:fillRect/>
          </a:stretch>
        </p:blipFill>
        <p:spPr>
          <a:xfrm>
            <a:off x="5456160" y="3957009"/>
            <a:ext cx="2585788" cy="637941"/>
          </a:xfrm>
          <a:prstGeom prst="rect">
            <a:avLst/>
          </a:prstGeom>
        </p:spPr>
      </p:pic>
    </p:spTree>
    <p:extLst>
      <p:ext uri="{BB962C8B-B14F-4D97-AF65-F5344CB8AC3E}">
        <p14:creationId xmlns:p14="http://schemas.microsoft.com/office/powerpoint/2010/main" val="33293484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65F3B8-1A0E-4842-9236-6EFE55733D87}"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236222654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7"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7"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65F3B8-1A0E-4842-9236-6EFE55733D87}"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39769661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E65F3B8-1A0E-4842-9236-6EFE55733D87}"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178899176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E65F3B8-1A0E-4842-9236-6EFE55733D87}"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352574990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E65F3B8-1A0E-4842-9236-6EFE55733D87}"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361184733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65F3B8-1A0E-4842-9236-6EFE55733D87}"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3695140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E65F3B8-1A0E-4842-9236-6EFE55733D87}"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316336671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E65F3B8-1A0E-4842-9236-6EFE55733D87}"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152624541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65F3B8-1A0E-4842-9236-6EFE55733D87}"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330686638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3"/>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65F3B8-1A0E-4842-9236-6EFE55733D87}"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182299510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5" name="Google Shape;25;p4"/>
          <p:cNvSpPr txBox="1">
            <a:spLocks noGrp="1"/>
          </p:cNvSpPr>
          <p:nvPr>
            <p:ph type="body" idx="1"/>
          </p:nvPr>
        </p:nvSpPr>
        <p:spPr>
          <a:xfrm>
            <a:off x="713250" y="1272925"/>
            <a:ext cx="7717500" cy="3295800"/>
          </a:xfrm>
          <a:prstGeom prst="rect">
            <a:avLst/>
          </a:prstGeom>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Lato"/>
              <a:buChar char="●"/>
              <a:defRPr sz="1100"/>
            </a:lvl1pPr>
            <a:lvl2pPr marL="914400" lvl="1" indent="-317500">
              <a:spcBef>
                <a:spcPts val="0"/>
              </a:spcBef>
              <a:spcAft>
                <a:spcPts val="0"/>
              </a:spcAft>
              <a:buClr>
                <a:schemeClr val="dk1"/>
              </a:buClr>
              <a:buSzPts val="1400"/>
              <a:buFont typeface="Lato"/>
              <a:buChar char="○"/>
              <a:defRPr/>
            </a:lvl2pPr>
            <a:lvl3pPr marL="1371600" lvl="2" indent="-317500">
              <a:spcBef>
                <a:spcPts val="0"/>
              </a:spcBef>
              <a:spcAft>
                <a:spcPts val="0"/>
              </a:spcAft>
              <a:buClr>
                <a:schemeClr val="dk1"/>
              </a:buClr>
              <a:buSzPts val="1400"/>
              <a:buFont typeface="Lato"/>
              <a:buChar char="■"/>
              <a:defRPr/>
            </a:lvl3pPr>
            <a:lvl4pPr marL="1828800" lvl="3" indent="-317500">
              <a:spcBef>
                <a:spcPts val="0"/>
              </a:spcBef>
              <a:spcAft>
                <a:spcPts val="0"/>
              </a:spcAft>
              <a:buClr>
                <a:schemeClr val="dk1"/>
              </a:buClr>
              <a:buSzPts val="1400"/>
              <a:buFont typeface="Lato"/>
              <a:buChar char="●"/>
              <a:defRPr/>
            </a:lvl4pPr>
            <a:lvl5pPr marL="2286000" lvl="4" indent="-317500">
              <a:spcBef>
                <a:spcPts val="0"/>
              </a:spcBef>
              <a:spcAft>
                <a:spcPts val="0"/>
              </a:spcAft>
              <a:buClr>
                <a:schemeClr val="dk1"/>
              </a:buClr>
              <a:buSzPts val="1400"/>
              <a:buFont typeface="Lato"/>
              <a:buChar char="○"/>
              <a:defRPr/>
            </a:lvl5pPr>
            <a:lvl6pPr marL="2743200" lvl="5" indent="-317500">
              <a:spcBef>
                <a:spcPts val="0"/>
              </a:spcBef>
              <a:spcAft>
                <a:spcPts val="0"/>
              </a:spcAft>
              <a:buClr>
                <a:schemeClr val="dk1"/>
              </a:buClr>
              <a:buSzPts val="1400"/>
              <a:buFont typeface="Lato"/>
              <a:buChar char="■"/>
              <a:defRPr/>
            </a:lvl6pPr>
            <a:lvl7pPr marL="3200400" lvl="6" indent="-317500">
              <a:spcBef>
                <a:spcPts val="0"/>
              </a:spcBef>
              <a:spcAft>
                <a:spcPts val="0"/>
              </a:spcAft>
              <a:buClr>
                <a:schemeClr val="dk1"/>
              </a:buClr>
              <a:buSzPts val="1400"/>
              <a:buFont typeface="Lato"/>
              <a:buChar char="●"/>
              <a:defRPr/>
            </a:lvl7pPr>
            <a:lvl8pPr marL="3657600" lvl="7" indent="-317500">
              <a:spcBef>
                <a:spcPts val="0"/>
              </a:spcBef>
              <a:spcAft>
                <a:spcPts val="0"/>
              </a:spcAft>
              <a:buClr>
                <a:schemeClr val="dk1"/>
              </a:buClr>
              <a:buSzPts val="1400"/>
              <a:buFont typeface="Lato"/>
              <a:buChar char="○"/>
              <a:defRPr/>
            </a:lvl8pPr>
            <a:lvl9pPr marL="4114800" lvl="8" indent="-317500">
              <a:spcBef>
                <a:spcPts val="0"/>
              </a:spcBef>
              <a:spcAft>
                <a:spcPts val="0"/>
              </a:spcAft>
              <a:buClr>
                <a:schemeClr val="dk1"/>
              </a:buClr>
              <a:buSzPts val="1400"/>
              <a:buFont typeface="Lato"/>
              <a:buChar char="■"/>
              <a:defRPr/>
            </a:lvl9pPr>
          </a:lstStyle>
          <a:p>
            <a:endParaRPr/>
          </a:p>
        </p:txBody>
      </p:sp>
    </p:spTree>
    <p:extLst>
      <p:ext uri="{BB962C8B-B14F-4D97-AF65-F5344CB8AC3E}">
        <p14:creationId xmlns:p14="http://schemas.microsoft.com/office/powerpoint/2010/main" val="2281001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713225" y="445025"/>
            <a:ext cx="56811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5"/>
          <p:cNvSpPr txBox="1">
            <a:spLocks noGrp="1"/>
          </p:cNvSpPr>
          <p:nvPr>
            <p:ph type="subTitle" idx="1"/>
          </p:nvPr>
        </p:nvSpPr>
        <p:spPr>
          <a:xfrm>
            <a:off x="5038975" y="26490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2400" b="1">
                <a:latin typeface="Vidaloka"/>
                <a:ea typeface="Vidaloka"/>
                <a:cs typeface="Vidaloka"/>
                <a:sym typeface="Vidaloka"/>
              </a:defRPr>
            </a:lvl2pPr>
            <a:lvl3pPr lvl="2" algn="ctr" rtl="0">
              <a:spcBef>
                <a:spcPts val="0"/>
              </a:spcBef>
              <a:spcAft>
                <a:spcPts val="0"/>
              </a:spcAft>
              <a:buSzPts val="2400"/>
              <a:buFont typeface="Vidaloka"/>
              <a:buNone/>
              <a:defRPr sz="2400" b="1">
                <a:latin typeface="Vidaloka"/>
                <a:ea typeface="Vidaloka"/>
                <a:cs typeface="Vidaloka"/>
                <a:sym typeface="Vidaloka"/>
              </a:defRPr>
            </a:lvl3pPr>
            <a:lvl4pPr lvl="3" algn="ctr" rtl="0">
              <a:spcBef>
                <a:spcPts val="0"/>
              </a:spcBef>
              <a:spcAft>
                <a:spcPts val="0"/>
              </a:spcAft>
              <a:buSzPts val="2400"/>
              <a:buFont typeface="Vidaloka"/>
              <a:buNone/>
              <a:defRPr sz="2400" b="1">
                <a:latin typeface="Vidaloka"/>
                <a:ea typeface="Vidaloka"/>
                <a:cs typeface="Vidaloka"/>
                <a:sym typeface="Vidaloka"/>
              </a:defRPr>
            </a:lvl4pPr>
            <a:lvl5pPr lvl="4" algn="ctr" rtl="0">
              <a:spcBef>
                <a:spcPts val="0"/>
              </a:spcBef>
              <a:spcAft>
                <a:spcPts val="0"/>
              </a:spcAft>
              <a:buSzPts val="2400"/>
              <a:buFont typeface="Vidaloka"/>
              <a:buNone/>
              <a:defRPr sz="2400" b="1">
                <a:latin typeface="Vidaloka"/>
                <a:ea typeface="Vidaloka"/>
                <a:cs typeface="Vidaloka"/>
                <a:sym typeface="Vidaloka"/>
              </a:defRPr>
            </a:lvl5pPr>
            <a:lvl6pPr lvl="5" algn="ctr" rtl="0">
              <a:spcBef>
                <a:spcPts val="0"/>
              </a:spcBef>
              <a:spcAft>
                <a:spcPts val="0"/>
              </a:spcAft>
              <a:buSzPts val="2400"/>
              <a:buFont typeface="Vidaloka"/>
              <a:buNone/>
              <a:defRPr sz="2400" b="1">
                <a:latin typeface="Vidaloka"/>
                <a:ea typeface="Vidaloka"/>
                <a:cs typeface="Vidaloka"/>
                <a:sym typeface="Vidaloka"/>
              </a:defRPr>
            </a:lvl6pPr>
            <a:lvl7pPr lvl="6" algn="ctr" rtl="0">
              <a:spcBef>
                <a:spcPts val="0"/>
              </a:spcBef>
              <a:spcAft>
                <a:spcPts val="0"/>
              </a:spcAft>
              <a:buSzPts val="2400"/>
              <a:buFont typeface="Vidaloka"/>
              <a:buNone/>
              <a:defRPr sz="2400" b="1">
                <a:latin typeface="Vidaloka"/>
                <a:ea typeface="Vidaloka"/>
                <a:cs typeface="Vidaloka"/>
                <a:sym typeface="Vidaloka"/>
              </a:defRPr>
            </a:lvl7pPr>
            <a:lvl8pPr lvl="7" algn="ctr" rtl="0">
              <a:spcBef>
                <a:spcPts val="0"/>
              </a:spcBef>
              <a:spcAft>
                <a:spcPts val="0"/>
              </a:spcAft>
              <a:buSzPts val="2400"/>
              <a:buFont typeface="Vidaloka"/>
              <a:buNone/>
              <a:defRPr sz="2400" b="1">
                <a:latin typeface="Vidaloka"/>
                <a:ea typeface="Vidaloka"/>
                <a:cs typeface="Vidaloka"/>
                <a:sym typeface="Vidaloka"/>
              </a:defRPr>
            </a:lvl8pPr>
            <a:lvl9pPr lvl="8" algn="ctr" rtl="0">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2" name="Google Shape;32;p5"/>
          <p:cNvSpPr txBox="1">
            <a:spLocks noGrp="1"/>
          </p:cNvSpPr>
          <p:nvPr>
            <p:ph type="subTitle" idx="2"/>
          </p:nvPr>
        </p:nvSpPr>
        <p:spPr>
          <a:xfrm>
            <a:off x="50389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3" name="Google Shape;33;p5"/>
          <p:cNvSpPr txBox="1">
            <a:spLocks noGrp="1"/>
          </p:cNvSpPr>
          <p:nvPr>
            <p:ph type="subTitle" idx="3"/>
          </p:nvPr>
        </p:nvSpPr>
        <p:spPr>
          <a:xfrm>
            <a:off x="1693175" y="26490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2400" b="1">
                <a:latin typeface="Vidaloka"/>
                <a:ea typeface="Vidaloka"/>
                <a:cs typeface="Vidaloka"/>
                <a:sym typeface="Vidaloka"/>
              </a:defRPr>
            </a:lvl2pPr>
            <a:lvl3pPr lvl="2" algn="ctr" rtl="0">
              <a:spcBef>
                <a:spcPts val="0"/>
              </a:spcBef>
              <a:spcAft>
                <a:spcPts val="0"/>
              </a:spcAft>
              <a:buSzPts val="2400"/>
              <a:buFont typeface="Vidaloka"/>
              <a:buNone/>
              <a:defRPr sz="2400" b="1">
                <a:latin typeface="Vidaloka"/>
                <a:ea typeface="Vidaloka"/>
                <a:cs typeface="Vidaloka"/>
                <a:sym typeface="Vidaloka"/>
              </a:defRPr>
            </a:lvl3pPr>
            <a:lvl4pPr lvl="3" algn="ctr" rtl="0">
              <a:spcBef>
                <a:spcPts val="0"/>
              </a:spcBef>
              <a:spcAft>
                <a:spcPts val="0"/>
              </a:spcAft>
              <a:buSzPts val="2400"/>
              <a:buFont typeface="Vidaloka"/>
              <a:buNone/>
              <a:defRPr sz="2400" b="1">
                <a:latin typeface="Vidaloka"/>
                <a:ea typeface="Vidaloka"/>
                <a:cs typeface="Vidaloka"/>
                <a:sym typeface="Vidaloka"/>
              </a:defRPr>
            </a:lvl4pPr>
            <a:lvl5pPr lvl="4" algn="ctr" rtl="0">
              <a:spcBef>
                <a:spcPts val="0"/>
              </a:spcBef>
              <a:spcAft>
                <a:spcPts val="0"/>
              </a:spcAft>
              <a:buSzPts val="2400"/>
              <a:buFont typeface="Vidaloka"/>
              <a:buNone/>
              <a:defRPr sz="2400" b="1">
                <a:latin typeface="Vidaloka"/>
                <a:ea typeface="Vidaloka"/>
                <a:cs typeface="Vidaloka"/>
                <a:sym typeface="Vidaloka"/>
              </a:defRPr>
            </a:lvl5pPr>
            <a:lvl6pPr lvl="5" algn="ctr" rtl="0">
              <a:spcBef>
                <a:spcPts val="0"/>
              </a:spcBef>
              <a:spcAft>
                <a:spcPts val="0"/>
              </a:spcAft>
              <a:buSzPts val="2400"/>
              <a:buFont typeface="Vidaloka"/>
              <a:buNone/>
              <a:defRPr sz="2400" b="1">
                <a:latin typeface="Vidaloka"/>
                <a:ea typeface="Vidaloka"/>
                <a:cs typeface="Vidaloka"/>
                <a:sym typeface="Vidaloka"/>
              </a:defRPr>
            </a:lvl6pPr>
            <a:lvl7pPr lvl="6" algn="ctr" rtl="0">
              <a:spcBef>
                <a:spcPts val="0"/>
              </a:spcBef>
              <a:spcAft>
                <a:spcPts val="0"/>
              </a:spcAft>
              <a:buSzPts val="2400"/>
              <a:buFont typeface="Vidaloka"/>
              <a:buNone/>
              <a:defRPr sz="2400" b="1">
                <a:latin typeface="Vidaloka"/>
                <a:ea typeface="Vidaloka"/>
                <a:cs typeface="Vidaloka"/>
                <a:sym typeface="Vidaloka"/>
              </a:defRPr>
            </a:lvl7pPr>
            <a:lvl8pPr lvl="7" algn="ctr" rtl="0">
              <a:spcBef>
                <a:spcPts val="0"/>
              </a:spcBef>
              <a:spcAft>
                <a:spcPts val="0"/>
              </a:spcAft>
              <a:buSzPts val="2400"/>
              <a:buFont typeface="Vidaloka"/>
              <a:buNone/>
              <a:defRPr sz="2400" b="1">
                <a:latin typeface="Vidaloka"/>
                <a:ea typeface="Vidaloka"/>
                <a:cs typeface="Vidaloka"/>
                <a:sym typeface="Vidaloka"/>
              </a:defRPr>
            </a:lvl8pPr>
            <a:lvl9pPr lvl="8" algn="ctr" rtl="0">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4" name="Google Shape;34;p5"/>
          <p:cNvSpPr txBox="1">
            <a:spLocks noGrp="1"/>
          </p:cNvSpPr>
          <p:nvPr>
            <p:ph type="subTitle" idx="4"/>
          </p:nvPr>
        </p:nvSpPr>
        <p:spPr>
          <a:xfrm>
            <a:off x="16931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161083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4E65F3B8-1A0E-4842-9236-6EFE55733D87}" type="datetimeFigureOut">
              <a:rPr lang="en-US" smtClean="0"/>
              <a:t>9/27/2026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57267278-17E4-6544-A863-474EF429F071}" type="slidenum">
              <a:rPr lang="en-US" smtClean="0"/>
              <a:t>‹#›</a:t>
            </a:fld>
            <a:endParaRPr lang="en-US"/>
          </a:p>
        </p:txBody>
      </p:sp>
    </p:spTree>
    <p:extLst>
      <p:ext uri="{BB962C8B-B14F-4D97-AF65-F5344CB8AC3E}">
        <p14:creationId xmlns:p14="http://schemas.microsoft.com/office/powerpoint/2010/main" val="3560221808"/>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Lst>
  <p:hf sldNum="0" hdr="0" ftr="0" dt="0"/>
  <p:txStyles>
    <p:titleStyle>
      <a:lvl1pPr algn="l" defTabSz="685800" rtl="0" eaLnBrk="1" latinLnBrk="0" hangingPunct="1">
        <a:lnSpc>
          <a:spcPct val="90000"/>
        </a:lnSpc>
        <a:spcBef>
          <a:spcPct val="0"/>
        </a:spcBef>
        <a:buNone/>
        <a:defRPr sz="3300" b="1"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245;p34">
            <a:extLst>
              <a:ext uri="{FF2B5EF4-FFF2-40B4-BE49-F238E27FC236}">
                <a16:creationId xmlns:a16="http://schemas.microsoft.com/office/drawing/2014/main" id="{67202C24-20A5-288E-9D7E-3712C766AE19}"/>
              </a:ext>
            </a:extLst>
          </p:cNvPr>
          <p:cNvSpPr txBox="1">
            <a:spLocks/>
          </p:cNvSpPr>
          <p:nvPr/>
        </p:nvSpPr>
        <p:spPr>
          <a:xfrm>
            <a:off x="1114200" y="150572"/>
            <a:ext cx="6858000" cy="1790700"/>
          </a:xfrm>
          <a:prstGeom prst="rect">
            <a:avLst/>
          </a:prstGeom>
        </p:spPr>
        <p:txBody>
          <a:bodyPr spcFirstLastPara="1" wrap="square" lIns="91425" tIns="91425" rIns="91425" bIns="91425" anchor="b" anchorCtr="0">
            <a:noAutofit/>
          </a:bodyPr>
          <a:lstStyle>
            <a:lvl1pPr algn="l" defTabSz="685800" rtl="0" eaLnBrk="1" latinLnBrk="0" hangingPunct="1">
              <a:lnSpc>
                <a:spcPct val="90000"/>
              </a:lnSpc>
              <a:spcBef>
                <a:spcPct val="0"/>
              </a:spcBef>
              <a:buNone/>
              <a:defRPr sz="3300" b="1" kern="1200">
                <a:solidFill>
                  <a:schemeClr val="tx1"/>
                </a:solidFill>
                <a:latin typeface="+mj-lt"/>
                <a:ea typeface="+mj-ea"/>
                <a:cs typeface="+mj-cs"/>
              </a:defRPr>
            </a:lvl1pPr>
          </a:lstStyle>
          <a:p>
            <a:pPr algn="ctr"/>
            <a:r>
              <a:rPr lang="en" sz="4500" dirty="0">
                <a:solidFill>
                  <a:schemeClr val="accent2">
                    <a:lumMod val="76000"/>
                  </a:schemeClr>
                </a:solidFill>
              </a:rPr>
              <a:t>Sprint 2 Review</a:t>
            </a:r>
            <a:br>
              <a:rPr lang="en" sz="4500" dirty="0">
                <a:solidFill>
                  <a:schemeClr val="accent2">
                    <a:lumMod val="76000"/>
                  </a:schemeClr>
                </a:solidFill>
              </a:rPr>
            </a:br>
            <a:r>
              <a:rPr lang="en" sz="4000" dirty="0">
                <a:solidFill>
                  <a:srgbClr val="000000"/>
                </a:solidFill>
              </a:rPr>
              <a:t>Presentation</a:t>
            </a:r>
            <a:endParaRPr lang="en" sz="4000" dirty="0"/>
          </a:p>
        </p:txBody>
      </p:sp>
      <p:pic>
        <p:nvPicPr>
          <p:cNvPr id="4" name="Picture 3" descr="https://encrypted-tbn0.gstatic.com/images?q=tbn:ANd9GcQNf02-2ouuW6XJBmp2cHju4rS8C0QDCSdkJp1J1M4RKRs1aJhW6hWH2G8W&amp;s=10">
            <a:extLst>
              <a:ext uri="{FF2B5EF4-FFF2-40B4-BE49-F238E27FC236}">
                <a16:creationId xmlns:a16="http://schemas.microsoft.com/office/drawing/2014/main" id="{C16E19AC-794B-5F08-2FCE-900C733EB5B6}"/>
              </a:ext>
            </a:extLst>
          </p:cNvPr>
          <p:cNvPicPr>
            <a:picLocks noChangeAspect="1"/>
          </p:cNvPicPr>
          <p:nvPr/>
        </p:nvPicPr>
        <p:blipFill>
          <a:blip r:embed="rId2"/>
          <a:stretch>
            <a:fillRect/>
          </a:stretch>
        </p:blipFill>
        <p:spPr>
          <a:xfrm>
            <a:off x="6822912" y="3606121"/>
            <a:ext cx="1012000" cy="1003594"/>
          </a:xfrm>
          <a:prstGeom prst="rect">
            <a:avLst/>
          </a:prstGeom>
        </p:spPr>
      </p:pic>
      <p:pic>
        <p:nvPicPr>
          <p:cNvPr id="7" name="Picture 6" descr="https://encrypted-tbn0.gstatic.com/images?q=tbn:ANd9GcS0as6Zrck2G2too3qxUP5-3iTE7Mb7_CljRxOR_R8aIkMtAUozwpA0jKZ5&amp;s=10">
            <a:extLst>
              <a:ext uri="{FF2B5EF4-FFF2-40B4-BE49-F238E27FC236}">
                <a16:creationId xmlns:a16="http://schemas.microsoft.com/office/drawing/2014/main" id="{AC210045-8D44-7578-D529-A303A529DB9E}"/>
              </a:ext>
            </a:extLst>
          </p:cNvPr>
          <p:cNvPicPr>
            <a:picLocks noChangeAspect="1"/>
          </p:cNvPicPr>
          <p:nvPr/>
        </p:nvPicPr>
        <p:blipFill>
          <a:blip r:embed="rId3"/>
          <a:srcRect l="-138" t="26460" r="417" b="31812"/>
          <a:stretch>
            <a:fillRect/>
          </a:stretch>
        </p:blipFill>
        <p:spPr>
          <a:xfrm>
            <a:off x="1030895" y="3796587"/>
            <a:ext cx="1591008" cy="624150"/>
          </a:xfrm>
          <a:prstGeom prst="rect">
            <a:avLst/>
          </a:prstGeom>
        </p:spPr>
      </p:pic>
      <p:pic>
        <p:nvPicPr>
          <p:cNvPr id="2" name="Picture 1">
            <a:extLst>
              <a:ext uri="{FF2B5EF4-FFF2-40B4-BE49-F238E27FC236}">
                <a16:creationId xmlns:a16="http://schemas.microsoft.com/office/drawing/2014/main" id="{DACE6B32-F391-852C-E5FE-7FFD2C841F63}"/>
              </a:ext>
            </a:extLst>
          </p:cNvPr>
          <p:cNvPicPr>
            <a:picLocks noChangeAspect="1"/>
          </p:cNvPicPr>
          <p:nvPr/>
        </p:nvPicPr>
        <p:blipFill>
          <a:blip r:embed="rId4"/>
          <a:stretch>
            <a:fillRect/>
          </a:stretch>
        </p:blipFill>
        <p:spPr>
          <a:xfrm>
            <a:off x="3726321" y="3689115"/>
            <a:ext cx="1685925" cy="838200"/>
          </a:xfrm>
          <a:prstGeom prst="rect">
            <a:avLst/>
          </a:prstGeom>
        </p:spPr>
      </p:pic>
      <p:sp>
        <p:nvSpPr>
          <p:cNvPr id="5" name="Google Shape;246;p34">
            <a:extLst>
              <a:ext uri="{FF2B5EF4-FFF2-40B4-BE49-F238E27FC236}">
                <a16:creationId xmlns:a16="http://schemas.microsoft.com/office/drawing/2014/main" id="{DEE4505E-7ABC-0E21-0318-0546422790F6}"/>
              </a:ext>
            </a:extLst>
          </p:cNvPr>
          <p:cNvSpPr txBox="1">
            <a:spLocks/>
          </p:cNvSpPr>
          <p:nvPr/>
        </p:nvSpPr>
        <p:spPr>
          <a:xfrm>
            <a:off x="1114200" y="2370328"/>
            <a:ext cx="6858000" cy="1241822"/>
          </a:xfrm>
          <a:prstGeom prst="rect">
            <a:avLst/>
          </a:prstGeom>
        </p:spPr>
        <p:txBody>
          <a:bodyPr spcFirstLastPara="1" wrap="square" lIns="91425" tIns="91425" rIns="91425" bIns="91425" anchor="t"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1800" dirty="0"/>
              <a:t>Group [1]</a:t>
            </a:r>
            <a:endParaRPr lang="en-US" dirty="0"/>
          </a:p>
          <a:p>
            <a:pPr marL="0" indent="0" algn="ctr">
              <a:buNone/>
            </a:pPr>
            <a:r>
              <a:rPr lang="en-US" sz="1800" b="1" dirty="0"/>
              <a:t>Tutor</a:t>
            </a:r>
            <a:r>
              <a:rPr lang="en-US" sz="1800" dirty="0"/>
              <a:t>: [Francisco] </a:t>
            </a:r>
          </a:p>
        </p:txBody>
      </p:sp>
    </p:spTree>
    <p:extLst>
      <p:ext uri="{BB962C8B-B14F-4D97-AF65-F5344CB8AC3E}">
        <p14:creationId xmlns:p14="http://schemas.microsoft.com/office/powerpoint/2010/main" val="2382854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AD638-BF7D-D92C-B7CE-D4B1305E78F5}"/>
              </a:ext>
            </a:extLst>
          </p:cNvPr>
          <p:cNvSpPr>
            <a:spLocks noGrp="1"/>
          </p:cNvSpPr>
          <p:nvPr>
            <p:ph type="title"/>
          </p:nvPr>
        </p:nvSpPr>
        <p:spPr>
          <a:xfrm>
            <a:off x="628650" y="273844"/>
            <a:ext cx="7886700" cy="994172"/>
          </a:xfrm>
        </p:spPr>
        <p:txBody>
          <a:bodyPr/>
          <a:lstStyle/>
          <a:p>
            <a:r>
              <a:rPr lang="en-US" dirty="0">
                <a:solidFill>
                  <a:schemeClr val="accent2">
                    <a:lumMod val="75000"/>
                  </a:schemeClr>
                </a:solidFill>
              </a:rPr>
              <a:t>Objectives</a:t>
            </a:r>
            <a:r>
              <a:rPr lang="en-US" dirty="0"/>
              <a:t> of Current Sprint</a:t>
            </a:r>
            <a:endParaRPr lang="LID4096" dirty="0"/>
          </a:p>
        </p:txBody>
      </p:sp>
      <p:sp>
        <p:nvSpPr>
          <p:cNvPr id="4" name="Google Shape;253;p35">
            <a:extLst>
              <a:ext uri="{FF2B5EF4-FFF2-40B4-BE49-F238E27FC236}">
                <a16:creationId xmlns:a16="http://schemas.microsoft.com/office/drawing/2014/main" id="{212DA8B7-6B9A-122E-AECF-D859F5CC3CCF}"/>
              </a:ext>
            </a:extLst>
          </p:cNvPr>
          <p:cNvSpPr txBox="1">
            <a:spLocks noGrp="1"/>
          </p:cNvSpPr>
          <p:nvPr>
            <p:ph idx="1"/>
          </p:nvPr>
        </p:nvSpPr>
        <p:spPr>
          <a:xfrm>
            <a:off x="628650" y="1369218"/>
            <a:ext cx="7886700" cy="3263504"/>
          </a:xfrm>
        </p:spPr>
        <p:txBody>
          <a:bodyPr spcFirstLastPara="1" wrap="square" lIns="91425" tIns="91425" rIns="91425" bIns="91425" anchor="t" anchorCtr="0">
            <a:noAutofit/>
          </a:bodyPr>
          <a:lstStyle/>
          <a:p>
            <a:r>
              <a:rPr lang="en-US" dirty="0"/>
              <a:t>Explore different impact areas to find insightful directions</a:t>
            </a:r>
          </a:p>
          <a:p>
            <a:r>
              <a:rPr lang="en-US" dirty="0"/>
              <a:t>Narrow the individual searches and share with the group</a:t>
            </a:r>
          </a:p>
          <a:p>
            <a:r>
              <a:rPr lang="en-US" dirty="0"/>
              <a:t>Compare different ROs and choose one to pursue deeper</a:t>
            </a:r>
          </a:p>
          <a:p>
            <a:endParaRPr lang="en-US" dirty="0"/>
          </a:p>
          <a:p>
            <a:r>
              <a:rPr lang="en-US" dirty="0"/>
              <a:t>Understand and improve the INFLOW-AI model for flood prediction</a:t>
            </a:r>
          </a:p>
        </p:txBody>
      </p:sp>
    </p:spTree>
    <p:extLst>
      <p:ext uri="{BB962C8B-B14F-4D97-AF65-F5344CB8AC3E}">
        <p14:creationId xmlns:p14="http://schemas.microsoft.com/office/powerpoint/2010/main" val="1237595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CFF8-5255-13D2-80F7-9A88BA5B1C6E}"/>
              </a:ext>
            </a:extLst>
          </p:cNvPr>
          <p:cNvSpPr>
            <a:spLocks noGrp="1"/>
          </p:cNvSpPr>
          <p:nvPr>
            <p:ph type="title"/>
          </p:nvPr>
        </p:nvSpPr>
        <p:spPr/>
        <p:txBody>
          <a:bodyPr>
            <a:normAutofit/>
          </a:bodyPr>
          <a:lstStyle/>
          <a:p>
            <a:r>
              <a:rPr lang="en-US" dirty="0">
                <a:solidFill>
                  <a:schemeClr val="accent2">
                    <a:lumMod val="75000"/>
                  </a:schemeClr>
                </a:solidFill>
              </a:rPr>
              <a:t>Sprint Summary </a:t>
            </a:r>
            <a:r>
              <a:rPr lang="en-US" dirty="0"/>
              <a:t>(from sprint 2 onward)</a:t>
            </a:r>
          </a:p>
        </p:txBody>
      </p:sp>
      <p:sp>
        <p:nvSpPr>
          <p:cNvPr id="3" name="Content Placeholder 2">
            <a:extLst>
              <a:ext uri="{FF2B5EF4-FFF2-40B4-BE49-F238E27FC236}">
                <a16:creationId xmlns:a16="http://schemas.microsoft.com/office/drawing/2014/main" id="{2FE5723D-AE46-2DA1-A358-28917D556EC8}"/>
              </a:ext>
            </a:extLst>
          </p:cNvPr>
          <p:cNvSpPr>
            <a:spLocks noGrp="1"/>
          </p:cNvSpPr>
          <p:nvPr>
            <p:ph idx="1"/>
          </p:nvPr>
        </p:nvSpPr>
        <p:spPr/>
        <p:txBody>
          <a:bodyPr vert="horz" lIns="91440" tIns="45720" rIns="91440" bIns="45720" rtlCol="0" anchor="t">
            <a:normAutofit/>
          </a:bodyPr>
          <a:lstStyle/>
          <a:p>
            <a:r>
              <a:rPr lang="en-US" dirty="0"/>
              <a:t>Our main goal was to find a RO worth pursuing, balancing feasibility, novelty and stakeholder-alignment</a:t>
            </a:r>
          </a:p>
          <a:p>
            <a:pPr lvl="0"/>
            <a:r>
              <a:rPr lang="en-US" dirty="0"/>
              <a:t>We explored several areas of impact and after deepening into them we managed to define a unique RO </a:t>
            </a:r>
          </a:p>
          <a:p>
            <a:pPr lvl="0"/>
            <a:r>
              <a:rPr lang="en-US" dirty="0"/>
              <a:t>Data was very limited -&gt; we had to drop many areas and ROs that seemed logical / interesting</a:t>
            </a:r>
          </a:p>
          <a:p>
            <a:pPr lvl="0"/>
            <a:r>
              <a:rPr lang="en-US" dirty="0"/>
              <a:t>Be more consistent with internal deadlines, initiative taking.</a:t>
            </a:r>
          </a:p>
        </p:txBody>
      </p:sp>
    </p:spTree>
    <p:extLst>
      <p:ext uri="{BB962C8B-B14F-4D97-AF65-F5344CB8AC3E}">
        <p14:creationId xmlns:p14="http://schemas.microsoft.com/office/powerpoint/2010/main" val="3870772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spcFirstLastPara="1" wrap="square" lIns="91425" tIns="91425" rIns="91425" bIns="91425" anchor="t" anchorCtr="0">
            <a:noAutofit/>
          </a:bodyPr>
          <a:lstStyle/>
          <a:p>
            <a:r>
              <a:rPr lang="en-US" dirty="0"/>
              <a:t>Methodological Angle (Poster/Report):</a:t>
            </a:r>
            <a:br/>
            <a:r>
              <a:rPr lang="en-US" dirty="0">
                <a:solidFill>
                  <a:srgbClr val="C00000"/>
                </a:solidFill>
              </a:rPr>
              <a:t>Problem definition &amp; research objective</a:t>
            </a:r>
            <a:endParaRPr lang="en-US" dirty="0">
              <a:solidFill>
                <a:schemeClr val="accent2">
                  <a:lumMod val="75000"/>
                </a:schemeClr>
              </a:solidFill>
            </a:endParaRPr>
          </a:p>
        </p:txBody>
      </p:sp>
      <p:sp>
        <p:nvSpPr>
          <p:cNvPr id="3" name="TextBox 2"/>
          <p:cNvSpPr txBox="1"/>
          <p:nvPr/>
        </p:nvSpPr>
        <p:spPr>
          <a:xfrm>
            <a:off x="630936" y="1417320"/>
            <a:ext cx="3931920" cy="3200400"/>
          </a:xfrm>
          <a:prstGeom prst="rect">
            <a:avLst/>
          </a:prstGeom>
          <a:noFill/>
        </p:spPr>
        <p:txBody>
          <a:bodyPr wrap="square" lIns="45720" rIns="45720">
            <a:spAutoFit/>
          </a:bodyPr>
          <a:lstStyle/>
          <a:p>
            <a:pPr marL="228600" indent="-228600">
              <a:spcAft>
                <a:spcPts val="1000"/>
              </a:spcAft>
              <a:buChar char="•"/>
            </a:pPr>
            <a:r>
              <a:rPr sz="1500">
                <a:solidFill>
                  <a:srgbClr val="1F1F1F"/>
                </a:solidFill>
              </a:rPr>
              <a:t>Anticipatory action for floods needs to know how much farmland is under water: ZOA's example trigger is a flood “inundating cropland”.</a:t>
            </a:r>
          </a:p>
          <a:p>
            <a:pPr marL="228600" indent="-228600">
              <a:spcAft>
                <a:spcPts val="1000"/>
              </a:spcAft>
              <a:buChar char="•"/>
            </a:pPr>
            <a:r>
              <a:rPr sz="1500">
                <a:solidFill>
                  <a:srgbClr val="1F1F1F"/>
                </a:solidFill>
              </a:rPr>
              <a:t>In South Sudan that number comes from overlaying public flood maps on public cropland maps.</a:t>
            </a:r>
          </a:p>
          <a:p>
            <a:pPr marL="228600" indent="-228600">
              <a:spcAft>
                <a:spcPts val="1000"/>
              </a:spcAft>
              <a:buChar char="•"/>
            </a:pPr>
            <a:r>
              <a:rPr sz="1500">
                <a:solidFill>
                  <a:srgbClr val="1F1F1F"/>
                </a:solidFill>
              </a:rPr>
              <a:t>Nobody has checked how accurate those maps are where ZOA works: along the Lol river (Aweil) and in Bor South.</a:t>
            </a:r>
          </a:p>
        </p:txBody>
      </p:sp>
      <p:sp>
        <p:nvSpPr>
          <p:cNvPr id="4" name="Rounded Rectangle 3"/>
          <p:cNvSpPr/>
          <p:nvPr/>
        </p:nvSpPr>
        <p:spPr>
          <a:xfrm>
            <a:off x="4800600" y="1417320"/>
            <a:ext cx="3712463" cy="315468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83480" y="1536192"/>
            <a:ext cx="3383280" cy="365760"/>
          </a:xfrm>
          <a:prstGeom prst="rect">
            <a:avLst/>
          </a:prstGeom>
          <a:noFill/>
        </p:spPr>
        <p:txBody>
          <a:bodyPr wrap="square" lIns="45720" tIns="27432" rIns="45720" bIns="27432" anchor="t">
            <a:spAutoFit/>
          </a:bodyPr>
          <a:lstStyle/>
          <a:p>
            <a:pPr algn="l">
              <a:spcAft>
                <a:spcPts val="400"/>
              </a:spcAft>
            </a:pPr>
            <a:r>
              <a:rPr sz="1600" b="1" i="0">
                <a:solidFill>
                  <a:srgbClr val="2E868F"/>
                </a:solidFill>
              </a:rPr>
              <a:t>Research objective</a:t>
            </a:r>
          </a:p>
        </p:txBody>
      </p:sp>
      <p:sp>
        <p:nvSpPr>
          <p:cNvPr id="6" name="TextBox 5"/>
          <p:cNvSpPr txBox="1"/>
          <p:nvPr/>
        </p:nvSpPr>
        <p:spPr>
          <a:xfrm>
            <a:off x="4983480" y="1920240"/>
            <a:ext cx="3383280" cy="1920240"/>
          </a:xfrm>
          <a:prstGeom prst="rect">
            <a:avLst/>
          </a:prstGeom>
          <a:noFill/>
        </p:spPr>
        <p:txBody>
          <a:bodyPr wrap="square" lIns="45720" tIns="27432" rIns="45720" bIns="27432" anchor="t">
            <a:spAutoFit/>
          </a:bodyPr>
          <a:lstStyle/>
          <a:p>
            <a:pPr algn="l">
              <a:spcAft>
                <a:spcPts val="400"/>
              </a:spcAft>
            </a:pPr>
            <a:r>
              <a:rPr sz="1400" b="0" i="0">
                <a:solidFill>
                  <a:srgbClr val="1F1F1F"/>
                </a:solidFill>
              </a:rPr>
              <a:t>Evaluate how accurately public satellite data measure cropland, and cropland flooding, in ZOA's areas, and which conditions go with flooding of farmland.</a:t>
            </a:r>
          </a:p>
        </p:txBody>
      </p:sp>
      <p:sp>
        <p:nvSpPr>
          <p:cNvPr id="7" name="TextBox 6"/>
          <p:cNvSpPr txBox="1"/>
          <p:nvPr/>
        </p:nvSpPr>
        <p:spPr>
          <a:xfrm>
            <a:off x="4983480" y="3520440"/>
            <a:ext cx="3383280" cy="1005840"/>
          </a:xfrm>
          <a:prstGeom prst="rect">
            <a:avLst/>
          </a:prstGeom>
          <a:noFill/>
        </p:spPr>
        <p:txBody>
          <a:bodyPr wrap="square" lIns="45720" tIns="27432" rIns="45720" bIns="27432" anchor="t">
            <a:spAutoFit/>
          </a:bodyPr>
          <a:lstStyle/>
          <a:p>
            <a:pPr algn="l">
              <a:spcAft>
                <a:spcPts val="400"/>
              </a:spcAft>
            </a:pPr>
            <a:r>
              <a:rPr sz="1100" b="0" i="0">
                <a:solidFill>
                  <a:srgbClr val="5F6368"/>
                </a:solidFill>
              </a:rPr>
              <a:t>Five Aweil counties + Bor South</a:t>
            </a:r>
          </a:p>
          <a:p>
            <a:pPr algn="l">
              <a:spcAft>
                <a:spcPts val="400"/>
              </a:spcAft>
            </a:pPr>
            <a:r>
              <a:rPr sz="1100" b="0" i="0">
                <a:solidFill>
                  <a:srgbClr val="5F6368"/>
                </a:solidFill>
              </a:rPr>
              <a:t>Reference season 2022, flood record 2017–2025</a:t>
            </a:r>
          </a:p>
          <a:p>
            <a:pPr algn="l">
              <a:spcAft>
                <a:spcPts val="400"/>
              </a:spcAft>
            </a:pPr>
            <a:r>
              <a:rPr sz="1100" b="0" i="0">
                <a:solidFill>
                  <a:srgbClr val="5F6368"/>
                </a:solidFill>
              </a:rPr>
              <a:t>≈450 blind, double-labelled 30 m points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spcFirstLastPara="1" wrap="square" lIns="91425" tIns="91425" rIns="91425" bIns="91425" anchor="t" anchorCtr="0">
            <a:noAutofit/>
          </a:bodyPr>
          <a:lstStyle/>
          <a:p>
            <a:r>
              <a:rPr lang="en-US" dirty="0"/>
              <a:t>Methodological Angle (Poster/Report):</a:t>
            </a:r>
            <a:br/>
            <a:r>
              <a:rPr lang="en-US" dirty="0">
                <a:solidFill>
                  <a:srgbClr val="C00000"/>
                </a:solidFill>
              </a:rPr>
              <a:t>The method we build on</a:t>
            </a:r>
            <a:endParaRPr lang="en-US" dirty="0">
              <a:solidFill>
                <a:schemeClr val="accent2">
                  <a:lumMod val="75000"/>
                </a:schemeClr>
              </a:solidFill>
            </a:endParaRPr>
          </a:p>
        </p:txBody>
      </p:sp>
      <p:sp>
        <p:nvSpPr>
          <p:cNvPr id="3" name="Rounded Rectangle 2"/>
          <p:cNvSpPr/>
          <p:nvPr/>
        </p:nvSpPr>
        <p:spPr>
          <a:xfrm>
            <a:off x="630936" y="1463040"/>
            <a:ext cx="1828800" cy="91440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04087" y="1572768"/>
            <a:ext cx="1682496" cy="365760"/>
          </a:xfrm>
          <a:prstGeom prst="rect">
            <a:avLst/>
          </a:prstGeom>
          <a:noFill/>
        </p:spPr>
        <p:txBody>
          <a:bodyPr wrap="square" lIns="45720" tIns="27432" rIns="45720" bIns="27432" anchor="t">
            <a:spAutoFit/>
          </a:bodyPr>
          <a:lstStyle/>
          <a:p>
            <a:pPr algn="ctr">
              <a:spcAft>
                <a:spcPts val="400"/>
              </a:spcAft>
            </a:pPr>
            <a:r>
              <a:rPr sz="1400" b="1" i="0">
                <a:solidFill>
                  <a:srgbClr val="2E868F"/>
                </a:solidFill>
              </a:rPr>
              <a:t>Flood map</a:t>
            </a:r>
          </a:p>
        </p:txBody>
      </p:sp>
      <p:sp>
        <p:nvSpPr>
          <p:cNvPr id="5" name="TextBox 4"/>
          <p:cNvSpPr txBox="1"/>
          <p:nvPr/>
        </p:nvSpPr>
        <p:spPr>
          <a:xfrm>
            <a:off x="704087" y="1938528"/>
            <a:ext cx="1682496" cy="365760"/>
          </a:xfrm>
          <a:prstGeom prst="rect">
            <a:avLst/>
          </a:prstGeom>
          <a:noFill/>
        </p:spPr>
        <p:txBody>
          <a:bodyPr wrap="square" lIns="45720" tIns="27432" rIns="45720" bIns="27432" anchor="t">
            <a:spAutoFit/>
          </a:bodyPr>
          <a:lstStyle/>
          <a:p>
            <a:pPr algn="ctr">
              <a:spcAft>
                <a:spcPts val="400"/>
              </a:spcAft>
            </a:pPr>
            <a:r>
              <a:rPr sz="1100" b="0" i="0">
                <a:solidFill>
                  <a:srgbClr val="5F6368"/>
                </a:solidFill>
              </a:rPr>
              <a:t>satellite (MODIS)</a:t>
            </a:r>
          </a:p>
        </p:txBody>
      </p:sp>
      <p:sp>
        <p:nvSpPr>
          <p:cNvPr id="6" name="Rounded Rectangle 5"/>
          <p:cNvSpPr/>
          <p:nvPr/>
        </p:nvSpPr>
        <p:spPr>
          <a:xfrm>
            <a:off x="2642616" y="1463040"/>
            <a:ext cx="1828800" cy="91440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15768" y="1572768"/>
            <a:ext cx="1682496" cy="365760"/>
          </a:xfrm>
          <a:prstGeom prst="rect">
            <a:avLst/>
          </a:prstGeom>
          <a:noFill/>
        </p:spPr>
        <p:txBody>
          <a:bodyPr wrap="square" lIns="45720" tIns="27432" rIns="45720" bIns="27432" anchor="t">
            <a:spAutoFit/>
          </a:bodyPr>
          <a:lstStyle/>
          <a:p>
            <a:pPr algn="ctr">
              <a:spcAft>
                <a:spcPts val="400"/>
              </a:spcAft>
            </a:pPr>
            <a:r>
              <a:rPr sz="1400" b="1" i="0">
                <a:solidFill>
                  <a:srgbClr val="2E868F"/>
                </a:solidFill>
              </a:rPr>
              <a:t>Cropland map</a:t>
            </a:r>
          </a:p>
        </p:txBody>
      </p:sp>
      <p:sp>
        <p:nvSpPr>
          <p:cNvPr id="8" name="TextBox 7"/>
          <p:cNvSpPr txBox="1"/>
          <p:nvPr/>
        </p:nvSpPr>
        <p:spPr>
          <a:xfrm>
            <a:off x="2715768" y="1938528"/>
            <a:ext cx="1682496" cy="365760"/>
          </a:xfrm>
          <a:prstGeom prst="rect">
            <a:avLst/>
          </a:prstGeom>
          <a:noFill/>
        </p:spPr>
        <p:txBody>
          <a:bodyPr wrap="square" lIns="45720" tIns="27432" rIns="45720" bIns="27432" anchor="t">
            <a:spAutoFit/>
          </a:bodyPr>
          <a:lstStyle/>
          <a:p>
            <a:pPr algn="ctr">
              <a:spcAft>
                <a:spcPts val="400"/>
              </a:spcAft>
            </a:pPr>
            <a:r>
              <a:rPr sz="1100" b="0" i="0">
                <a:solidFill>
                  <a:srgbClr val="5F6368"/>
                </a:solidFill>
              </a:rPr>
              <a:t>land use</a:t>
            </a:r>
          </a:p>
        </p:txBody>
      </p:sp>
      <p:sp>
        <p:nvSpPr>
          <p:cNvPr id="9" name="Rounded Rectangle 8"/>
          <p:cNvSpPr/>
          <p:nvPr/>
        </p:nvSpPr>
        <p:spPr>
          <a:xfrm>
            <a:off x="4654296" y="1463040"/>
            <a:ext cx="1828800" cy="91440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27448" y="1572768"/>
            <a:ext cx="1682496" cy="365760"/>
          </a:xfrm>
          <a:prstGeom prst="rect">
            <a:avLst/>
          </a:prstGeom>
          <a:noFill/>
        </p:spPr>
        <p:txBody>
          <a:bodyPr wrap="square" lIns="45720" tIns="27432" rIns="45720" bIns="27432" anchor="t">
            <a:spAutoFit/>
          </a:bodyPr>
          <a:lstStyle/>
          <a:p>
            <a:pPr algn="ctr">
              <a:spcAft>
                <a:spcPts val="400"/>
              </a:spcAft>
            </a:pPr>
            <a:r>
              <a:rPr sz="1400" b="1" i="0">
                <a:solidFill>
                  <a:srgbClr val="1F1F1F"/>
                </a:solidFill>
              </a:rPr>
              <a:t>Flooded cropland</a:t>
            </a:r>
          </a:p>
        </p:txBody>
      </p:sp>
      <p:sp>
        <p:nvSpPr>
          <p:cNvPr id="11" name="TextBox 10"/>
          <p:cNvSpPr txBox="1"/>
          <p:nvPr/>
        </p:nvSpPr>
        <p:spPr>
          <a:xfrm>
            <a:off x="4727448" y="1938528"/>
            <a:ext cx="1682496" cy="365760"/>
          </a:xfrm>
          <a:prstGeom prst="rect">
            <a:avLst/>
          </a:prstGeom>
          <a:noFill/>
        </p:spPr>
        <p:txBody>
          <a:bodyPr wrap="square" lIns="45720" tIns="27432" rIns="45720" bIns="27432" anchor="t">
            <a:spAutoFit/>
          </a:bodyPr>
          <a:lstStyle/>
          <a:p>
            <a:pPr algn="ctr">
              <a:spcAft>
                <a:spcPts val="400"/>
              </a:spcAft>
            </a:pPr>
            <a:r>
              <a:rPr sz="1100" b="0" i="0">
                <a:solidFill>
                  <a:srgbClr val="5F6368"/>
                </a:solidFill>
              </a:rPr>
              <a:t>hectares</a:t>
            </a:r>
          </a:p>
        </p:txBody>
      </p:sp>
      <p:sp>
        <p:nvSpPr>
          <p:cNvPr id="12" name="Rounded Rectangle 11"/>
          <p:cNvSpPr/>
          <p:nvPr/>
        </p:nvSpPr>
        <p:spPr>
          <a:xfrm>
            <a:off x="6665976" y="1463040"/>
            <a:ext cx="1828800" cy="91440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39128" y="1572768"/>
            <a:ext cx="1682496" cy="365760"/>
          </a:xfrm>
          <a:prstGeom prst="rect">
            <a:avLst/>
          </a:prstGeom>
          <a:noFill/>
        </p:spPr>
        <p:txBody>
          <a:bodyPr wrap="square" lIns="45720" tIns="27432" rIns="45720" bIns="27432" anchor="t">
            <a:spAutoFit/>
          </a:bodyPr>
          <a:lstStyle/>
          <a:p>
            <a:pPr algn="ctr">
              <a:spcAft>
                <a:spcPts val="400"/>
              </a:spcAft>
            </a:pPr>
            <a:r>
              <a:rPr sz="1400" b="1" i="0">
                <a:solidFill>
                  <a:srgbClr val="1F1F1F"/>
                </a:solidFill>
              </a:rPr>
              <a:t>Crop &amp; calorie loss</a:t>
            </a:r>
          </a:p>
        </p:txBody>
      </p:sp>
      <p:sp>
        <p:nvSpPr>
          <p:cNvPr id="14" name="TextBox 13"/>
          <p:cNvSpPr txBox="1"/>
          <p:nvPr/>
        </p:nvSpPr>
        <p:spPr>
          <a:xfrm>
            <a:off x="6739128" y="1938528"/>
            <a:ext cx="1682496" cy="365760"/>
          </a:xfrm>
          <a:prstGeom prst="rect">
            <a:avLst/>
          </a:prstGeom>
          <a:noFill/>
        </p:spPr>
        <p:txBody>
          <a:bodyPr wrap="square" lIns="45720" tIns="27432" rIns="45720" bIns="27432" anchor="t">
            <a:spAutoFit/>
          </a:bodyPr>
          <a:lstStyle/>
          <a:p>
            <a:pPr algn="ctr">
              <a:spcAft>
                <a:spcPts val="400"/>
              </a:spcAft>
            </a:pPr>
            <a:r>
              <a:rPr sz="1100" b="0" i="0">
                <a:solidFill>
                  <a:srgbClr val="5F6368"/>
                </a:solidFill>
              </a:rPr>
              <a:t>+ agricultural statistics</a:t>
            </a:r>
          </a:p>
        </p:txBody>
      </p:sp>
      <p:sp>
        <p:nvSpPr>
          <p:cNvPr id="15" name="TextBox 14"/>
          <p:cNvSpPr txBox="1"/>
          <p:nvPr/>
        </p:nvSpPr>
        <p:spPr>
          <a:xfrm>
            <a:off x="2459736" y="1719072"/>
            <a:ext cx="182880" cy="365760"/>
          </a:xfrm>
          <a:prstGeom prst="rect">
            <a:avLst/>
          </a:prstGeom>
          <a:noFill/>
        </p:spPr>
        <p:txBody>
          <a:bodyPr wrap="square" lIns="45720" tIns="27432" rIns="45720" bIns="27432" anchor="t">
            <a:spAutoFit/>
          </a:bodyPr>
          <a:lstStyle/>
          <a:p>
            <a:pPr algn="ctr">
              <a:spcAft>
                <a:spcPts val="400"/>
              </a:spcAft>
            </a:pPr>
            <a:r>
              <a:rPr sz="2000" b="1" i="0">
                <a:solidFill>
                  <a:srgbClr val="5F6368"/>
                </a:solidFill>
              </a:rPr>
              <a:t>×</a:t>
            </a:r>
          </a:p>
        </p:txBody>
      </p:sp>
      <p:cxnSp>
        <p:nvCxnSpPr>
          <p:cNvPr id="16" name="Connector 15"/>
          <p:cNvCxnSpPr/>
          <p:nvPr/>
        </p:nvCxnSpPr>
        <p:spPr>
          <a:xfrm>
            <a:off x="4480560" y="1920240"/>
            <a:ext cx="164592" cy="0"/>
          </a:xfrm>
          <a:prstGeom prst="line">
            <a:avLst/>
          </a:prstGeom>
          <a:ln w="25400">
            <a:solidFill>
              <a:srgbClr val="9A9A9A"/>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492240" y="1920240"/>
            <a:ext cx="164592" cy="0"/>
          </a:xfrm>
          <a:prstGeom prst="line">
            <a:avLst/>
          </a:prstGeom>
          <a:ln w="25400">
            <a:solidFill>
              <a:srgbClr val="9A9A9A"/>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0936" y="2423160"/>
            <a:ext cx="4023360" cy="320040"/>
          </a:xfrm>
          <a:prstGeom prst="rect">
            <a:avLst/>
          </a:prstGeom>
          <a:noFill/>
        </p:spPr>
        <p:txBody>
          <a:bodyPr wrap="square" lIns="45720" tIns="27432" rIns="45720" bIns="27432" anchor="t">
            <a:spAutoFit/>
          </a:bodyPr>
          <a:lstStyle/>
          <a:p>
            <a:pPr algn="ctr">
              <a:spcAft>
                <a:spcPts val="400"/>
              </a:spcAft>
            </a:pPr>
            <a:r>
              <a:rPr sz="1200" b="1" i="0">
                <a:solidFill>
                  <a:srgbClr val="C00000"/>
                </a:solidFill>
              </a:rPr>
              <a:t>Our RO tests these two inputs where ZOA works</a:t>
            </a:r>
          </a:p>
        </p:txBody>
      </p:sp>
      <p:sp>
        <p:nvSpPr>
          <p:cNvPr id="19" name="TextBox 18"/>
          <p:cNvSpPr txBox="1"/>
          <p:nvPr/>
        </p:nvSpPr>
        <p:spPr>
          <a:xfrm>
            <a:off x="630936" y="2834640"/>
            <a:ext cx="3840480" cy="1737360"/>
          </a:xfrm>
          <a:prstGeom prst="rect">
            <a:avLst/>
          </a:prstGeom>
          <a:noFill/>
        </p:spPr>
        <p:txBody>
          <a:bodyPr wrap="square" lIns="45720" tIns="27432" rIns="45720" bIns="27432" anchor="t">
            <a:spAutoFit/>
          </a:bodyPr>
          <a:lstStyle/>
          <a:p>
            <a:pPr algn="l">
              <a:spcAft>
                <a:spcPts val="400"/>
              </a:spcAft>
            </a:pPr>
            <a:r>
              <a:rPr sz="1400" b="1" i="0">
                <a:solidFill>
                  <a:srgbClr val="1F1F1F"/>
                </a:solidFill>
              </a:rPr>
              <a:t>The authors' own warning</a:t>
            </a:r>
          </a:p>
          <a:p>
            <a:pPr algn="l">
              <a:spcAft>
                <a:spcPts val="400"/>
              </a:spcAft>
            </a:pPr>
            <a:r>
              <a:rPr sz="1300" b="0" i="1">
                <a:solidFill>
                  <a:srgbClr val="1F1F1F"/>
                </a:solidFill>
              </a:rPr>
              <a:t>“Remote sensing data by itself lacks the level of accuracy necessary in a comprehensive food security assessment.”</a:t>
            </a:r>
          </a:p>
          <a:p>
            <a:pPr algn="l">
              <a:spcAft>
                <a:spcPts val="400"/>
              </a:spcAft>
            </a:pPr>
            <a:r>
              <a:rPr sz="1300" b="0" i="0">
                <a:solidFill>
                  <a:srgbClr val="1F1F1F"/>
                </a:solidFill>
              </a:rPr>
              <a:t>Changing one input by ±20% changed the estimated losses by 12%.</a:t>
            </a:r>
          </a:p>
        </p:txBody>
      </p:sp>
      <p:sp>
        <p:nvSpPr>
          <p:cNvPr id="20" name="TextBox 19"/>
          <p:cNvSpPr txBox="1"/>
          <p:nvPr/>
        </p:nvSpPr>
        <p:spPr>
          <a:xfrm>
            <a:off x="4654296" y="2834640"/>
            <a:ext cx="3840480" cy="1737360"/>
          </a:xfrm>
          <a:prstGeom prst="rect">
            <a:avLst/>
          </a:prstGeom>
          <a:noFill/>
        </p:spPr>
        <p:txBody>
          <a:bodyPr wrap="square" lIns="45720" tIns="27432" rIns="45720" bIns="27432" anchor="t">
            <a:spAutoFit/>
          </a:bodyPr>
          <a:lstStyle/>
          <a:p>
            <a:pPr algn="l">
              <a:spcAft>
                <a:spcPts val="400"/>
              </a:spcAft>
            </a:pPr>
            <a:r>
              <a:rPr sz="1400" b="1" i="0">
                <a:solidFill>
                  <a:srgbClr val="1F1F1F"/>
                </a:solidFill>
              </a:rPr>
              <a:t>Same overlay, used today</a:t>
            </a:r>
          </a:p>
          <a:p>
            <a:pPr algn="l">
              <a:spcAft>
                <a:spcPts val="400"/>
              </a:spcAft>
            </a:pPr>
            <a:r>
              <a:rPr sz="1300" b="0" i="0">
                <a:solidFill>
                  <a:srgbClr val="1F1F1F"/>
                </a:solidFill>
              </a:rPr>
              <a:t>WFP ADAM reports flooded cropland per county (flood map × NASA GFSAD30) with no accuracy statement.</a:t>
            </a:r>
          </a:p>
          <a:p>
            <a:pPr algn="l">
              <a:spcAft>
                <a:spcPts val="400"/>
              </a:spcAft>
            </a:pPr>
            <a:r>
              <a:rPr sz="1300" b="0" i="0">
                <a:solidFill>
                  <a:srgbClr val="1F1F1F"/>
                </a:solidFill>
              </a:rPr>
              <a:t>Kerner et al. (2024) checked 11 cropland maps in 8 African countries, not South Sudan.</a:t>
            </a:r>
          </a:p>
        </p:txBody>
      </p:sp>
      <p:sp>
        <p:nvSpPr>
          <p:cNvPr id="21" name="TextBox 20"/>
          <p:cNvSpPr txBox="1"/>
          <p:nvPr/>
        </p:nvSpPr>
        <p:spPr>
          <a:xfrm>
            <a:off x="630936" y="4754880"/>
            <a:ext cx="7882127" cy="274320"/>
          </a:xfrm>
          <a:prstGeom prst="rect">
            <a:avLst/>
          </a:prstGeom>
          <a:noFill/>
        </p:spPr>
        <p:txBody>
          <a:bodyPr wrap="square" lIns="45720" tIns="27432" rIns="45720" bIns="27432" anchor="t">
            <a:spAutoFit/>
          </a:bodyPr>
          <a:lstStyle/>
          <a:p>
            <a:pPr algn="l">
              <a:spcAft>
                <a:spcPts val="400"/>
              </a:spcAft>
            </a:pPr>
            <a:r>
              <a:rPr sz="900" b="0" i="0">
                <a:solidFill>
                  <a:srgbClr val="5F6368"/>
                </a:solidFill>
              </a:rPr>
              <a:t>Pacetti, Caporali &amp; Rulli (2017), Advances in Water Resources 110:494–504 (Bangladesh 2007, Pakistan 2010). Kerner et al. (2024), Scientific Data, doi:10.1038/s41597-024-03306-z.</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spcFirstLastPara="1" wrap="square" lIns="91425" tIns="91425" rIns="91425" bIns="91425" anchor="t" anchorCtr="0">
            <a:noAutofit/>
          </a:bodyPr>
          <a:lstStyle/>
          <a:p>
            <a:r>
              <a:rPr lang="en-US" dirty="0"/>
              <a:t>Methodological Angle (Poster/Report):</a:t>
            </a:r>
            <a:br/>
            <a:r>
              <a:rPr lang="en-US" dirty="0">
                <a:solidFill>
                  <a:srgbClr val="C00000"/>
                </a:solidFill>
              </a:rPr>
              <a:t>Why the problem is neglected</a:t>
            </a:r>
            <a:endParaRPr lang="en-US" dirty="0">
              <a:solidFill>
                <a:schemeClr val="accent2">
                  <a:lumMod val="75000"/>
                </a:schemeClr>
              </a:solidFill>
            </a:endParaRPr>
          </a:p>
        </p:txBody>
      </p:sp>
      <p:sp>
        <p:nvSpPr>
          <p:cNvPr id="3" name="Rounded Rectangle 2"/>
          <p:cNvSpPr/>
          <p:nvPr/>
        </p:nvSpPr>
        <p:spPr>
          <a:xfrm>
            <a:off x="630936" y="1417320"/>
            <a:ext cx="3858768" cy="146304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68096" y="1572768"/>
            <a:ext cx="384048" cy="384048"/>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1</a:t>
            </a:r>
          </a:p>
        </p:txBody>
      </p:sp>
      <p:sp>
        <p:nvSpPr>
          <p:cNvPr id="5" name="TextBox 4"/>
          <p:cNvSpPr txBox="1"/>
          <p:nvPr/>
        </p:nvSpPr>
        <p:spPr>
          <a:xfrm>
            <a:off x="1271016" y="1554480"/>
            <a:ext cx="3108960" cy="411480"/>
          </a:xfrm>
          <a:prstGeom prst="rect">
            <a:avLst/>
          </a:prstGeom>
          <a:noFill/>
        </p:spPr>
        <p:txBody>
          <a:bodyPr wrap="square" lIns="45720" tIns="27432" rIns="45720" bIns="27432" anchor="ctr">
            <a:spAutoFit/>
          </a:bodyPr>
          <a:lstStyle/>
          <a:p>
            <a:pPr algn="l">
              <a:spcAft>
                <a:spcPts val="400"/>
              </a:spcAft>
            </a:pPr>
            <a:r>
              <a:rPr sz="1500" b="1" i="0">
                <a:solidFill>
                  <a:srgbClr val="2E868F"/>
                </a:solidFill>
              </a:rPr>
              <a:t>No ground truth</a:t>
            </a:r>
          </a:p>
        </p:txBody>
      </p:sp>
      <p:sp>
        <p:nvSpPr>
          <p:cNvPr id="6" name="TextBox 5"/>
          <p:cNvSpPr txBox="1"/>
          <p:nvPr/>
        </p:nvSpPr>
        <p:spPr>
          <a:xfrm>
            <a:off x="1271016" y="1965960"/>
            <a:ext cx="3108960" cy="868680"/>
          </a:xfrm>
          <a:prstGeom prst="rect">
            <a:avLst/>
          </a:prstGeom>
          <a:noFill/>
        </p:spPr>
        <p:txBody>
          <a:bodyPr wrap="square" lIns="45720" tIns="27432" rIns="45720" bIns="27432" anchor="t">
            <a:spAutoFit/>
          </a:bodyPr>
          <a:lstStyle/>
          <a:p>
            <a:pPr algn="l">
              <a:spcAft>
                <a:spcPts val="400"/>
              </a:spcAft>
            </a:pPr>
            <a:r>
              <a:rPr sz="1200" b="0" i="0">
                <a:solidFill>
                  <a:srgbClr val="1F1F1F"/>
                </a:solidFill>
              </a:rPr>
              <a:t>Accuracy studies skip South Sudan (Kerner et al. 2024: 8 countries, none of them South Sudan). We found no accuracy figure for flooded cropland there.</a:t>
            </a:r>
          </a:p>
        </p:txBody>
      </p:sp>
      <p:sp>
        <p:nvSpPr>
          <p:cNvPr id="7" name="Rounded Rectangle 6"/>
          <p:cNvSpPr/>
          <p:nvPr/>
        </p:nvSpPr>
        <p:spPr>
          <a:xfrm>
            <a:off x="4654296" y="1417320"/>
            <a:ext cx="3858768" cy="146304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791456" y="1572768"/>
            <a:ext cx="384048" cy="384048"/>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2</a:t>
            </a:r>
          </a:p>
        </p:txBody>
      </p:sp>
      <p:sp>
        <p:nvSpPr>
          <p:cNvPr id="9" name="TextBox 8"/>
          <p:cNvSpPr txBox="1"/>
          <p:nvPr/>
        </p:nvSpPr>
        <p:spPr>
          <a:xfrm>
            <a:off x="5294376" y="1554480"/>
            <a:ext cx="3108960" cy="411480"/>
          </a:xfrm>
          <a:prstGeom prst="rect">
            <a:avLst/>
          </a:prstGeom>
          <a:noFill/>
        </p:spPr>
        <p:txBody>
          <a:bodyPr wrap="square" lIns="45720" tIns="27432" rIns="45720" bIns="27432" anchor="ctr">
            <a:spAutoFit/>
          </a:bodyPr>
          <a:lstStyle/>
          <a:p>
            <a:pPr algn="l">
              <a:spcAft>
                <a:spcPts val="400"/>
              </a:spcAft>
            </a:pPr>
            <a:r>
              <a:rPr sz="1500" b="1" i="0">
                <a:solidFill>
                  <a:srgbClr val="2E868F"/>
                </a:solidFill>
              </a:rPr>
              <a:t>Clouds in the flood season</a:t>
            </a:r>
          </a:p>
        </p:txBody>
      </p:sp>
      <p:sp>
        <p:nvSpPr>
          <p:cNvPr id="10" name="TextBox 9"/>
          <p:cNvSpPr txBox="1"/>
          <p:nvPr/>
        </p:nvSpPr>
        <p:spPr>
          <a:xfrm>
            <a:off x="5294376" y="1965960"/>
            <a:ext cx="3108960" cy="868680"/>
          </a:xfrm>
          <a:prstGeom prst="rect">
            <a:avLst/>
          </a:prstGeom>
          <a:noFill/>
        </p:spPr>
        <p:txBody>
          <a:bodyPr wrap="square" lIns="45720" tIns="27432" rIns="45720" bIns="27432" anchor="t">
            <a:spAutoFit/>
          </a:bodyPr>
          <a:lstStyle/>
          <a:p>
            <a:pPr algn="l">
              <a:spcAft>
                <a:spcPts val="400"/>
              </a:spcAft>
            </a:pPr>
            <a:r>
              <a:rPr sz="1200" b="0" i="0">
                <a:solidFill>
                  <a:srgbClr val="1F1F1F"/>
                </a:solidFill>
              </a:rPr>
              <a:t>Optical flood maps are blind in July–September, exactly when fields flood. Radar sees through clouds but is not used in the standard overlay.</a:t>
            </a:r>
          </a:p>
        </p:txBody>
      </p:sp>
      <p:sp>
        <p:nvSpPr>
          <p:cNvPr id="11" name="Rounded Rectangle 10"/>
          <p:cNvSpPr/>
          <p:nvPr/>
        </p:nvSpPr>
        <p:spPr>
          <a:xfrm>
            <a:off x="630936" y="3063240"/>
            <a:ext cx="3858768" cy="146304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68096" y="3218688"/>
            <a:ext cx="384048" cy="384048"/>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3</a:t>
            </a:r>
          </a:p>
        </p:txBody>
      </p:sp>
      <p:sp>
        <p:nvSpPr>
          <p:cNvPr id="13" name="TextBox 12"/>
          <p:cNvSpPr txBox="1"/>
          <p:nvPr/>
        </p:nvSpPr>
        <p:spPr>
          <a:xfrm>
            <a:off x="1271016" y="3200400"/>
            <a:ext cx="3108960" cy="411480"/>
          </a:xfrm>
          <a:prstGeom prst="rect">
            <a:avLst/>
          </a:prstGeom>
          <a:noFill/>
        </p:spPr>
        <p:txBody>
          <a:bodyPr wrap="square" lIns="45720" tIns="27432" rIns="45720" bIns="27432" anchor="ctr">
            <a:spAutoFit/>
          </a:bodyPr>
          <a:lstStyle/>
          <a:p>
            <a:pPr algn="l">
              <a:spcAft>
                <a:spcPts val="400"/>
              </a:spcAft>
            </a:pPr>
            <a:r>
              <a:rPr sz="1500" b="1" i="0">
                <a:solidFill>
                  <a:srgbClr val="2E868F"/>
                </a:solidFill>
              </a:rPr>
              <a:t>Small, shifting fields</a:t>
            </a:r>
          </a:p>
        </p:txBody>
      </p:sp>
      <p:sp>
        <p:nvSpPr>
          <p:cNvPr id="14" name="TextBox 13"/>
          <p:cNvSpPr txBox="1"/>
          <p:nvPr/>
        </p:nvSpPr>
        <p:spPr>
          <a:xfrm>
            <a:off x="1271016" y="3611880"/>
            <a:ext cx="3108960" cy="868680"/>
          </a:xfrm>
          <a:prstGeom prst="rect">
            <a:avLst/>
          </a:prstGeom>
          <a:noFill/>
        </p:spPr>
        <p:txBody>
          <a:bodyPr wrap="square" lIns="45720" tIns="27432" rIns="45720" bIns="27432" anchor="t">
            <a:spAutoFit/>
          </a:bodyPr>
          <a:lstStyle/>
          <a:p>
            <a:pPr algn="l">
              <a:spcAft>
                <a:spcPts val="400"/>
              </a:spcAft>
            </a:pPr>
            <a:r>
              <a:rPr sz="1200" b="0" i="0">
                <a:solidFill>
                  <a:srgbClr val="1F1F1F"/>
                </a:solidFill>
              </a:rPr>
              <a:t>Smallholder plots are small, move between years and lie fallow, so 10–30 m global maps easily miss them.</a:t>
            </a:r>
          </a:p>
        </p:txBody>
      </p:sp>
      <p:sp>
        <p:nvSpPr>
          <p:cNvPr id="15" name="Rounded Rectangle 14"/>
          <p:cNvSpPr/>
          <p:nvPr/>
        </p:nvSpPr>
        <p:spPr>
          <a:xfrm>
            <a:off x="4654296" y="3063240"/>
            <a:ext cx="3858768" cy="146304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791456" y="3218688"/>
            <a:ext cx="384048" cy="384048"/>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4</a:t>
            </a:r>
          </a:p>
        </p:txBody>
      </p:sp>
      <p:sp>
        <p:nvSpPr>
          <p:cNvPr id="17" name="TextBox 16"/>
          <p:cNvSpPr txBox="1"/>
          <p:nvPr/>
        </p:nvSpPr>
        <p:spPr>
          <a:xfrm>
            <a:off x="5294376" y="3200400"/>
            <a:ext cx="3108960" cy="411480"/>
          </a:xfrm>
          <a:prstGeom prst="rect">
            <a:avLst/>
          </a:prstGeom>
          <a:noFill/>
        </p:spPr>
        <p:txBody>
          <a:bodyPr wrap="square" lIns="45720" tIns="27432" rIns="45720" bIns="27432" anchor="ctr">
            <a:spAutoFit/>
          </a:bodyPr>
          <a:lstStyle/>
          <a:p>
            <a:pPr algn="l">
              <a:spcAft>
                <a:spcPts val="400"/>
              </a:spcAft>
            </a:pPr>
            <a:r>
              <a:rPr sz="1500" b="1" i="0">
                <a:solidFill>
                  <a:srgbClr val="2E868F"/>
                </a:solidFill>
              </a:rPr>
              <a:t>Numbers without error bars</a:t>
            </a:r>
          </a:p>
        </p:txBody>
      </p:sp>
      <p:sp>
        <p:nvSpPr>
          <p:cNvPr id="18" name="TextBox 17"/>
          <p:cNvSpPr txBox="1"/>
          <p:nvPr/>
        </p:nvSpPr>
        <p:spPr>
          <a:xfrm>
            <a:off x="5294376" y="3611880"/>
            <a:ext cx="3108960" cy="868680"/>
          </a:xfrm>
          <a:prstGeom prst="rect">
            <a:avLst/>
          </a:prstGeom>
          <a:noFill/>
        </p:spPr>
        <p:txBody>
          <a:bodyPr wrap="square" lIns="45720" tIns="27432" rIns="45720" bIns="27432" anchor="t">
            <a:spAutoFit/>
          </a:bodyPr>
          <a:lstStyle/>
          <a:p>
            <a:pPr algn="l">
              <a:spcAft>
                <a:spcPts val="400"/>
              </a:spcAft>
            </a:pPr>
            <a:r>
              <a:rPr sz="1200" b="0" i="0">
                <a:solidFill>
                  <a:srgbClr val="1F1F1F"/>
                </a:solidFill>
              </a:rPr>
              <a:t>Tools publish hectares without uncertainty; CFSAM's harvested area is computed from population and household statistics, not measured.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spcFirstLastPara="1" wrap="square" lIns="91425" tIns="91425" rIns="91425" bIns="91425" anchor="t" anchorCtr="0">
            <a:noAutofit/>
          </a:bodyPr>
          <a:lstStyle/>
          <a:p>
            <a:r>
              <a:rPr lang="en-US" dirty="0"/>
              <a:t>Methodological Angle (Poster/Report):</a:t>
            </a:r>
            <a:br/>
            <a:r>
              <a:rPr lang="en-US" dirty="0">
                <a:solidFill>
                  <a:srgbClr val="C00000"/>
                </a:solidFill>
              </a:rPr>
              <a:t>What unreliable data costs</a:t>
            </a:r>
            <a:endParaRPr lang="en-US" dirty="0">
              <a:solidFill>
                <a:schemeClr val="accent2">
                  <a:lumMod val="75000"/>
                </a:schemeClr>
              </a:solidFill>
            </a:endParaRPr>
          </a:p>
        </p:txBody>
      </p:sp>
      <p:sp>
        <p:nvSpPr>
          <p:cNvPr id="3" name="TextBox 2"/>
          <p:cNvSpPr txBox="1"/>
          <p:nvPr/>
        </p:nvSpPr>
        <p:spPr>
          <a:xfrm>
            <a:off x="630936" y="1371600"/>
            <a:ext cx="2514600" cy="731520"/>
          </a:xfrm>
          <a:prstGeom prst="rect">
            <a:avLst/>
          </a:prstGeom>
          <a:noFill/>
        </p:spPr>
        <p:txBody>
          <a:bodyPr wrap="square" lIns="45720" tIns="27432" rIns="45720" bIns="27432" anchor="t">
            <a:spAutoFit/>
          </a:bodyPr>
          <a:lstStyle/>
          <a:p>
            <a:pPr algn="l">
              <a:spcAft>
                <a:spcPts val="400"/>
              </a:spcAft>
            </a:pPr>
            <a:r>
              <a:rPr sz="4000" b="1" i="0">
                <a:solidFill>
                  <a:srgbClr val="C00000"/>
                </a:solidFill>
              </a:rPr>
              <a:t>35×</a:t>
            </a:r>
          </a:p>
        </p:txBody>
      </p:sp>
      <p:sp>
        <p:nvSpPr>
          <p:cNvPr id="4" name="TextBox 3"/>
          <p:cNvSpPr txBox="1"/>
          <p:nvPr/>
        </p:nvSpPr>
        <p:spPr>
          <a:xfrm>
            <a:off x="630936" y="2103120"/>
            <a:ext cx="2514600" cy="731520"/>
          </a:xfrm>
          <a:prstGeom prst="rect">
            <a:avLst/>
          </a:prstGeom>
          <a:noFill/>
        </p:spPr>
        <p:txBody>
          <a:bodyPr wrap="square" lIns="45720" tIns="27432" rIns="45720" bIns="27432" anchor="t">
            <a:spAutoFit/>
          </a:bodyPr>
          <a:lstStyle/>
          <a:p>
            <a:pPr algn="l">
              <a:spcAft>
                <a:spcPts val="400"/>
              </a:spcAft>
            </a:pPr>
            <a:r>
              <a:rPr sz="1300" b="1" i="0">
                <a:solidFill>
                  <a:srgbClr val="1F1F1F"/>
                </a:solidFill>
              </a:rPr>
              <a:t>less flooded cropland in the standard overlay than CFSAM reports</a:t>
            </a:r>
          </a:p>
        </p:txBody>
      </p:sp>
      <p:sp>
        <p:nvSpPr>
          <p:cNvPr id="5" name="TextBox 4"/>
          <p:cNvSpPr txBox="1"/>
          <p:nvPr/>
        </p:nvSpPr>
        <p:spPr>
          <a:xfrm>
            <a:off x="630936" y="2788920"/>
            <a:ext cx="2514600" cy="685800"/>
          </a:xfrm>
          <a:prstGeom prst="rect">
            <a:avLst/>
          </a:prstGeom>
          <a:noFill/>
        </p:spPr>
        <p:txBody>
          <a:bodyPr wrap="square" lIns="45720" tIns="27432" rIns="45720" bIns="27432" anchor="t">
            <a:spAutoFit/>
          </a:bodyPr>
          <a:lstStyle/>
          <a:p>
            <a:pPr algn="l">
              <a:spcAft>
                <a:spcPts val="400"/>
              </a:spcAft>
            </a:pPr>
            <a:r>
              <a:rPr sz="1000" b="0" i="0">
                <a:solidFill>
                  <a:srgbClr val="5F6368"/>
                </a:solidFill>
              </a:rPr>
              <a:t>South Sudan, Jun–Nov 2022: flood masks × ASAP ≈ 3,700 ha vs 130,000 ha damaged</a:t>
            </a:r>
          </a:p>
        </p:txBody>
      </p:sp>
      <p:sp>
        <p:nvSpPr>
          <p:cNvPr id="6" name="TextBox 5"/>
          <p:cNvSpPr txBox="1"/>
          <p:nvPr/>
        </p:nvSpPr>
        <p:spPr>
          <a:xfrm>
            <a:off x="3310128" y="1371600"/>
            <a:ext cx="2514600" cy="731520"/>
          </a:xfrm>
          <a:prstGeom prst="rect">
            <a:avLst/>
          </a:prstGeom>
          <a:noFill/>
        </p:spPr>
        <p:txBody>
          <a:bodyPr wrap="square" lIns="45720" tIns="27432" rIns="45720" bIns="27432" anchor="t">
            <a:spAutoFit/>
          </a:bodyPr>
          <a:lstStyle/>
          <a:p>
            <a:pPr algn="l">
              <a:spcAft>
                <a:spcPts val="400"/>
              </a:spcAft>
            </a:pPr>
            <a:r>
              <a:rPr sz="4000" b="1" i="0">
                <a:solidFill>
                  <a:srgbClr val="C00000"/>
                </a:solidFill>
              </a:rPr>
              <a:t>0 ha</a:t>
            </a:r>
          </a:p>
        </p:txBody>
      </p:sp>
      <p:sp>
        <p:nvSpPr>
          <p:cNvPr id="7" name="TextBox 6"/>
          <p:cNvSpPr txBox="1"/>
          <p:nvPr/>
        </p:nvSpPr>
        <p:spPr>
          <a:xfrm>
            <a:off x="3310128" y="2103120"/>
            <a:ext cx="2514600" cy="731520"/>
          </a:xfrm>
          <a:prstGeom prst="rect">
            <a:avLst/>
          </a:prstGeom>
          <a:noFill/>
        </p:spPr>
        <p:txBody>
          <a:bodyPr wrap="square" lIns="45720" tIns="27432" rIns="45720" bIns="27432" anchor="t">
            <a:spAutoFit/>
          </a:bodyPr>
          <a:lstStyle/>
          <a:p>
            <a:pPr algn="l">
              <a:spcAft>
                <a:spcPts val="400"/>
              </a:spcAft>
            </a:pPr>
            <a:r>
              <a:rPr sz="1300" b="1" i="0">
                <a:solidFill>
                  <a:srgbClr val="1F1F1F"/>
                </a:solidFill>
              </a:rPr>
              <a:t>flooded cropland ever detected in Bor South</a:t>
            </a:r>
          </a:p>
        </p:txBody>
      </p:sp>
      <p:sp>
        <p:nvSpPr>
          <p:cNvPr id="8" name="TextBox 7"/>
          <p:cNvSpPr txBox="1"/>
          <p:nvPr/>
        </p:nvSpPr>
        <p:spPr>
          <a:xfrm>
            <a:off x="3310128" y="2788920"/>
            <a:ext cx="2514600" cy="685800"/>
          </a:xfrm>
          <a:prstGeom prst="rect">
            <a:avLst/>
          </a:prstGeom>
          <a:noFill/>
        </p:spPr>
        <p:txBody>
          <a:bodyPr wrap="square" lIns="45720" tIns="27432" rIns="45720" bIns="27432" anchor="t">
            <a:spAutoFit/>
          </a:bodyPr>
          <a:lstStyle/>
          <a:p>
            <a:pPr algn="l">
              <a:spcAft>
                <a:spcPts val="400"/>
              </a:spcAft>
            </a:pPr>
            <a:r>
              <a:rPr sz="1000" b="0" i="0">
                <a:solidFill>
                  <a:srgbClr val="5F6368"/>
                </a:solidFill>
              </a:rPr>
              <a:t>flood masks × ASAP, every season checked, in an area ZOA names as flood-prone (Q&amp;A 2, slide 3)</a:t>
            </a:r>
          </a:p>
        </p:txBody>
      </p:sp>
      <p:sp>
        <p:nvSpPr>
          <p:cNvPr id="9" name="TextBox 8"/>
          <p:cNvSpPr txBox="1"/>
          <p:nvPr/>
        </p:nvSpPr>
        <p:spPr>
          <a:xfrm>
            <a:off x="5989320" y="1371600"/>
            <a:ext cx="2514600" cy="731520"/>
          </a:xfrm>
          <a:prstGeom prst="rect">
            <a:avLst/>
          </a:prstGeom>
          <a:noFill/>
        </p:spPr>
        <p:txBody>
          <a:bodyPr wrap="square" lIns="45720" tIns="27432" rIns="45720" bIns="27432" anchor="t">
            <a:spAutoFit/>
          </a:bodyPr>
          <a:lstStyle/>
          <a:p>
            <a:pPr algn="l">
              <a:spcAft>
                <a:spcPts val="400"/>
              </a:spcAft>
            </a:pPr>
            <a:r>
              <a:rPr sz="4000" b="1" i="0">
                <a:solidFill>
                  <a:srgbClr val="C00000"/>
                </a:solidFill>
              </a:rPr>
              <a:t>70 / 77</a:t>
            </a:r>
          </a:p>
        </p:txBody>
      </p:sp>
      <p:sp>
        <p:nvSpPr>
          <p:cNvPr id="10" name="TextBox 9"/>
          <p:cNvSpPr txBox="1"/>
          <p:nvPr/>
        </p:nvSpPr>
        <p:spPr>
          <a:xfrm>
            <a:off x="5989320" y="2103120"/>
            <a:ext cx="2514600" cy="731520"/>
          </a:xfrm>
          <a:prstGeom prst="rect">
            <a:avLst/>
          </a:prstGeom>
          <a:noFill/>
        </p:spPr>
        <p:txBody>
          <a:bodyPr wrap="square" lIns="45720" tIns="27432" rIns="45720" bIns="27432" anchor="t">
            <a:spAutoFit/>
          </a:bodyPr>
          <a:lstStyle/>
          <a:p>
            <a:pPr algn="l">
              <a:spcAft>
                <a:spcPts val="400"/>
              </a:spcAft>
            </a:pPr>
            <a:r>
              <a:rPr sz="1300" b="1" i="0">
                <a:solidFill>
                  <a:srgbClr val="1F1F1F"/>
                </a:solidFill>
              </a:rPr>
              <a:t>counties where the ASAP cropland map is below CFSAM's harvested area</a:t>
            </a:r>
          </a:p>
        </p:txBody>
      </p:sp>
      <p:sp>
        <p:nvSpPr>
          <p:cNvPr id="11" name="TextBox 10"/>
          <p:cNvSpPr txBox="1"/>
          <p:nvPr/>
        </p:nvSpPr>
        <p:spPr>
          <a:xfrm>
            <a:off x="5989320" y="2788920"/>
            <a:ext cx="2514600" cy="685800"/>
          </a:xfrm>
          <a:prstGeom prst="rect">
            <a:avLst/>
          </a:prstGeom>
          <a:noFill/>
        </p:spPr>
        <p:txBody>
          <a:bodyPr wrap="square" lIns="45720" tIns="27432" rIns="45720" bIns="27432" anchor="t">
            <a:spAutoFit/>
          </a:bodyPr>
          <a:lstStyle/>
          <a:p>
            <a:pPr algn="l">
              <a:spcAft>
                <a:spcPts val="400"/>
              </a:spcAft>
            </a:pPr>
            <a:r>
              <a:rPr sz="1000" b="0" i="0">
                <a:solidFill>
                  <a:srgbClr val="5F6368"/>
                </a:solidFill>
              </a:rPr>
              <a:t>national: ≈407,000 ha mapped vs 1.03–1.18 million ha harvested</a:t>
            </a:r>
          </a:p>
        </p:txBody>
      </p:sp>
      <p:sp>
        <p:nvSpPr>
          <p:cNvPr id="12" name="Rounded Rectangle 11"/>
          <p:cNvSpPr/>
          <p:nvPr/>
        </p:nvSpPr>
        <p:spPr>
          <a:xfrm>
            <a:off x="630936" y="3520440"/>
            <a:ext cx="7882127" cy="114300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3584448"/>
            <a:ext cx="7589520" cy="320040"/>
          </a:xfrm>
          <a:prstGeom prst="rect">
            <a:avLst/>
          </a:prstGeom>
          <a:noFill/>
        </p:spPr>
        <p:txBody>
          <a:bodyPr wrap="square" lIns="45720" tIns="27432" rIns="45720" bIns="27432" anchor="t">
            <a:spAutoFit/>
          </a:bodyPr>
          <a:lstStyle/>
          <a:p>
            <a:pPr algn="l">
              <a:spcAft>
                <a:spcPts val="400"/>
              </a:spcAft>
            </a:pPr>
            <a:r>
              <a:rPr sz="1400" b="1" i="0">
                <a:solidFill>
                  <a:srgbClr val="2E868F"/>
                </a:solidFill>
              </a:rPr>
              <a:t>What that means for anticipatory action</a:t>
            </a:r>
          </a:p>
        </p:txBody>
      </p:sp>
      <p:sp>
        <p:nvSpPr>
          <p:cNvPr id="14" name="TextBox 13"/>
          <p:cNvSpPr txBox="1"/>
          <p:nvPr/>
        </p:nvSpPr>
        <p:spPr>
          <a:xfrm>
            <a:off x="777240" y="3913632"/>
            <a:ext cx="7589520" cy="777240"/>
          </a:xfrm>
          <a:prstGeom prst="rect">
            <a:avLst/>
          </a:prstGeom>
          <a:noFill/>
        </p:spPr>
        <p:txBody>
          <a:bodyPr wrap="square" lIns="45720" rIns="45720">
            <a:spAutoFit/>
          </a:bodyPr>
          <a:lstStyle/>
          <a:p>
            <a:pPr marL="228600" indent="-228600">
              <a:spcAft>
                <a:spcPts val="300"/>
              </a:spcAft>
              <a:buChar char="•"/>
            </a:pPr>
            <a:r>
              <a:rPr sz="1200">
                <a:solidFill>
                  <a:srgbClr val="1F1F1F"/>
                </a:solidFill>
              </a:rPr>
              <a:t>A trigger on “flood inundates cropland” would rarely fire, even in seasons when harvests are lost.</a:t>
            </a:r>
          </a:p>
          <a:p>
            <a:pPr marL="228600" indent="-228600">
              <a:spcAft>
                <a:spcPts val="300"/>
              </a:spcAft>
              <a:buChar char="•"/>
            </a:pPr>
            <a:r>
              <a:rPr sz="1200">
                <a:solidFill>
                  <a:srgbClr val="1F1F1F"/>
                </a:solidFill>
              </a:rPr>
              <a:t>Aid follows the data, not the damage; and figures without uncertainty look more precise than they are.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CE3F9A69-B7BD-19E0-8757-0D9FB0660235}"/>
            </a:ext>
          </a:extLst>
        </p:cNvPr>
        <p:cNvGrpSpPr/>
        <p:nvPr/>
      </p:nvGrpSpPr>
      <p:grpSpPr>
        <a:xfrm>
          <a:off x="0" y="0"/>
          <a:ext cx="0" cy="0"/>
          <a:chOff x="0" y="0"/>
          <a:chExt cx="0" cy="0"/>
        </a:xfrm>
      </p:grpSpPr>
      <p:sp>
        <p:nvSpPr>
          <p:cNvPr id="258" name="Google Shape;258;p36">
            <a:extLst>
              <a:ext uri="{FF2B5EF4-FFF2-40B4-BE49-F238E27FC236}">
                <a16:creationId xmlns:a16="http://schemas.microsoft.com/office/drawing/2014/main" id="{106681BB-F2CD-829B-6230-55CA2E24F067}"/>
              </a:ext>
            </a:extLst>
          </p:cNvPr>
          <p:cNvSpPr txBox="1">
            <a:spLocks noGrp="1"/>
          </p:cNvSpPr>
          <p:nvPr>
            <p:ph type="title"/>
          </p:nvPr>
        </p:nvSpPr>
        <p:spPr>
          <a:xfrm>
            <a:off x="628650" y="273844"/>
            <a:ext cx="7886700" cy="994172"/>
          </a:xfrm>
        </p:spPr>
        <p:txBody>
          <a:bodyPr spcFirstLastPara="1" wrap="square" lIns="91425" tIns="91425" rIns="91425" bIns="91425" anchor="t" anchorCtr="0">
            <a:noAutofit/>
          </a:bodyPr>
          <a:lstStyle/>
          <a:p>
            <a:r>
              <a:rPr lang="en-US" dirty="0"/>
              <a:t>Methodological Angle (Poster/Report): </a:t>
            </a:r>
            <a:r>
              <a:rPr lang="en-US" dirty="0">
                <a:solidFill>
                  <a:srgbClr val="C00000"/>
                </a:solidFill>
              </a:rPr>
              <a:t>Progress and Results</a:t>
            </a:r>
            <a:endParaRPr lang="en-US" dirty="0">
              <a:solidFill>
                <a:schemeClr val="accent2">
                  <a:lumMod val="75000"/>
                </a:schemeClr>
              </a:solidFill>
            </a:endParaRPr>
          </a:p>
        </p:txBody>
      </p:sp>
      <p:sp>
        <p:nvSpPr>
          <p:cNvPr id="259" name="Oval 258"/>
          <p:cNvSpPr/>
          <p:nvPr/>
        </p:nvSpPr>
        <p:spPr>
          <a:xfrm>
            <a:off x="1133856" y="1508760"/>
            <a:ext cx="457200" cy="457200"/>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1</a:t>
            </a:r>
          </a:p>
        </p:txBody>
      </p:sp>
      <p:cxnSp>
        <p:nvCxnSpPr>
          <p:cNvPr id="260" name="Connector 259"/>
          <p:cNvCxnSpPr/>
          <p:nvPr/>
        </p:nvCxnSpPr>
        <p:spPr>
          <a:xfrm>
            <a:off x="1636776" y="1737360"/>
            <a:ext cx="1051560" cy="0"/>
          </a:xfrm>
          <a:prstGeom prst="line">
            <a:avLst/>
          </a:prstGeom>
          <a:ln w="25400">
            <a:solidFill>
              <a:srgbClr val="9A9A9A"/>
            </a:solidFill>
            <a:tailEnd type="triangle"/>
          </a:ln>
        </p:spPr>
        <p:style>
          <a:lnRef idx="2">
            <a:schemeClr val="accent1"/>
          </a:lnRef>
          <a:fillRef idx="0">
            <a:schemeClr val="accent1"/>
          </a:fillRef>
          <a:effectRef idx="1">
            <a:schemeClr val="accent1"/>
          </a:effectRef>
          <a:fontRef idx="minor">
            <a:schemeClr val="tx1"/>
          </a:fontRef>
        </p:style>
      </p:cxnSp>
      <p:sp>
        <p:nvSpPr>
          <p:cNvPr id="261" name="TextBox 260"/>
          <p:cNvSpPr txBox="1"/>
          <p:nvPr/>
        </p:nvSpPr>
        <p:spPr>
          <a:xfrm>
            <a:off x="630936" y="2057400"/>
            <a:ext cx="1481328" cy="365760"/>
          </a:xfrm>
          <a:prstGeom prst="rect">
            <a:avLst/>
          </a:prstGeom>
          <a:noFill/>
        </p:spPr>
        <p:txBody>
          <a:bodyPr wrap="square" lIns="45720" tIns="27432" rIns="45720" bIns="27432" anchor="t">
            <a:spAutoFit/>
          </a:bodyPr>
          <a:lstStyle/>
          <a:p>
            <a:pPr algn="ctr">
              <a:spcAft>
                <a:spcPts val="400"/>
              </a:spcAft>
            </a:pPr>
            <a:r>
              <a:rPr sz="1500" b="1" i="0">
                <a:solidFill>
                  <a:srgbClr val="2E868F"/>
                </a:solidFill>
              </a:rPr>
              <a:t>Collect</a:t>
            </a:r>
          </a:p>
        </p:txBody>
      </p:sp>
      <p:sp>
        <p:nvSpPr>
          <p:cNvPr id="262" name="TextBox 261"/>
          <p:cNvSpPr txBox="1"/>
          <p:nvPr/>
        </p:nvSpPr>
        <p:spPr>
          <a:xfrm>
            <a:off x="630936" y="2423160"/>
            <a:ext cx="1481328" cy="1188720"/>
          </a:xfrm>
          <a:prstGeom prst="rect">
            <a:avLst/>
          </a:prstGeom>
          <a:noFill/>
        </p:spPr>
        <p:txBody>
          <a:bodyPr wrap="square" lIns="45720" tIns="27432" rIns="45720" bIns="27432" anchor="t">
            <a:spAutoFit/>
          </a:bodyPr>
          <a:lstStyle/>
          <a:p>
            <a:pPr algn="ctr">
              <a:spcAft>
                <a:spcPts val="400"/>
              </a:spcAft>
            </a:pPr>
            <a:r>
              <a:rPr sz="1100" b="0" i="0">
                <a:solidFill>
                  <a:srgbClr val="1F1F1F"/>
                </a:solidFill>
              </a:rPr>
              <a:t>11 public datasets: 7 cropland maps, flood, terrain, buildings</a:t>
            </a:r>
          </a:p>
        </p:txBody>
      </p:sp>
      <p:sp>
        <p:nvSpPr>
          <p:cNvPr id="263" name="Oval 262"/>
          <p:cNvSpPr/>
          <p:nvPr/>
        </p:nvSpPr>
        <p:spPr>
          <a:xfrm>
            <a:off x="2734056" y="1508760"/>
            <a:ext cx="457200" cy="457200"/>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2</a:t>
            </a:r>
          </a:p>
        </p:txBody>
      </p:sp>
      <p:cxnSp>
        <p:nvCxnSpPr>
          <p:cNvPr id="264" name="Connector 263"/>
          <p:cNvCxnSpPr/>
          <p:nvPr/>
        </p:nvCxnSpPr>
        <p:spPr>
          <a:xfrm>
            <a:off x="3236976" y="1737360"/>
            <a:ext cx="1051560" cy="0"/>
          </a:xfrm>
          <a:prstGeom prst="line">
            <a:avLst/>
          </a:prstGeom>
          <a:ln w="25400">
            <a:solidFill>
              <a:srgbClr val="9A9A9A"/>
            </a:solidFill>
            <a:tailEnd type="triangle"/>
          </a:ln>
        </p:spPr>
        <p:style>
          <a:lnRef idx="2">
            <a:schemeClr val="accent1"/>
          </a:lnRef>
          <a:fillRef idx="0">
            <a:schemeClr val="accent1"/>
          </a:fillRef>
          <a:effectRef idx="1">
            <a:schemeClr val="accent1"/>
          </a:effectRef>
          <a:fontRef idx="minor">
            <a:schemeClr val="tx1"/>
          </a:fontRef>
        </p:style>
      </p:cxnSp>
      <p:sp>
        <p:nvSpPr>
          <p:cNvPr id="265" name="TextBox 264"/>
          <p:cNvSpPr txBox="1"/>
          <p:nvPr/>
        </p:nvSpPr>
        <p:spPr>
          <a:xfrm>
            <a:off x="2231136" y="2057400"/>
            <a:ext cx="1481328" cy="365760"/>
          </a:xfrm>
          <a:prstGeom prst="rect">
            <a:avLst/>
          </a:prstGeom>
          <a:noFill/>
        </p:spPr>
        <p:txBody>
          <a:bodyPr wrap="square" lIns="45720" tIns="27432" rIns="45720" bIns="27432" anchor="t">
            <a:spAutoFit/>
          </a:bodyPr>
          <a:lstStyle/>
          <a:p>
            <a:pPr algn="ctr">
              <a:spcAft>
                <a:spcPts val="400"/>
              </a:spcAft>
            </a:pPr>
            <a:r>
              <a:rPr sz="1500" b="1" i="0">
                <a:solidFill>
                  <a:srgbClr val="2E868F"/>
                </a:solidFill>
              </a:rPr>
              <a:t>Align</a:t>
            </a:r>
          </a:p>
        </p:txBody>
      </p:sp>
      <p:sp>
        <p:nvSpPr>
          <p:cNvPr id="266" name="TextBox 265"/>
          <p:cNvSpPr txBox="1"/>
          <p:nvPr/>
        </p:nvSpPr>
        <p:spPr>
          <a:xfrm>
            <a:off x="2231136" y="2423160"/>
            <a:ext cx="1481328" cy="1188720"/>
          </a:xfrm>
          <a:prstGeom prst="rect">
            <a:avLst/>
          </a:prstGeom>
          <a:noFill/>
        </p:spPr>
        <p:txBody>
          <a:bodyPr wrap="square" lIns="45720" tIns="27432" rIns="45720" bIns="27432" anchor="t">
            <a:spAutoFit/>
          </a:bodyPr>
          <a:lstStyle/>
          <a:p>
            <a:pPr algn="ctr">
              <a:spcAft>
                <a:spcPts val="400"/>
              </a:spcAft>
            </a:pPr>
            <a:r>
              <a:rPr sz="1100" b="0" i="0">
                <a:solidFill>
                  <a:srgbClr val="1F1F1F"/>
                </a:solidFill>
              </a:rPr>
              <a:t>one Sentinel-2-aligned 10 / 30 m grid for Aweil and Bor South</a:t>
            </a:r>
          </a:p>
        </p:txBody>
      </p:sp>
      <p:sp>
        <p:nvSpPr>
          <p:cNvPr id="267" name="Oval 266"/>
          <p:cNvSpPr/>
          <p:nvPr/>
        </p:nvSpPr>
        <p:spPr>
          <a:xfrm>
            <a:off x="4334255" y="1508760"/>
            <a:ext cx="457200" cy="457200"/>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3</a:t>
            </a:r>
          </a:p>
        </p:txBody>
      </p:sp>
      <p:cxnSp>
        <p:nvCxnSpPr>
          <p:cNvPr id="268" name="Connector 267"/>
          <p:cNvCxnSpPr/>
          <p:nvPr/>
        </p:nvCxnSpPr>
        <p:spPr>
          <a:xfrm>
            <a:off x="4837175" y="1737360"/>
            <a:ext cx="1051561" cy="0"/>
          </a:xfrm>
          <a:prstGeom prst="line">
            <a:avLst/>
          </a:prstGeom>
          <a:ln w="25400">
            <a:solidFill>
              <a:srgbClr val="9A9A9A"/>
            </a:solidFill>
            <a:tailEnd type="triangle"/>
          </a:ln>
        </p:spPr>
        <p:style>
          <a:lnRef idx="2">
            <a:schemeClr val="accent1"/>
          </a:lnRef>
          <a:fillRef idx="0">
            <a:schemeClr val="accent1"/>
          </a:fillRef>
          <a:effectRef idx="1">
            <a:schemeClr val="accent1"/>
          </a:effectRef>
          <a:fontRef idx="minor">
            <a:schemeClr val="tx1"/>
          </a:fontRef>
        </p:style>
      </p:cxnSp>
      <p:sp>
        <p:nvSpPr>
          <p:cNvPr id="269" name="TextBox 268"/>
          <p:cNvSpPr txBox="1"/>
          <p:nvPr/>
        </p:nvSpPr>
        <p:spPr>
          <a:xfrm>
            <a:off x="3831335" y="2057400"/>
            <a:ext cx="1481328" cy="365760"/>
          </a:xfrm>
          <a:prstGeom prst="rect">
            <a:avLst/>
          </a:prstGeom>
          <a:noFill/>
        </p:spPr>
        <p:txBody>
          <a:bodyPr wrap="square" lIns="45720" tIns="27432" rIns="45720" bIns="27432" anchor="t">
            <a:spAutoFit/>
          </a:bodyPr>
          <a:lstStyle/>
          <a:p>
            <a:pPr algn="ctr">
              <a:spcAft>
                <a:spcPts val="400"/>
              </a:spcAft>
            </a:pPr>
            <a:r>
              <a:rPr sz="1500" b="1" i="0">
                <a:solidFill>
                  <a:srgbClr val="2E868F"/>
                </a:solidFill>
              </a:rPr>
              <a:t>Check</a:t>
            </a:r>
          </a:p>
        </p:txBody>
      </p:sp>
      <p:sp>
        <p:nvSpPr>
          <p:cNvPr id="270" name="TextBox 269"/>
          <p:cNvSpPr txBox="1"/>
          <p:nvPr/>
        </p:nvSpPr>
        <p:spPr>
          <a:xfrm>
            <a:off x="3831335" y="2423160"/>
            <a:ext cx="1481328" cy="1188720"/>
          </a:xfrm>
          <a:prstGeom prst="rect">
            <a:avLst/>
          </a:prstGeom>
          <a:noFill/>
        </p:spPr>
        <p:txBody>
          <a:bodyPr wrap="square" lIns="45720" tIns="27432" rIns="45720" bIns="27432" anchor="t">
            <a:spAutoFit/>
          </a:bodyPr>
          <a:lstStyle/>
          <a:p>
            <a:pPr algn="ctr">
              <a:spcAft>
                <a:spcPts val="400"/>
              </a:spcAft>
            </a:pPr>
            <a:r>
              <a:rPr sz="1100" b="0" i="0">
                <a:solidFill>
                  <a:srgbClr val="1F1F1F"/>
                </a:solidFill>
              </a:rPr>
              <a:t>codes verified on the pixels; manifest with sources and checksums</a:t>
            </a:r>
          </a:p>
        </p:txBody>
      </p:sp>
      <p:sp>
        <p:nvSpPr>
          <p:cNvPr id="271" name="Oval 270"/>
          <p:cNvSpPr/>
          <p:nvPr/>
        </p:nvSpPr>
        <p:spPr>
          <a:xfrm>
            <a:off x="5934455" y="1508760"/>
            <a:ext cx="457200" cy="457200"/>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4</a:t>
            </a:r>
          </a:p>
        </p:txBody>
      </p:sp>
      <p:cxnSp>
        <p:nvCxnSpPr>
          <p:cNvPr id="272" name="Connector 271"/>
          <p:cNvCxnSpPr/>
          <p:nvPr/>
        </p:nvCxnSpPr>
        <p:spPr>
          <a:xfrm>
            <a:off x="6437375" y="1737360"/>
            <a:ext cx="1051561" cy="0"/>
          </a:xfrm>
          <a:prstGeom prst="line">
            <a:avLst/>
          </a:prstGeom>
          <a:ln w="25400">
            <a:solidFill>
              <a:srgbClr val="9A9A9A"/>
            </a:solidFill>
            <a:tailEnd type="triangle"/>
          </a:ln>
        </p:spPr>
        <p:style>
          <a:lnRef idx="2">
            <a:schemeClr val="accent1"/>
          </a:lnRef>
          <a:fillRef idx="0">
            <a:schemeClr val="accent1"/>
          </a:fillRef>
          <a:effectRef idx="1">
            <a:schemeClr val="accent1"/>
          </a:effectRef>
          <a:fontRef idx="minor">
            <a:schemeClr val="tx1"/>
          </a:fontRef>
        </p:style>
      </p:cxnSp>
      <p:sp>
        <p:nvSpPr>
          <p:cNvPr id="273" name="TextBox 272"/>
          <p:cNvSpPr txBox="1"/>
          <p:nvPr/>
        </p:nvSpPr>
        <p:spPr>
          <a:xfrm>
            <a:off x="5431536" y="2057400"/>
            <a:ext cx="1481328" cy="365760"/>
          </a:xfrm>
          <a:prstGeom prst="rect">
            <a:avLst/>
          </a:prstGeom>
          <a:noFill/>
        </p:spPr>
        <p:txBody>
          <a:bodyPr wrap="square" lIns="45720" tIns="27432" rIns="45720" bIns="27432" anchor="t">
            <a:spAutoFit/>
          </a:bodyPr>
          <a:lstStyle/>
          <a:p>
            <a:pPr algn="ctr">
              <a:spcAft>
                <a:spcPts val="400"/>
              </a:spcAft>
            </a:pPr>
            <a:r>
              <a:rPr sz="1500" b="1" i="0">
                <a:solidFill>
                  <a:srgbClr val="2E868F"/>
                </a:solidFill>
              </a:rPr>
              <a:t>Compare</a:t>
            </a:r>
          </a:p>
        </p:txBody>
      </p:sp>
      <p:sp>
        <p:nvSpPr>
          <p:cNvPr id="274" name="TextBox 273"/>
          <p:cNvSpPr txBox="1"/>
          <p:nvPr/>
        </p:nvSpPr>
        <p:spPr>
          <a:xfrm>
            <a:off x="5431536" y="2423160"/>
            <a:ext cx="1481328" cy="1188720"/>
          </a:xfrm>
          <a:prstGeom prst="rect">
            <a:avLst/>
          </a:prstGeom>
          <a:noFill/>
        </p:spPr>
        <p:txBody>
          <a:bodyPr wrap="square" lIns="45720" tIns="27432" rIns="45720" bIns="27432" anchor="t">
            <a:spAutoFit/>
          </a:bodyPr>
          <a:lstStyle/>
          <a:p>
            <a:pPr algn="ctr">
              <a:spcAft>
                <a:spcPts val="400"/>
              </a:spcAft>
            </a:pPr>
            <a:r>
              <a:rPr sz="1100" b="0" i="0">
                <a:solidFill>
                  <a:srgbClr val="1F1F1F"/>
                </a:solidFill>
              </a:rPr>
              <a:t>map-to-map agreement per county</a:t>
            </a:r>
          </a:p>
        </p:txBody>
      </p:sp>
      <p:sp>
        <p:nvSpPr>
          <p:cNvPr id="275" name="Oval 274"/>
          <p:cNvSpPr/>
          <p:nvPr/>
        </p:nvSpPr>
        <p:spPr>
          <a:xfrm>
            <a:off x="7534656" y="1508760"/>
            <a:ext cx="457200" cy="457200"/>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5</a:t>
            </a:r>
          </a:p>
        </p:txBody>
      </p:sp>
      <p:sp>
        <p:nvSpPr>
          <p:cNvPr id="276" name="TextBox 275"/>
          <p:cNvSpPr txBox="1"/>
          <p:nvPr/>
        </p:nvSpPr>
        <p:spPr>
          <a:xfrm>
            <a:off x="7031736" y="2057400"/>
            <a:ext cx="1481328" cy="365760"/>
          </a:xfrm>
          <a:prstGeom prst="rect">
            <a:avLst/>
          </a:prstGeom>
          <a:noFill/>
        </p:spPr>
        <p:txBody>
          <a:bodyPr wrap="square" lIns="45720" tIns="27432" rIns="45720" bIns="27432" anchor="t">
            <a:spAutoFit/>
          </a:bodyPr>
          <a:lstStyle/>
          <a:p>
            <a:pPr algn="ctr">
              <a:spcAft>
                <a:spcPts val="400"/>
              </a:spcAft>
            </a:pPr>
            <a:r>
              <a:rPr sz="1500" b="1" i="0">
                <a:solidFill>
                  <a:srgbClr val="2E868F"/>
                </a:solidFill>
              </a:rPr>
              <a:t>Stratify</a:t>
            </a:r>
          </a:p>
        </p:txBody>
      </p:sp>
      <p:sp>
        <p:nvSpPr>
          <p:cNvPr id="277" name="TextBox 276"/>
          <p:cNvSpPr txBox="1"/>
          <p:nvPr/>
        </p:nvSpPr>
        <p:spPr>
          <a:xfrm>
            <a:off x="7031736" y="2423160"/>
            <a:ext cx="1481328" cy="1188720"/>
          </a:xfrm>
          <a:prstGeom prst="rect">
            <a:avLst/>
          </a:prstGeom>
          <a:noFill/>
        </p:spPr>
        <p:txBody>
          <a:bodyPr wrap="square" lIns="45720" tIns="27432" rIns="45720" bIns="27432" anchor="t">
            <a:spAutoFit/>
          </a:bodyPr>
          <a:lstStyle/>
          <a:p>
            <a:pPr algn="ctr">
              <a:spcAft>
                <a:spcPts val="400"/>
              </a:spcAft>
            </a:pPr>
            <a:r>
              <a:rPr sz="1100" b="0" i="0">
                <a:solidFill>
                  <a:srgbClr val="1F1F1F"/>
                </a:solidFill>
              </a:rPr>
              <a:t>strata for the blind sample (maps saying crop × distance to homes)</a:t>
            </a:r>
          </a:p>
        </p:txBody>
      </p:sp>
      <p:sp>
        <p:nvSpPr>
          <p:cNvPr id="278" name="Rounded Rectangle 277"/>
          <p:cNvSpPr/>
          <p:nvPr/>
        </p:nvSpPr>
        <p:spPr>
          <a:xfrm>
            <a:off x="630936" y="3657600"/>
            <a:ext cx="7882127" cy="96012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TextBox 278"/>
          <p:cNvSpPr txBox="1"/>
          <p:nvPr/>
        </p:nvSpPr>
        <p:spPr>
          <a:xfrm>
            <a:off x="777240" y="3721608"/>
            <a:ext cx="7589520" cy="868680"/>
          </a:xfrm>
          <a:prstGeom prst="rect">
            <a:avLst/>
          </a:prstGeom>
          <a:noFill/>
        </p:spPr>
        <p:txBody>
          <a:bodyPr wrap="square" lIns="45720" tIns="27432" rIns="45720" bIns="27432" anchor="t">
            <a:spAutoFit/>
          </a:bodyPr>
          <a:lstStyle/>
          <a:p>
            <a:pPr algn="l">
              <a:spcAft>
                <a:spcPts val="400"/>
              </a:spcAft>
            </a:pPr>
            <a:r>
              <a:rPr sz="1300" b="1" i="0">
                <a:solidFill>
                  <a:srgbClr val="1F1F1F"/>
                </a:solidFill>
              </a:rPr>
              <a:t>Done this sprint: steps 1–4 for both areas, scripted and re-runnable.</a:t>
            </a:r>
          </a:p>
          <a:p>
            <a:pPr algn="l">
              <a:spcAft>
                <a:spcPts val="400"/>
              </a:spcAft>
            </a:pPr>
            <a:r>
              <a:rPr sz="1300" b="0" i="0">
                <a:solidFill>
                  <a:srgbClr val="1F1F1F"/>
                </a:solidFill>
              </a:rPr>
              <a:t>Next: Sentinel-1 radar flood layer for 2022, fix the strata, draw the sample, 100-point labelling pilot.</a:t>
            </a:r>
          </a:p>
        </p:txBody>
      </p:sp>
    </p:spTree>
    <p:extLst>
      <p:ext uri="{BB962C8B-B14F-4D97-AF65-F5344CB8AC3E}">
        <p14:creationId xmlns:p14="http://schemas.microsoft.com/office/powerpoint/2010/main" val="258992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spcFirstLastPara="1" wrap="square" lIns="91425" tIns="91425" rIns="91425" bIns="91425" anchor="t" anchorCtr="0">
            <a:noAutofit/>
          </a:bodyPr>
          <a:lstStyle/>
          <a:p>
            <a:r>
              <a:rPr lang="en-US" dirty="0"/>
              <a:t>Methodological Angle (Poster/Report):</a:t>
            </a:r>
            <a:br/>
            <a:r>
              <a:rPr lang="en-US" dirty="0">
                <a:solidFill>
                  <a:srgbClr val="C00000"/>
                </a:solidFill>
              </a:rPr>
              <a:t>First results: seven maps, seven answers</a:t>
            </a:r>
            <a:endParaRPr lang="en-US" dirty="0">
              <a:solidFill>
                <a:schemeClr val="accent2">
                  <a:lumMod val="75000"/>
                </a:schemeClr>
              </a:solidFill>
            </a:endParaRPr>
          </a:p>
        </p:txBody>
      </p:sp>
      <p:pic>
        <p:nvPicPr>
          <p:cNvPr id="3" name="Picture 2" descr="slide_demo_maps_turalei.png"/>
          <p:cNvPicPr>
            <a:picLocks noChangeAspect="1"/>
          </p:cNvPicPr>
          <p:nvPr/>
        </p:nvPicPr>
        <p:blipFill>
          <a:blip r:embed="rId3"/>
          <a:stretch>
            <a:fillRect/>
          </a:stretch>
        </p:blipFill>
        <p:spPr>
          <a:xfrm>
            <a:off x="548640" y="1371600"/>
            <a:ext cx="6035040" cy="3017520"/>
          </a:xfrm>
          <a:prstGeom prst="rect">
            <a:avLst/>
          </a:prstGeom>
        </p:spPr>
      </p:pic>
      <p:sp>
        <p:nvSpPr>
          <p:cNvPr id="4" name="TextBox 3"/>
          <p:cNvSpPr txBox="1"/>
          <p:nvPr/>
        </p:nvSpPr>
        <p:spPr>
          <a:xfrm>
            <a:off x="630936" y="4636008"/>
            <a:ext cx="7882127" cy="320040"/>
          </a:xfrm>
          <a:prstGeom prst="rect">
            <a:avLst/>
          </a:prstGeom>
          <a:noFill/>
        </p:spPr>
        <p:txBody>
          <a:bodyPr wrap="square" lIns="45720" tIns="27432" rIns="45720" bIns="27432" anchor="t">
            <a:spAutoFit/>
          </a:bodyPr>
          <a:lstStyle/>
          <a:p>
            <a:pPr algn="l">
              <a:spcAft>
                <a:spcPts val="400"/>
              </a:spcAft>
            </a:pPr>
            <a:r>
              <a:rPr sz="1000" b="0" i="0">
                <a:solidFill>
                  <a:srgbClr val="5F6368"/>
                </a:solidFill>
              </a:rPr>
              <a:t>Same 6 × 6 km near Turalei (Twic county), outside our study counties so the labelling stays blind. Gold = map says crop.</a:t>
            </a:r>
          </a:p>
        </p:txBody>
      </p:sp>
      <p:sp>
        <p:nvSpPr>
          <p:cNvPr id="5" name="TextBox 4"/>
          <p:cNvSpPr txBox="1"/>
          <p:nvPr/>
        </p:nvSpPr>
        <p:spPr>
          <a:xfrm>
            <a:off x="6858000" y="1737360"/>
            <a:ext cx="1645920" cy="548640"/>
          </a:xfrm>
          <a:prstGeom prst="rect">
            <a:avLst/>
          </a:prstGeom>
          <a:noFill/>
        </p:spPr>
        <p:txBody>
          <a:bodyPr wrap="square" lIns="45720" tIns="27432" rIns="45720" bIns="27432" anchor="t">
            <a:spAutoFit/>
          </a:bodyPr>
          <a:lstStyle/>
          <a:p>
            <a:pPr algn="l">
              <a:spcAft>
                <a:spcPts val="400"/>
              </a:spcAft>
            </a:pPr>
            <a:r>
              <a:rPr sz="3000" b="1" i="0">
                <a:solidFill>
                  <a:srgbClr val="C00000"/>
                </a:solidFill>
              </a:rPr>
              <a:t>0.2%</a:t>
            </a:r>
          </a:p>
        </p:txBody>
      </p:sp>
      <p:sp>
        <p:nvSpPr>
          <p:cNvPr id="6" name="TextBox 5"/>
          <p:cNvSpPr txBox="1"/>
          <p:nvPr/>
        </p:nvSpPr>
        <p:spPr>
          <a:xfrm>
            <a:off x="6858000" y="2286000"/>
            <a:ext cx="1645920" cy="365760"/>
          </a:xfrm>
          <a:prstGeom prst="rect">
            <a:avLst/>
          </a:prstGeom>
          <a:noFill/>
        </p:spPr>
        <p:txBody>
          <a:bodyPr wrap="square" lIns="45720" tIns="27432" rIns="45720" bIns="27432" anchor="t">
            <a:spAutoFit/>
          </a:bodyPr>
          <a:lstStyle/>
          <a:p>
            <a:pPr algn="l">
              <a:spcAft>
                <a:spcPts val="400"/>
              </a:spcAft>
            </a:pPr>
            <a:r>
              <a:rPr sz="1300" b="0" i="0">
                <a:solidFill>
                  <a:srgbClr val="5F6368"/>
                </a:solidFill>
              </a:rPr>
              <a:t>to</a:t>
            </a:r>
          </a:p>
        </p:txBody>
      </p:sp>
      <p:sp>
        <p:nvSpPr>
          <p:cNvPr id="7" name="TextBox 6"/>
          <p:cNvSpPr txBox="1"/>
          <p:nvPr/>
        </p:nvSpPr>
        <p:spPr>
          <a:xfrm>
            <a:off x="6858000" y="2606040"/>
            <a:ext cx="1645920" cy="548640"/>
          </a:xfrm>
          <a:prstGeom prst="rect">
            <a:avLst/>
          </a:prstGeom>
          <a:noFill/>
        </p:spPr>
        <p:txBody>
          <a:bodyPr wrap="square" lIns="45720" tIns="27432" rIns="45720" bIns="27432" anchor="t">
            <a:spAutoFit/>
          </a:bodyPr>
          <a:lstStyle/>
          <a:p>
            <a:pPr algn="l">
              <a:spcAft>
                <a:spcPts val="400"/>
              </a:spcAft>
            </a:pPr>
            <a:r>
              <a:rPr sz="3000" b="1" i="0">
                <a:solidFill>
                  <a:srgbClr val="C00000"/>
                </a:solidFill>
              </a:rPr>
              <a:t>48.9%</a:t>
            </a:r>
          </a:p>
        </p:txBody>
      </p:sp>
      <p:sp>
        <p:nvSpPr>
          <p:cNvPr id="8" name="TextBox 7"/>
          <p:cNvSpPr txBox="1"/>
          <p:nvPr/>
        </p:nvSpPr>
        <p:spPr>
          <a:xfrm>
            <a:off x="6858000" y="3200400"/>
            <a:ext cx="1645920" cy="1188720"/>
          </a:xfrm>
          <a:prstGeom prst="rect">
            <a:avLst/>
          </a:prstGeom>
          <a:noFill/>
        </p:spPr>
        <p:txBody>
          <a:bodyPr wrap="square" lIns="45720" tIns="27432" rIns="45720" bIns="27432" anchor="t">
            <a:spAutoFit/>
          </a:bodyPr>
          <a:lstStyle/>
          <a:p>
            <a:pPr algn="l">
              <a:spcAft>
                <a:spcPts val="400"/>
              </a:spcAft>
            </a:pPr>
            <a:r>
              <a:rPr sz="1200" b="0" i="0">
                <a:solidFill>
                  <a:srgbClr val="1F1F1F"/>
                </a:solidFill>
              </a:rPr>
              <a:t>of the same window called crop, depending on which map you ask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spcFirstLastPara="1" wrap="square" lIns="91425" tIns="91425" rIns="91425" bIns="91425" anchor="t" anchorCtr="0">
            <a:noAutofit/>
          </a:bodyPr>
          <a:lstStyle/>
          <a:p>
            <a:r>
              <a:rPr lang="en-US" dirty="0"/>
              <a:t>Methodological Angle (Poster/Report):</a:t>
            </a:r>
            <a:br/>
            <a:r>
              <a:rPr lang="en-US" dirty="0">
                <a:solidFill>
                  <a:srgbClr val="C00000"/>
                </a:solidFill>
              </a:rPr>
              <a:t>First results: cropland per map in Aweil</a:t>
            </a:r>
            <a:endParaRPr lang="en-US" dirty="0">
              <a:solidFill>
                <a:schemeClr val="accent2">
                  <a:lumMod val="75000"/>
                </a:schemeClr>
              </a:solidFill>
            </a:endParaRPr>
          </a:p>
        </p:txBody>
      </p:sp>
      <p:graphicFrame>
        <p:nvGraphicFramePr>
          <p:cNvPr id="3" name="Chart 2"/>
          <p:cNvGraphicFramePr>
            <a:graphicFrameLocks noGrp="1"/>
          </p:cNvGraphicFramePr>
          <p:nvPr/>
        </p:nvGraphicFramePr>
        <p:xfrm>
          <a:off x="502920" y="1325880"/>
          <a:ext cx="512064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5806440" y="1417320"/>
            <a:ext cx="2697480" cy="502920"/>
          </a:xfrm>
          <a:prstGeom prst="rect">
            <a:avLst/>
          </a:prstGeom>
          <a:noFill/>
        </p:spPr>
        <p:txBody>
          <a:bodyPr wrap="square" lIns="45720" tIns="27432" rIns="45720" bIns="27432" anchor="t">
            <a:spAutoFit/>
          </a:bodyPr>
          <a:lstStyle/>
          <a:p>
            <a:pPr algn="l">
              <a:spcAft>
                <a:spcPts val="400"/>
              </a:spcAft>
            </a:pPr>
            <a:r>
              <a:rPr sz="2600" b="1" i="0">
                <a:solidFill>
                  <a:srgbClr val="C00000"/>
                </a:solidFill>
              </a:rPr>
              <a:t>1 ha</a:t>
            </a:r>
          </a:p>
        </p:txBody>
      </p:sp>
      <p:sp>
        <p:nvSpPr>
          <p:cNvPr id="5" name="TextBox 4"/>
          <p:cNvSpPr txBox="1"/>
          <p:nvPr/>
        </p:nvSpPr>
        <p:spPr>
          <a:xfrm>
            <a:off x="5806440" y="1874519"/>
            <a:ext cx="2697480" cy="594360"/>
          </a:xfrm>
          <a:prstGeom prst="rect">
            <a:avLst/>
          </a:prstGeom>
          <a:noFill/>
        </p:spPr>
        <p:txBody>
          <a:bodyPr wrap="square" lIns="45720" tIns="27432" rIns="45720" bIns="27432" anchor="t">
            <a:spAutoFit/>
          </a:bodyPr>
          <a:lstStyle/>
          <a:p>
            <a:pPr algn="l">
              <a:spcAft>
                <a:spcPts val="400"/>
              </a:spcAft>
            </a:pPr>
            <a:r>
              <a:rPr sz="1100" b="0" i="0">
                <a:solidFill>
                  <a:srgbClr val="1F1F1F"/>
                </a:solidFill>
              </a:rPr>
              <a:t>where all four main maps (2021–22) agree on crop, in 3 million ha</a:t>
            </a:r>
          </a:p>
        </p:txBody>
      </p:sp>
      <p:sp>
        <p:nvSpPr>
          <p:cNvPr id="6" name="TextBox 5"/>
          <p:cNvSpPr txBox="1"/>
          <p:nvPr/>
        </p:nvSpPr>
        <p:spPr>
          <a:xfrm>
            <a:off x="5806440" y="2514600"/>
            <a:ext cx="2697480" cy="502920"/>
          </a:xfrm>
          <a:prstGeom prst="rect">
            <a:avLst/>
          </a:prstGeom>
          <a:noFill/>
        </p:spPr>
        <p:txBody>
          <a:bodyPr wrap="square" lIns="45720" tIns="27432" rIns="45720" bIns="27432" anchor="t">
            <a:spAutoFit/>
          </a:bodyPr>
          <a:lstStyle/>
          <a:p>
            <a:pPr algn="l">
              <a:spcAft>
                <a:spcPts val="400"/>
              </a:spcAft>
            </a:pPr>
            <a:r>
              <a:rPr sz="2600" b="1" i="0">
                <a:solidFill>
                  <a:srgbClr val="C00000"/>
                </a:solidFill>
              </a:rPr>
              <a:t>≤ 25%</a:t>
            </a:r>
          </a:p>
        </p:txBody>
      </p:sp>
      <p:sp>
        <p:nvSpPr>
          <p:cNvPr id="7" name="TextBox 6"/>
          <p:cNvSpPr txBox="1"/>
          <p:nvPr/>
        </p:nvSpPr>
        <p:spPr>
          <a:xfrm>
            <a:off x="5806440" y="2971800"/>
            <a:ext cx="2697480" cy="594360"/>
          </a:xfrm>
          <a:prstGeom prst="rect">
            <a:avLst/>
          </a:prstGeom>
          <a:noFill/>
        </p:spPr>
        <p:txBody>
          <a:bodyPr wrap="square" lIns="45720" tIns="27432" rIns="45720" bIns="27432" anchor="t">
            <a:spAutoFit/>
          </a:bodyPr>
          <a:lstStyle/>
          <a:p>
            <a:pPr algn="l">
              <a:spcAft>
                <a:spcPts val="400"/>
              </a:spcAft>
            </a:pPr>
            <a:r>
              <a:rPr sz="1100" b="0" i="0">
                <a:solidFill>
                  <a:srgbClr val="1F1F1F"/>
                </a:solidFill>
              </a:rPr>
              <a:t>best overlap of the crop areas of any two maps</a:t>
            </a:r>
          </a:p>
        </p:txBody>
      </p:sp>
      <p:sp>
        <p:nvSpPr>
          <p:cNvPr id="8" name="TextBox 7"/>
          <p:cNvSpPr txBox="1"/>
          <p:nvPr/>
        </p:nvSpPr>
        <p:spPr>
          <a:xfrm>
            <a:off x="5806440" y="3611880"/>
            <a:ext cx="2697480" cy="502920"/>
          </a:xfrm>
          <a:prstGeom prst="rect">
            <a:avLst/>
          </a:prstGeom>
          <a:noFill/>
        </p:spPr>
        <p:txBody>
          <a:bodyPr wrap="square" lIns="45720" tIns="27432" rIns="45720" bIns="27432" anchor="t">
            <a:spAutoFit/>
          </a:bodyPr>
          <a:lstStyle/>
          <a:p>
            <a:pPr algn="l">
              <a:spcAft>
                <a:spcPts val="400"/>
              </a:spcAft>
            </a:pPr>
            <a:r>
              <a:rPr sz="2600" b="1" i="0">
                <a:solidFill>
                  <a:srgbClr val="C00000"/>
                </a:solidFill>
              </a:rPr>
              <a:t>5×</a:t>
            </a:r>
          </a:p>
        </p:txBody>
      </p:sp>
      <p:sp>
        <p:nvSpPr>
          <p:cNvPr id="9" name="TextBox 8"/>
          <p:cNvSpPr txBox="1"/>
          <p:nvPr/>
        </p:nvSpPr>
        <p:spPr>
          <a:xfrm>
            <a:off x="5806440" y="4069080"/>
            <a:ext cx="2697480" cy="594360"/>
          </a:xfrm>
          <a:prstGeom prst="rect">
            <a:avLst/>
          </a:prstGeom>
          <a:noFill/>
        </p:spPr>
        <p:txBody>
          <a:bodyPr wrap="square" lIns="45720" tIns="27432" rIns="45720" bIns="27432" anchor="t">
            <a:spAutoFit/>
          </a:bodyPr>
          <a:lstStyle/>
          <a:p>
            <a:pPr algn="l">
              <a:spcAft>
                <a:spcPts val="400"/>
              </a:spcAft>
            </a:pPr>
            <a:r>
              <a:rPr sz="1100" b="0" i="0">
                <a:solidFill>
                  <a:srgbClr val="1F1F1F"/>
                </a:solidFill>
              </a:rPr>
              <a:t>CFSAM's modelled harvested area vs the typical map</a:t>
            </a:r>
          </a:p>
        </p:txBody>
      </p:sp>
      <p:sp>
        <p:nvSpPr>
          <p:cNvPr id="10" name="TextBox 9"/>
          <p:cNvSpPr txBox="1"/>
          <p:nvPr/>
        </p:nvSpPr>
        <p:spPr>
          <a:xfrm>
            <a:off x="630936" y="4754880"/>
            <a:ext cx="7882127" cy="274320"/>
          </a:xfrm>
          <a:prstGeom prst="rect">
            <a:avLst/>
          </a:prstGeom>
          <a:noFill/>
        </p:spPr>
        <p:txBody>
          <a:bodyPr wrap="square" lIns="45720" tIns="27432" rIns="45720" bIns="27432" anchor="t">
            <a:spAutoFit/>
          </a:bodyPr>
          <a:lstStyle/>
          <a:p>
            <a:pPr algn="l">
              <a:spcAft>
                <a:spcPts val="400"/>
              </a:spcAft>
            </a:pPr>
            <a:r>
              <a:rPr sz="900" b="0" i="0">
                <a:solidFill>
                  <a:srgbClr val="5F6368"/>
                </a:solidFill>
              </a:rPr>
              <a:t>Crop share from 10 m pixels, counties' own area. CFSAM = 2022 main-harvest cereal area, a modelled estimate (context, not a reference). Agreement is between maps, not accuracy.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7"/>
          <p:cNvSpPr txBox="1">
            <a:spLocks noGrp="1"/>
          </p:cNvSpPr>
          <p:nvPr>
            <p:ph type="title"/>
          </p:nvPr>
        </p:nvSpPr>
        <p:spPr>
          <a:xfrm>
            <a:off x="628650" y="273844"/>
            <a:ext cx="7886700" cy="994172"/>
          </a:xfrm>
        </p:spPr>
        <p:txBody>
          <a:bodyPr spcFirstLastPara="1" wrap="square" lIns="91425" tIns="91425" rIns="91425" bIns="91425" anchor="t" anchorCtr="0">
            <a:noAutofit/>
          </a:bodyPr>
          <a:lstStyle/>
          <a:p>
            <a:r>
              <a:rPr lang="en-US" dirty="0"/>
              <a:t>Methodological Angle (Poster/Report):</a:t>
            </a:r>
          </a:p>
          <a:p>
            <a:r>
              <a:rPr lang="en-US" dirty="0">
                <a:solidFill>
                  <a:srgbClr val="C00000"/>
                </a:solidFill>
              </a:rPr>
              <a:t>Mistakes and what you have learned</a:t>
            </a:r>
            <a:endParaRPr lang="en-US" dirty="0"/>
          </a:p>
        </p:txBody>
      </p:sp>
      <p:sp>
        <p:nvSpPr>
          <p:cNvPr id="2" name="TextBox 1">
            <a:extLst>
              <a:ext uri="{FF2B5EF4-FFF2-40B4-BE49-F238E27FC236}">
                <a16:creationId xmlns:a16="http://schemas.microsoft.com/office/drawing/2014/main" id="{D7DAB4E8-6667-FC3A-56E7-B46489E77670}"/>
              </a:ext>
            </a:extLst>
          </p:cNvPr>
          <p:cNvSpPr txBox="1"/>
          <p:nvPr/>
        </p:nvSpPr>
        <p:spPr>
          <a:xfrm>
            <a:off x="802888" y="1449659"/>
            <a:ext cx="7712462" cy="923330"/>
          </a:xfrm>
          <a:prstGeom prst="rect">
            <a:avLst/>
          </a:prstGeom>
          <a:noFill/>
        </p:spPr>
        <p:txBody>
          <a:bodyPr wrap="square" rtlCol="0">
            <a:spAutoFit/>
          </a:bodyPr>
          <a:lstStyle/>
          <a:p>
            <a:pPr marL="285750" indent="-285750">
              <a:buFontTx/>
              <a:buChar char="-"/>
            </a:pPr>
            <a:r>
              <a:rPr lang="es-ES" dirty="0"/>
              <a:t>Data </a:t>
            </a:r>
            <a:r>
              <a:rPr lang="es-ES" dirty="0" err="1"/>
              <a:t>quality</a:t>
            </a:r>
            <a:r>
              <a:rPr lang="es-ES" dirty="0"/>
              <a:t> </a:t>
            </a:r>
            <a:r>
              <a:rPr lang="es-ES" dirty="0" err="1"/>
              <a:t>matters</a:t>
            </a:r>
            <a:r>
              <a:rPr lang="es-ES" dirty="0"/>
              <a:t> more tan </a:t>
            </a:r>
            <a:r>
              <a:rPr lang="es-ES" dirty="0" err="1"/>
              <a:t>what</a:t>
            </a:r>
            <a:r>
              <a:rPr lang="es-ES" dirty="0"/>
              <a:t> </a:t>
            </a:r>
            <a:r>
              <a:rPr lang="es-ES" dirty="0" err="1"/>
              <a:t>we</a:t>
            </a:r>
            <a:r>
              <a:rPr lang="es-ES" dirty="0"/>
              <a:t> </a:t>
            </a:r>
            <a:r>
              <a:rPr lang="es-ES" dirty="0" err="1"/>
              <a:t>thought</a:t>
            </a:r>
            <a:endParaRPr lang="es-ES" dirty="0"/>
          </a:p>
          <a:p>
            <a:pPr marL="285750" indent="-285750">
              <a:buFontTx/>
              <a:buChar char="-"/>
            </a:pPr>
            <a:r>
              <a:rPr lang="es-ES" dirty="0"/>
              <a:t>Do </a:t>
            </a:r>
            <a:r>
              <a:rPr lang="es-ES" dirty="0" err="1"/>
              <a:t>not</a:t>
            </a:r>
            <a:r>
              <a:rPr lang="es-ES" dirty="0"/>
              <a:t> </a:t>
            </a:r>
            <a:r>
              <a:rPr lang="es-ES" dirty="0" err="1"/>
              <a:t>assume</a:t>
            </a:r>
            <a:r>
              <a:rPr lang="es-ES" dirty="0"/>
              <a:t> </a:t>
            </a:r>
            <a:r>
              <a:rPr lang="es-ES" dirty="0" err="1"/>
              <a:t>relationships</a:t>
            </a:r>
            <a:r>
              <a:rPr lang="es-ES" dirty="0"/>
              <a:t> </a:t>
            </a:r>
            <a:r>
              <a:rPr lang="es-ES" dirty="0" err="1"/>
              <a:t>that</a:t>
            </a:r>
            <a:r>
              <a:rPr lang="es-ES" dirty="0"/>
              <a:t> </a:t>
            </a:r>
            <a:r>
              <a:rPr lang="es-ES" dirty="0" err="1"/>
              <a:t>might</a:t>
            </a:r>
            <a:r>
              <a:rPr lang="es-ES" dirty="0"/>
              <a:t> </a:t>
            </a:r>
            <a:r>
              <a:rPr lang="es-ES" dirty="0" err="1"/>
              <a:t>seem</a:t>
            </a:r>
            <a:r>
              <a:rPr lang="es-ES" dirty="0"/>
              <a:t> </a:t>
            </a:r>
            <a:r>
              <a:rPr lang="es-ES" dirty="0" err="1"/>
              <a:t>logical</a:t>
            </a:r>
            <a:r>
              <a:rPr lang="es-ES" dirty="0"/>
              <a:t>. </a:t>
            </a:r>
            <a:r>
              <a:rPr lang="es-ES" dirty="0" err="1"/>
              <a:t>Always</a:t>
            </a:r>
            <a:r>
              <a:rPr lang="es-ES" dirty="0"/>
              <a:t> prove </a:t>
            </a:r>
            <a:r>
              <a:rPr lang="es-ES" dirty="0" err="1"/>
              <a:t>claims</a:t>
            </a:r>
            <a:r>
              <a:rPr lang="es-ES" dirty="0"/>
              <a:t> </a:t>
            </a:r>
            <a:r>
              <a:rPr lang="es-ES" dirty="0" err="1"/>
              <a:t>with</a:t>
            </a:r>
            <a:r>
              <a:rPr lang="es-ES" dirty="0"/>
              <a:t> data (</a:t>
            </a:r>
            <a:r>
              <a:rPr lang="es-ES" dirty="0" err="1"/>
              <a:t>datasets</a:t>
            </a:r>
            <a:r>
              <a:rPr lang="es-ES" dirty="0"/>
              <a:t> OR </a:t>
            </a:r>
            <a:r>
              <a:rPr lang="es-ES" dirty="0" err="1"/>
              <a:t>research</a:t>
            </a:r>
            <a:r>
              <a:rPr lang="es-ES" dirty="0"/>
              <a:t> </a:t>
            </a:r>
            <a:r>
              <a:rPr lang="es-ES" dirty="0" err="1"/>
              <a:t>evidence</a:t>
            </a:r>
            <a:r>
              <a:rPr lang="es-ES"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8"/>
          <p:cNvSpPr txBox="1">
            <a:spLocks noGrp="1"/>
          </p:cNvSpPr>
          <p:nvPr>
            <p:ph type="title"/>
          </p:nvPr>
        </p:nvSpPr>
        <p:spPr>
          <a:xfrm>
            <a:off x="628650" y="273844"/>
            <a:ext cx="7886700" cy="994172"/>
          </a:xfrm>
        </p:spPr>
        <p:txBody>
          <a:bodyPr spcFirstLastPara="1" wrap="square" lIns="91425" tIns="91425" rIns="91425" bIns="91425" anchor="t" anchorCtr="0">
            <a:noAutofit/>
          </a:bodyPr>
          <a:lstStyle/>
          <a:p>
            <a:r>
              <a:rPr lang="en-US" dirty="0"/>
              <a:t>Stakeholder Angle (Meetings): </a:t>
            </a:r>
            <a:br>
              <a:rPr lang="en-US" dirty="0"/>
            </a:br>
            <a:r>
              <a:rPr lang="en-US" dirty="0">
                <a:solidFill>
                  <a:schemeClr val="accent6">
                    <a:lumMod val="76000"/>
                  </a:schemeClr>
                </a:solidFill>
              </a:rPr>
              <a:t>Progress and Results</a:t>
            </a:r>
            <a:r>
              <a:rPr lang="en-US" dirty="0">
                <a:solidFill>
                  <a:schemeClr val="accent2">
                    <a:lumMod val="75000"/>
                  </a:schemeClr>
                </a:solidFill>
              </a:rPr>
              <a:t> </a:t>
            </a:r>
          </a:p>
        </p:txBody>
      </p:sp>
      <p:sp>
        <p:nvSpPr>
          <p:cNvPr id="271" name="Rounded Rectangle 270"/>
          <p:cNvSpPr/>
          <p:nvPr/>
        </p:nvSpPr>
        <p:spPr>
          <a:xfrm>
            <a:off x="630936" y="1417320"/>
            <a:ext cx="3858768" cy="146304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TextBox 271"/>
          <p:cNvSpPr txBox="1"/>
          <p:nvPr/>
        </p:nvSpPr>
        <p:spPr>
          <a:xfrm>
            <a:off x="795527" y="1527048"/>
            <a:ext cx="3566160" cy="640080"/>
          </a:xfrm>
          <a:prstGeom prst="rect">
            <a:avLst/>
          </a:prstGeom>
          <a:noFill/>
        </p:spPr>
        <p:txBody>
          <a:bodyPr wrap="square" lIns="45720" tIns="27432" rIns="45720" bIns="27432" anchor="t">
            <a:spAutoFit/>
          </a:bodyPr>
          <a:lstStyle/>
          <a:p>
            <a:pPr algn="l">
              <a:spcAft>
                <a:spcPts val="400"/>
              </a:spcAft>
            </a:pPr>
            <a:r>
              <a:rPr sz="1400" b="1" i="0">
                <a:solidFill>
                  <a:srgbClr val="2E868F"/>
                </a:solidFill>
              </a:rPr>
              <a:t>Harvest failure is the priority impact</a:t>
            </a:r>
          </a:p>
        </p:txBody>
      </p:sp>
      <p:sp>
        <p:nvSpPr>
          <p:cNvPr id="273" name="TextBox 272"/>
          <p:cNvSpPr txBox="1"/>
          <p:nvPr/>
        </p:nvSpPr>
        <p:spPr>
          <a:xfrm>
            <a:off x="795527" y="2167128"/>
            <a:ext cx="3566160" cy="274320"/>
          </a:xfrm>
          <a:prstGeom prst="rect">
            <a:avLst/>
          </a:prstGeom>
          <a:noFill/>
        </p:spPr>
        <p:txBody>
          <a:bodyPr wrap="square" lIns="45720" tIns="27432" rIns="45720" bIns="27432" anchor="t">
            <a:spAutoFit/>
          </a:bodyPr>
          <a:lstStyle/>
          <a:p>
            <a:pPr algn="l">
              <a:spcAft>
                <a:spcPts val="400"/>
              </a:spcAft>
            </a:pPr>
            <a:r>
              <a:rPr sz="1000" b="0" i="0">
                <a:solidFill>
                  <a:srgbClr val="5F6368"/>
                </a:solidFill>
              </a:rPr>
              <a:t>slide 6</a:t>
            </a:r>
          </a:p>
        </p:txBody>
      </p:sp>
      <p:sp>
        <p:nvSpPr>
          <p:cNvPr id="274" name="TextBox 273"/>
          <p:cNvSpPr txBox="1"/>
          <p:nvPr/>
        </p:nvSpPr>
        <p:spPr>
          <a:xfrm>
            <a:off x="795527" y="2404872"/>
            <a:ext cx="3566160" cy="457200"/>
          </a:xfrm>
          <a:prstGeom prst="rect">
            <a:avLst/>
          </a:prstGeom>
          <a:noFill/>
        </p:spPr>
        <p:txBody>
          <a:bodyPr wrap="square" lIns="45720" tIns="27432" rIns="45720" bIns="27432" anchor="t">
            <a:spAutoFit/>
          </a:bodyPr>
          <a:lstStyle/>
          <a:p>
            <a:pPr algn="l">
              <a:spcAft>
                <a:spcPts val="400"/>
              </a:spcAft>
            </a:pPr>
            <a:r>
              <a:rPr sz="1100" b="0" i="0">
                <a:solidFill>
                  <a:srgbClr val="1F1F1F"/>
                </a:solidFill>
              </a:rPr>
              <a:t>and ≈80% of rural communities live mainly from agriculture (slide 33)</a:t>
            </a:r>
          </a:p>
        </p:txBody>
      </p:sp>
      <p:sp>
        <p:nvSpPr>
          <p:cNvPr id="275" name="Rounded Rectangle 274"/>
          <p:cNvSpPr/>
          <p:nvPr/>
        </p:nvSpPr>
        <p:spPr>
          <a:xfrm>
            <a:off x="4654296" y="1417320"/>
            <a:ext cx="3858768" cy="146304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TextBox 275"/>
          <p:cNvSpPr txBox="1"/>
          <p:nvPr/>
        </p:nvSpPr>
        <p:spPr>
          <a:xfrm>
            <a:off x="4818888" y="1527048"/>
            <a:ext cx="3566160" cy="640080"/>
          </a:xfrm>
          <a:prstGeom prst="rect">
            <a:avLst/>
          </a:prstGeom>
          <a:noFill/>
        </p:spPr>
        <p:txBody>
          <a:bodyPr wrap="square" lIns="45720" tIns="27432" rIns="45720" bIns="27432" anchor="t">
            <a:spAutoFit/>
          </a:bodyPr>
          <a:lstStyle/>
          <a:p>
            <a:pPr algn="l">
              <a:spcAft>
                <a:spcPts val="400"/>
              </a:spcAft>
            </a:pPr>
            <a:r>
              <a:rPr sz="1400" b="1" i="0">
                <a:solidFill>
                  <a:srgbClr val="2E868F"/>
                </a:solidFill>
              </a:rPr>
              <a:t>“The dataset might not capture agricultural land”</a:t>
            </a:r>
          </a:p>
        </p:txBody>
      </p:sp>
      <p:sp>
        <p:nvSpPr>
          <p:cNvPr id="277" name="TextBox 276"/>
          <p:cNvSpPr txBox="1"/>
          <p:nvPr/>
        </p:nvSpPr>
        <p:spPr>
          <a:xfrm>
            <a:off x="4818888" y="2167128"/>
            <a:ext cx="3566160" cy="274320"/>
          </a:xfrm>
          <a:prstGeom prst="rect">
            <a:avLst/>
          </a:prstGeom>
          <a:noFill/>
        </p:spPr>
        <p:txBody>
          <a:bodyPr wrap="square" lIns="45720" tIns="27432" rIns="45720" bIns="27432" anchor="t">
            <a:spAutoFit/>
          </a:bodyPr>
          <a:lstStyle/>
          <a:p>
            <a:pPr algn="l">
              <a:spcAft>
                <a:spcPts val="400"/>
              </a:spcAft>
            </a:pPr>
            <a:r>
              <a:rPr sz="1000" b="0" i="0">
                <a:solidFill>
                  <a:srgbClr val="5F6368"/>
                </a:solidFill>
              </a:rPr>
              <a:t>slide 33</a:t>
            </a:r>
          </a:p>
        </p:txBody>
      </p:sp>
      <p:sp>
        <p:nvSpPr>
          <p:cNvPr id="278" name="TextBox 277"/>
          <p:cNvSpPr txBox="1"/>
          <p:nvPr/>
        </p:nvSpPr>
        <p:spPr>
          <a:xfrm>
            <a:off x="4818888" y="2404872"/>
            <a:ext cx="3566160" cy="457200"/>
          </a:xfrm>
          <a:prstGeom prst="rect">
            <a:avLst/>
          </a:prstGeom>
          <a:noFill/>
        </p:spPr>
        <p:txBody>
          <a:bodyPr wrap="square" lIns="45720" tIns="27432" rIns="45720" bIns="27432" anchor="t">
            <a:spAutoFit/>
          </a:bodyPr>
          <a:lstStyle/>
          <a:p>
            <a:pPr algn="l">
              <a:spcAft>
                <a:spcPts val="400"/>
              </a:spcAft>
            </a:pPr>
            <a:r>
              <a:rPr sz="1100" b="0" i="0">
                <a:solidFill>
                  <a:srgbClr val="1F1F1F"/>
                </a:solidFill>
              </a:rPr>
              <a:t>ZOA already suspects the undercount our numbers show</a:t>
            </a:r>
          </a:p>
        </p:txBody>
      </p:sp>
      <p:sp>
        <p:nvSpPr>
          <p:cNvPr id="279" name="Rounded Rectangle 278"/>
          <p:cNvSpPr/>
          <p:nvPr/>
        </p:nvSpPr>
        <p:spPr>
          <a:xfrm>
            <a:off x="630936" y="3063240"/>
            <a:ext cx="3858768" cy="146304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TextBox 279"/>
          <p:cNvSpPr txBox="1"/>
          <p:nvPr/>
        </p:nvSpPr>
        <p:spPr>
          <a:xfrm>
            <a:off x="795527" y="3172968"/>
            <a:ext cx="3566160" cy="640080"/>
          </a:xfrm>
          <a:prstGeom prst="rect">
            <a:avLst/>
          </a:prstGeom>
          <a:noFill/>
        </p:spPr>
        <p:txBody>
          <a:bodyPr wrap="square" lIns="45720" tIns="27432" rIns="45720" bIns="27432" anchor="t">
            <a:spAutoFit/>
          </a:bodyPr>
          <a:lstStyle/>
          <a:p>
            <a:pPr algn="l">
              <a:spcAft>
                <a:spcPts val="400"/>
              </a:spcAft>
            </a:pPr>
            <a:r>
              <a:rPr sz="1400" b="1" i="0">
                <a:solidFill>
                  <a:srgbClr val="2E868F"/>
                </a:solidFill>
              </a:rPr>
              <a:t>Triggers like a flood “inundating cropland”</a:t>
            </a:r>
          </a:p>
        </p:txBody>
      </p:sp>
      <p:sp>
        <p:nvSpPr>
          <p:cNvPr id="281" name="TextBox 280"/>
          <p:cNvSpPr txBox="1"/>
          <p:nvPr/>
        </p:nvSpPr>
        <p:spPr>
          <a:xfrm>
            <a:off x="795527" y="3813048"/>
            <a:ext cx="3566160" cy="274320"/>
          </a:xfrm>
          <a:prstGeom prst="rect">
            <a:avLst/>
          </a:prstGeom>
          <a:noFill/>
        </p:spPr>
        <p:txBody>
          <a:bodyPr wrap="square" lIns="45720" tIns="27432" rIns="45720" bIns="27432" anchor="t">
            <a:spAutoFit/>
          </a:bodyPr>
          <a:lstStyle/>
          <a:p>
            <a:pPr algn="l">
              <a:spcAft>
                <a:spcPts val="400"/>
              </a:spcAft>
            </a:pPr>
            <a:r>
              <a:rPr sz="1000" b="0" i="0">
                <a:solidFill>
                  <a:srgbClr val="5F6368"/>
                </a:solidFill>
              </a:rPr>
              <a:t>slides 31, 40</a:t>
            </a:r>
          </a:p>
        </p:txBody>
      </p:sp>
      <p:sp>
        <p:nvSpPr>
          <p:cNvPr id="282" name="TextBox 281"/>
          <p:cNvSpPr txBox="1"/>
          <p:nvPr/>
        </p:nvSpPr>
        <p:spPr>
          <a:xfrm>
            <a:off x="795527" y="4050791"/>
            <a:ext cx="3566160" cy="457200"/>
          </a:xfrm>
          <a:prstGeom prst="rect">
            <a:avLst/>
          </a:prstGeom>
          <a:noFill/>
        </p:spPr>
        <p:txBody>
          <a:bodyPr wrap="square" lIns="45720" tIns="27432" rIns="45720" bIns="27432" anchor="t">
            <a:spAutoFit/>
          </a:bodyPr>
          <a:lstStyle/>
          <a:p>
            <a:pPr algn="l">
              <a:spcAft>
                <a:spcPts val="400"/>
              </a:spcAft>
            </a:pPr>
            <a:r>
              <a:rPr sz="1100" b="0" i="0">
                <a:solidFill>
                  <a:srgbClr val="1F1F1F"/>
                </a:solidFill>
              </a:rPr>
              <a:t>only usable if the cropland and flood data are reliable</a:t>
            </a:r>
          </a:p>
        </p:txBody>
      </p:sp>
      <p:sp>
        <p:nvSpPr>
          <p:cNvPr id="283" name="Rounded Rectangle 282"/>
          <p:cNvSpPr/>
          <p:nvPr/>
        </p:nvSpPr>
        <p:spPr>
          <a:xfrm>
            <a:off x="4654296" y="3063240"/>
            <a:ext cx="3858768" cy="146304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TextBox 283"/>
          <p:cNvSpPr txBox="1"/>
          <p:nvPr/>
        </p:nvSpPr>
        <p:spPr>
          <a:xfrm>
            <a:off x="4818888" y="3172968"/>
            <a:ext cx="3566160" cy="640080"/>
          </a:xfrm>
          <a:prstGeom prst="rect">
            <a:avLst/>
          </a:prstGeom>
          <a:noFill/>
        </p:spPr>
        <p:txBody>
          <a:bodyPr wrap="square" lIns="45720" tIns="27432" rIns="45720" bIns="27432" anchor="t">
            <a:spAutoFit/>
          </a:bodyPr>
          <a:lstStyle/>
          <a:p>
            <a:pPr algn="l">
              <a:spcAft>
                <a:spcPts val="400"/>
              </a:spcAft>
            </a:pPr>
            <a:r>
              <a:rPr sz="1400" b="1" i="0">
                <a:solidFill>
                  <a:srgbClr val="2E868F"/>
                </a:solidFill>
              </a:rPr>
              <a:t>Show the reliability, not a perfect forecast</a:t>
            </a:r>
          </a:p>
        </p:txBody>
      </p:sp>
      <p:sp>
        <p:nvSpPr>
          <p:cNvPr id="285" name="TextBox 284"/>
          <p:cNvSpPr txBox="1"/>
          <p:nvPr/>
        </p:nvSpPr>
        <p:spPr>
          <a:xfrm>
            <a:off x="4818888" y="3813048"/>
            <a:ext cx="3566160" cy="274320"/>
          </a:xfrm>
          <a:prstGeom prst="rect">
            <a:avLst/>
          </a:prstGeom>
          <a:noFill/>
        </p:spPr>
        <p:txBody>
          <a:bodyPr wrap="square" lIns="45720" tIns="27432" rIns="45720" bIns="27432" anchor="t">
            <a:spAutoFit/>
          </a:bodyPr>
          <a:lstStyle/>
          <a:p>
            <a:pPr algn="l">
              <a:spcAft>
                <a:spcPts val="400"/>
              </a:spcAft>
            </a:pPr>
            <a:r>
              <a:rPr sz="1000" b="0" i="0">
                <a:solidFill>
                  <a:srgbClr val="5F6368"/>
                </a:solidFill>
              </a:rPr>
              <a:t>slides 9–11, 32</a:t>
            </a:r>
          </a:p>
        </p:txBody>
      </p:sp>
      <p:sp>
        <p:nvSpPr>
          <p:cNvPr id="286" name="TextBox 285"/>
          <p:cNvSpPr txBox="1"/>
          <p:nvPr/>
        </p:nvSpPr>
        <p:spPr>
          <a:xfrm>
            <a:off x="4818888" y="4050791"/>
            <a:ext cx="3566160" cy="457200"/>
          </a:xfrm>
          <a:prstGeom prst="rect">
            <a:avLst/>
          </a:prstGeom>
          <a:noFill/>
        </p:spPr>
        <p:txBody>
          <a:bodyPr wrap="square" lIns="45720" tIns="27432" rIns="45720" bIns="27432" anchor="t">
            <a:spAutoFit/>
          </a:bodyPr>
          <a:lstStyle/>
          <a:p>
            <a:pPr algn="l">
              <a:spcAft>
                <a:spcPts val="400"/>
              </a:spcAft>
            </a:pPr>
            <a:r>
              <a:rPr sz="1100" b="0" i="0">
                <a:solidFill>
                  <a:srgbClr val="1F1F1F"/>
                </a:solidFill>
              </a:rPr>
              <a:t>a rigorous small sub-problem beats a superficial full one (slides 5, 29)</a:t>
            </a:r>
          </a:p>
        </p:txBody>
      </p:sp>
      <p:sp>
        <p:nvSpPr>
          <p:cNvPr id="287" name="TextBox 286"/>
          <p:cNvSpPr txBox="1"/>
          <p:nvPr/>
        </p:nvSpPr>
        <p:spPr>
          <a:xfrm>
            <a:off x="630936" y="4754880"/>
            <a:ext cx="7882127" cy="274320"/>
          </a:xfrm>
          <a:prstGeom prst="rect">
            <a:avLst/>
          </a:prstGeom>
          <a:noFill/>
        </p:spPr>
        <p:txBody>
          <a:bodyPr wrap="square" lIns="45720" tIns="27432" rIns="45720" bIns="27432" anchor="t">
            <a:spAutoFit/>
          </a:bodyPr>
          <a:lstStyle/>
          <a:p>
            <a:pPr algn="l">
              <a:spcAft>
                <a:spcPts val="400"/>
              </a:spcAft>
            </a:pPr>
            <a:r>
              <a:rPr sz="900" b="0" i="0">
                <a:solidFill>
                  <a:srgbClr val="5F6368"/>
                </a:solidFill>
              </a:rPr>
              <a:t>Stakeholder Q&amp;A 2 (ZOA / Zero Hunger Lab, 21 Sep 2026). Our RO covers ZOA's two areas: the Lol river in Aweil and Bor South (slide 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9"/>
          <p:cNvSpPr txBox="1">
            <a:spLocks noGrp="1"/>
          </p:cNvSpPr>
          <p:nvPr>
            <p:ph type="title"/>
          </p:nvPr>
        </p:nvSpPr>
        <p:spPr>
          <a:xfrm>
            <a:off x="628650" y="273844"/>
            <a:ext cx="7886700" cy="994172"/>
          </a:xfrm>
        </p:spPr>
        <p:txBody>
          <a:bodyPr spcFirstLastPara="1" wrap="square" lIns="91425" tIns="91425" rIns="91425" bIns="91425" anchor="t" anchorCtr="0">
            <a:noAutofit/>
          </a:bodyPr>
          <a:lstStyle/>
          <a:p>
            <a:r>
              <a:rPr lang="en-US" dirty="0"/>
              <a:t>Stakeholder Angle (Meetings): </a:t>
            </a:r>
          </a:p>
          <a:p>
            <a:pPr lvl="0"/>
            <a:r>
              <a:rPr lang="en-US" dirty="0">
                <a:solidFill>
                  <a:schemeClr val="accent6">
                    <a:lumMod val="76000"/>
                  </a:schemeClr>
                </a:solidFill>
              </a:rPr>
              <a:t>Mistakes and what you have learned</a:t>
            </a:r>
            <a:r>
              <a:rPr lang="en-US" dirty="0">
                <a:solidFill>
                  <a:schemeClr val="accent2">
                    <a:lumMod val="75000"/>
                  </a:schemeClr>
                </a:solidFill>
              </a:rPr>
              <a:t> </a:t>
            </a:r>
          </a:p>
        </p:txBody>
      </p:sp>
      <p:sp>
        <p:nvSpPr>
          <p:cNvPr id="277" name="Google Shape;277;p39"/>
          <p:cNvSpPr txBox="1">
            <a:spLocks noGrp="1"/>
          </p:cNvSpPr>
          <p:nvPr>
            <p:ph idx="1"/>
          </p:nvPr>
        </p:nvSpPr>
        <p:spPr>
          <a:xfrm>
            <a:off x="628650" y="1369218"/>
            <a:ext cx="7886700" cy="3263504"/>
          </a:xfrm>
        </p:spPr>
        <p:txBody>
          <a:bodyPr spcFirstLastPara="1" wrap="square" lIns="91425" tIns="91425" rIns="91425" bIns="91425" anchor="t" anchorCtr="0">
            <a:noAutofit/>
          </a:bodyPr>
          <a:lstStyle/>
          <a:p>
            <a:pPr lvl="0"/>
            <a:r>
              <a:rPr lang="en-US" dirty="0"/>
              <a:t>Not align our objective with the stakeholder needs</a:t>
            </a:r>
          </a:p>
          <a:p>
            <a:pPr lvl="0"/>
            <a:r>
              <a:rPr lang="en-US" dirty="0"/>
              <a:t>Understanding the problem counts more than assuming things and give a naïve forecast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0"/>
          <p:cNvSpPr txBox="1">
            <a:spLocks noGrp="1"/>
          </p:cNvSpPr>
          <p:nvPr>
            <p:ph type="title"/>
          </p:nvPr>
        </p:nvSpPr>
        <p:spPr>
          <a:xfrm>
            <a:off x="628650" y="273844"/>
            <a:ext cx="7886700" cy="994172"/>
          </a:xfrm>
        </p:spPr>
        <p:txBody>
          <a:bodyPr spcFirstLastPara="1" wrap="square" lIns="91425" tIns="91425" rIns="91425" bIns="91425" anchor="t" anchorCtr="0">
            <a:noAutofit/>
          </a:bodyPr>
          <a:lstStyle/>
          <a:p>
            <a:r>
              <a:rPr lang="en-US" dirty="0"/>
              <a:t>Societal-Legal-Ethical Angle (Essay):</a:t>
            </a:r>
            <a:br/>
            <a:r>
              <a:rPr lang="en-US" dirty="0">
                <a:solidFill>
                  <a:srgbClr val="C00000"/>
                </a:solidFill>
              </a:rPr>
              <a:t>Progress: the problem as an SLE question</a:t>
            </a:r>
            <a:endParaRPr lang="en-US" dirty="0">
              <a:solidFill>
                <a:schemeClr val="accent2">
                  <a:lumMod val="75000"/>
                </a:schemeClr>
              </a:solidFill>
            </a:endParaRPr>
          </a:p>
        </p:txBody>
      </p:sp>
      <p:sp>
        <p:nvSpPr>
          <p:cNvPr id="283" name="TextBox 282"/>
          <p:cNvSpPr txBox="1"/>
          <p:nvPr/>
        </p:nvSpPr>
        <p:spPr>
          <a:xfrm>
            <a:off x="630936" y="1371600"/>
            <a:ext cx="4023360" cy="320040"/>
          </a:xfrm>
          <a:prstGeom prst="rect">
            <a:avLst/>
          </a:prstGeom>
          <a:noFill/>
        </p:spPr>
        <p:txBody>
          <a:bodyPr wrap="square" lIns="45720" tIns="27432" rIns="45720" bIns="27432" anchor="t">
            <a:spAutoFit/>
          </a:bodyPr>
          <a:lstStyle/>
          <a:p>
            <a:pPr algn="l">
              <a:spcAft>
                <a:spcPts val="400"/>
              </a:spcAft>
            </a:pPr>
            <a:r>
              <a:rPr sz="1500" b="1" i="0">
                <a:solidFill>
                  <a:srgbClr val="2E868F"/>
                </a:solidFill>
              </a:rPr>
              <a:t>The problem</a:t>
            </a:r>
          </a:p>
        </p:txBody>
      </p:sp>
      <p:sp>
        <p:nvSpPr>
          <p:cNvPr id="284" name="TextBox 283"/>
          <p:cNvSpPr txBox="1"/>
          <p:nvPr/>
        </p:nvSpPr>
        <p:spPr>
          <a:xfrm>
            <a:off x="630936" y="1691640"/>
            <a:ext cx="4023360" cy="1463040"/>
          </a:xfrm>
          <a:prstGeom prst="rect">
            <a:avLst/>
          </a:prstGeom>
          <a:noFill/>
        </p:spPr>
        <p:txBody>
          <a:bodyPr wrap="square" lIns="45720" rIns="45720">
            <a:spAutoFit/>
          </a:bodyPr>
          <a:lstStyle/>
          <a:p>
            <a:pPr marL="228600" indent="-228600">
              <a:spcAft>
                <a:spcPts val="400"/>
              </a:spcAft>
              <a:buChar char="•"/>
            </a:pPr>
            <a:r>
              <a:rPr sz="1200">
                <a:solidFill>
                  <a:srgbClr val="1F1F1F"/>
                </a:solidFill>
              </a:rPr>
              <a:t>ZOA's example trigger: a flood “inundating cropland” (Q&amp;A 2, slides 31, 40).</a:t>
            </a:r>
          </a:p>
          <a:p>
            <a:pPr marL="228600" indent="-228600">
              <a:spcAft>
                <a:spcPts val="400"/>
              </a:spcAft>
              <a:buChar char="•"/>
            </a:pPr>
            <a:r>
              <a:rPr sz="1200">
                <a:solidFill>
                  <a:srgbClr val="1F1F1F"/>
                </a:solidFill>
              </a:rPr>
              <a:t>That number comes from a public flood map laid over a public cropland map.</a:t>
            </a:r>
          </a:p>
          <a:p>
            <a:pPr marL="228600" indent="-228600">
              <a:spcAft>
                <a:spcPts val="400"/>
              </a:spcAft>
              <a:buChar char="•"/>
            </a:pPr>
            <a:r>
              <a:rPr sz="1200">
                <a:solidFill>
                  <a:srgbClr val="1F1F1F"/>
                </a:solidFill>
              </a:rPr>
              <a:t>Nobody has checked those maps along the Lol river (Aweil) or in Bor South.</a:t>
            </a:r>
          </a:p>
        </p:txBody>
      </p:sp>
      <p:sp>
        <p:nvSpPr>
          <p:cNvPr id="285" name="TextBox 284"/>
          <p:cNvSpPr txBox="1"/>
          <p:nvPr/>
        </p:nvSpPr>
        <p:spPr>
          <a:xfrm>
            <a:off x="630936" y="3108960"/>
            <a:ext cx="4023360" cy="320040"/>
          </a:xfrm>
          <a:prstGeom prst="rect">
            <a:avLst/>
          </a:prstGeom>
          <a:noFill/>
        </p:spPr>
        <p:txBody>
          <a:bodyPr wrap="square" lIns="45720" tIns="27432" rIns="45720" bIns="27432" anchor="t">
            <a:spAutoFit/>
          </a:bodyPr>
          <a:lstStyle/>
          <a:p>
            <a:pPr algn="l">
              <a:spcAft>
                <a:spcPts val="400"/>
              </a:spcAft>
            </a:pPr>
            <a:r>
              <a:rPr sz="1500" b="1" i="0">
                <a:solidFill>
                  <a:srgbClr val="2E868F"/>
                </a:solidFill>
              </a:rPr>
              <a:t>Why it matters</a:t>
            </a:r>
          </a:p>
        </p:txBody>
      </p:sp>
      <p:sp>
        <p:nvSpPr>
          <p:cNvPr id="286" name="TextBox 285"/>
          <p:cNvSpPr txBox="1"/>
          <p:nvPr/>
        </p:nvSpPr>
        <p:spPr>
          <a:xfrm>
            <a:off x="630936" y="3429000"/>
            <a:ext cx="4023360" cy="1280160"/>
          </a:xfrm>
          <a:prstGeom prst="rect">
            <a:avLst/>
          </a:prstGeom>
          <a:noFill/>
        </p:spPr>
        <p:txBody>
          <a:bodyPr wrap="square" lIns="45720" rIns="45720">
            <a:spAutoFit/>
          </a:bodyPr>
          <a:lstStyle/>
          <a:p>
            <a:pPr marL="228600" indent="-228600">
              <a:spcAft>
                <a:spcPts val="400"/>
              </a:spcAft>
              <a:buChar char="•"/>
            </a:pPr>
            <a:r>
              <a:rPr sz="1200">
                <a:solidFill>
                  <a:srgbClr val="1F1F1F"/>
                </a:solidFill>
              </a:rPr>
              <a:t>≈80% of rural communities live mainly from farming, mostly smallholders (slide 33).</a:t>
            </a:r>
          </a:p>
          <a:p>
            <a:pPr marL="228600" indent="-228600">
              <a:spcAft>
                <a:spcPts val="400"/>
              </a:spcAft>
              <a:buChar char="•"/>
            </a:pPr>
            <a:r>
              <a:rPr sz="1200">
                <a:solidFill>
                  <a:srgbClr val="1F1F1F"/>
                </a:solidFill>
              </a:rPr>
              <a:t>Harvest failure is ZOA's priority flood impact (slide 6).</a:t>
            </a:r>
          </a:p>
          <a:p>
            <a:pPr marL="228600" indent="-228600">
              <a:spcAft>
                <a:spcPts val="400"/>
              </a:spcAft>
              <a:buChar char="•"/>
            </a:pPr>
            <a:r>
              <a:rPr sz="1200">
                <a:solidFill>
                  <a:srgbClr val="1F1F1F"/>
                </a:solidFill>
              </a:rPr>
              <a:t>ZOA itself warns: “the dataset might not capture agricultural land” (slide 33).</a:t>
            </a:r>
          </a:p>
        </p:txBody>
      </p:sp>
      <p:sp>
        <p:nvSpPr>
          <p:cNvPr id="287" name="Rounded Rectangle 286"/>
          <p:cNvSpPr/>
          <p:nvPr/>
        </p:nvSpPr>
        <p:spPr>
          <a:xfrm>
            <a:off x="4846320" y="1371600"/>
            <a:ext cx="3666744" cy="329184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TextBox 287"/>
          <p:cNvSpPr txBox="1"/>
          <p:nvPr/>
        </p:nvSpPr>
        <p:spPr>
          <a:xfrm>
            <a:off x="5010912" y="1481328"/>
            <a:ext cx="3383280" cy="320040"/>
          </a:xfrm>
          <a:prstGeom prst="rect">
            <a:avLst/>
          </a:prstGeom>
          <a:noFill/>
        </p:spPr>
        <p:txBody>
          <a:bodyPr wrap="square" lIns="45720" tIns="27432" rIns="45720" bIns="27432" anchor="t">
            <a:spAutoFit/>
          </a:bodyPr>
          <a:lstStyle/>
          <a:p>
            <a:pPr algn="l">
              <a:spcAft>
                <a:spcPts val="400"/>
              </a:spcAft>
            </a:pPr>
            <a:r>
              <a:rPr sz="1400" b="1" i="0">
                <a:solidFill>
                  <a:srgbClr val="2E868F"/>
                </a:solidFill>
              </a:rPr>
              <a:t>SLE question (draft, for the team)</a:t>
            </a:r>
          </a:p>
        </p:txBody>
      </p:sp>
      <p:sp>
        <p:nvSpPr>
          <p:cNvPr id="289" name="TextBox 288"/>
          <p:cNvSpPr txBox="1"/>
          <p:nvPr/>
        </p:nvSpPr>
        <p:spPr>
          <a:xfrm>
            <a:off x="5010912" y="1828800"/>
            <a:ext cx="3383280" cy="1188720"/>
          </a:xfrm>
          <a:prstGeom prst="rect">
            <a:avLst/>
          </a:prstGeom>
          <a:noFill/>
        </p:spPr>
        <p:txBody>
          <a:bodyPr wrap="square" lIns="45720" tIns="27432" rIns="45720" bIns="27432" anchor="t">
            <a:spAutoFit/>
          </a:bodyPr>
          <a:lstStyle/>
          <a:p>
            <a:pPr algn="l">
              <a:spcAft>
                <a:spcPts val="400"/>
              </a:spcAft>
            </a:pPr>
            <a:r>
              <a:rPr sz="1500" b="1" i="0" dirty="0">
                <a:solidFill>
                  <a:srgbClr val="1F1F1F"/>
                </a:solidFill>
              </a:rPr>
              <a:t>Whose farmland counts? How the choice of a satellite map decides which flood-hit farmers anticipatory action can see.</a:t>
            </a:r>
          </a:p>
        </p:txBody>
      </p:sp>
      <p:sp>
        <p:nvSpPr>
          <p:cNvPr id="290" name="TextBox 289"/>
          <p:cNvSpPr txBox="1"/>
          <p:nvPr/>
        </p:nvSpPr>
        <p:spPr>
          <a:xfrm>
            <a:off x="5010912" y="3017520"/>
            <a:ext cx="3383280" cy="1600200"/>
          </a:xfrm>
          <a:prstGeom prst="rect">
            <a:avLst/>
          </a:prstGeom>
          <a:noFill/>
        </p:spPr>
        <p:txBody>
          <a:bodyPr wrap="square" lIns="45720" tIns="27432" rIns="45720" bIns="27432" anchor="t">
            <a:spAutoFit/>
          </a:bodyPr>
          <a:lstStyle/>
          <a:p>
            <a:pPr algn="l">
              <a:spcAft>
                <a:spcPts val="400"/>
              </a:spcAft>
            </a:pPr>
            <a:r>
              <a:rPr sz="1100" b="1" i="0">
                <a:solidFill>
                  <a:srgbClr val="5F6368"/>
                </a:solidFill>
              </a:rPr>
              <a:t>Lenses from the lectures</a:t>
            </a:r>
          </a:p>
          <a:p>
            <a:pPr algn="l">
              <a:spcAft>
                <a:spcPts val="400"/>
              </a:spcAft>
            </a:pPr>
            <a:r>
              <a:rPr sz="1100" b="0" i="0">
                <a:solidFill>
                  <a:srgbClr val="1F1F1F"/>
                </a:solidFill>
              </a:rPr>
              <a:t>“Technical choices = SLE choices” (L1 p. 5)</a:t>
            </a:r>
          </a:p>
          <a:p>
            <a:pPr algn="l">
              <a:spcAft>
                <a:spcPts val="400"/>
              </a:spcAft>
            </a:pPr>
            <a:r>
              <a:rPr sz="1100" b="0" i="0">
                <a:solidFill>
                  <a:srgbClr val="1F1F1F"/>
                </a:solidFill>
              </a:rPr>
              <a:t>“Whose way of ‘seeing’ counts?” (Jasanoff, L1 p. 7)</a:t>
            </a:r>
          </a:p>
          <a:p>
            <a:pPr algn="l">
              <a:spcAft>
                <a:spcPts val="400"/>
              </a:spcAft>
            </a:pPr>
            <a:r>
              <a:rPr sz="1100" b="0" i="0">
                <a:solidFill>
                  <a:srgbClr val="1F1F1F"/>
                </a:solidFill>
              </a:rPr>
              <a:t>“Which communities? Who? Where?” (Sen, L2 p. 11)</a:t>
            </a:r>
          </a:p>
        </p:txBody>
      </p:sp>
      <p:sp>
        <p:nvSpPr>
          <p:cNvPr id="291" name="TextBox 290"/>
          <p:cNvSpPr txBox="1"/>
          <p:nvPr/>
        </p:nvSpPr>
        <p:spPr>
          <a:xfrm>
            <a:off x="630936" y="4754880"/>
            <a:ext cx="7882127" cy="274320"/>
          </a:xfrm>
          <a:prstGeom prst="rect">
            <a:avLst/>
          </a:prstGeom>
          <a:noFill/>
        </p:spPr>
        <p:txBody>
          <a:bodyPr wrap="square" lIns="45720" tIns="27432" rIns="45720" bIns="27432" anchor="t">
            <a:spAutoFit/>
          </a:bodyPr>
          <a:lstStyle/>
          <a:p>
            <a:pPr algn="l">
              <a:spcAft>
                <a:spcPts val="400"/>
              </a:spcAft>
            </a:pPr>
            <a:r>
              <a:rPr sz="900" b="0" i="0">
                <a:solidFill>
                  <a:srgbClr val="5F6368"/>
                </a:solidFill>
              </a:rPr>
              <a:t>Stakeholder Q&amp;A 2 (ZOA / Zero Hunger Lab, 21 Sep 2026). L1 = SLE lecture 1 (Petročnik), L2 / L3 = SLE lectures 2 and 3 (van Maanen).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spcFirstLastPara="1" wrap="square" lIns="91425" tIns="91425" rIns="91425" bIns="91425" anchor="t" anchorCtr="0">
            <a:noAutofit/>
          </a:bodyPr>
          <a:lstStyle/>
          <a:p>
            <a:r>
              <a:rPr lang="en-US" dirty="0"/>
              <a:t>Societal-Legal-Ethical Angle (Essay):</a:t>
            </a:r>
            <a:br>
              <a:rPr dirty="0"/>
            </a:br>
            <a:r>
              <a:rPr lang="en-US" dirty="0">
                <a:solidFill>
                  <a:srgbClr val="C00000"/>
                </a:solidFill>
              </a:rPr>
              <a:t>Result: the map decides who is seen</a:t>
            </a:r>
            <a:endParaRPr lang="en-US" dirty="0">
              <a:solidFill>
                <a:schemeClr val="accent2">
                  <a:lumMod val="75000"/>
                </a:schemeClr>
              </a:solidFill>
            </a:endParaRPr>
          </a:p>
        </p:txBody>
      </p:sp>
      <p:pic>
        <p:nvPicPr>
          <p:cNvPr id="3" name="Picture 2" descr="slide_sle_two_maps_turalei.png"/>
          <p:cNvPicPr>
            <a:picLocks noChangeAspect="1"/>
          </p:cNvPicPr>
          <p:nvPr/>
        </p:nvPicPr>
        <p:blipFill>
          <a:blip r:embed="rId3"/>
          <a:stretch>
            <a:fillRect/>
          </a:stretch>
        </p:blipFill>
        <p:spPr>
          <a:xfrm>
            <a:off x="630936" y="1298448"/>
            <a:ext cx="7882127" cy="2810681"/>
          </a:xfrm>
          <a:prstGeom prst="rect">
            <a:avLst/>
          </a:prstGeom>
        </p:spPr>
      </p:pic>
      <p:sp>
        <p:nvSpPr>
          <p:cNvPr id="4" name="TextBox 3"/>
          <p:cNvSpPr txBox="1"/>
          <p:nvPr/>
        </p:nvSpPr>
        <p:spPr>
          <a:xfrm>
            <a:off x="630936" y="4114800"/>
            <a:ext cx="3840480" cy="640080"/>
          </a:xfrm>
          <a:prstGeom prst="rect">
            <a:avLst/>
          </a:prstGeom>
          <a:noFill/>
        </p:spPr>
        <p:txBody>
          <a:bodyPr wrap="square" lIns="45720" tIns="27432" rIns="45720" bIns="27432" anchor="t">
            <a:spAutoFit/>
          </a:bodyPr>
          <a:lstStyle/>
          <a:p>
            <a:pPr algn="l">
              <a:spcAft>
                <a:spcPts val="400"/>
              </a:spcAft>
            </a:pPr>
            <a:r>
              <a:rPr sz="1100" b="0" i="0">
                <a:solidFill>
                  <a:srgbClr val="1F1F1F"/>
                </a:solidFill>
              </a:rPr>
              <a:t>Same fields, near Turalei (outside our study area): one map sees almost no farms, the other sees half the land.</a:t>
            </a:r>
          </a:p>
        </p:txBody>
      </p:sp>
      <p:sp>
        <p:nvSpPr>
          <p:cNvPr id="5" name="TextBox 4"/>
          <p:cNvSpPr txBox="1"/>
          <p:nvPr/>
        </p:nvSpPr>
        <p:spPr>
          <a:xfrm>
            <a:off x="4654296" y="4114800"/>
            <a:ext cx="3858768" cy="640080"/>
          </a:xfrm>
          <a:prstGeom prst="rect">
            <a:avLst/>
          </a:prstGeom>
          <a:noFill/>
        </p:spPr>
        <p:txBody>
          <a:bodyPr wrap="square" lIns="45720" tIns="27432" rIns="45720" bIns="27432" anchor="t">
            <a:spAutoFit/>
          </a:bodyPr>
          <a:lstStyle/>
          <a:p>
            <a:pPr algn="l">
              <a:spcAft>
                <a:spcPts val="400"/>
              </a:spcAft>
            </a:pPr>
            <a:r>
              <a:rPr sz="1100" b="1" i="0">
                <a:solidFill>
                  <a:srgbClr val="C00000"/>
                </a:solidFill>
              </a:rPr>
              <a:t>Aweil counties: 1 ha of cropland if all four main maps must agree, ≈47,000 ha if one is enough, ≈140,000 ha if any of seven counts.</a:t>
            </a:r>
          </a:p>
        </p:txBody>
      </p:sp>
      <p:sp>
        <p:nvSpPr>
          <p:cNvPr id="6" name="TextBox 5"/>
          <p:cNvSpPr txBox="1"/>
          <p:nvPr/>
        </p:nvSpPr>
        <p:spPr>
          <a:xfrm>
            <a:off x="630936" y="4754880"/>
            <a:ext cx="7882127" cy="274320"/>
          </a:xfrm>
          <a:prstGeom prst="rect">
            <a:avLst/>
          </a:prstGeom>
          <a:noFill/>
        </p:spPr>
        <p:txBody>
          <a:bodyPr wrap="square" lIns="45720" tIns="27432" rIns="45720" bIns="27432" anchor="t">
            <a:spAutoFit/>
          </a:bodyPr>
          <a:lstStyle/>
          <a:p>
            <a:pPr algn="l">
              <a:spcAft>
                <a:spcPts val="400"/>
              </a:spcAft>
            </a:pPr>
            <a:r>
              <a:rPr sz="900" b="0" i="0">
                <a:solidFill>
                  <a:srgbClr val="5F6368"/>
                </a:solidFill>
              </a:rPr>
              <a:t>Gold = map says crop. Reading: data is socially constructed, not simply “seen” (L1 p. 7); unrepresentative data create blind spots (L1 p. 10). Agreement between maps is not accuracy.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spcFirstLastPara="1" wrap="square" lIns="91425" tIns="91425" rIns="91425" bIns="91425" anchor="t" anchorCtr="0">
            <a:noAutofit/>
          </a:bodyPr>
          <a:lstStyle/>
          <a:p>
            <a:r>
              <a:rPr lang="en-US" dirty="0"/>
              <a:t>Societal-Legal-Ethical Angle (Essay):</a:t>
            </a:r>
            <a:br/>
            <a:r>
              <a:rPr lang="en-US" dirty="0">
                <a:solidFill>
                  <a:srgbClr val="C00000"/>
                </a:solidFill>
              </a:rPr>
              <a:t>Prior paper and why it is neglected</a:t>
            </a:r>
            <a:endParaRPr lang="en-US" dirty="0">
              <a:solidFill>
                <a:schemeClr val="accent2">
                  <a:lumMod val="75000"/>
                </a:schemeClr>
              </a:solidFill>
            </a:endParaRPr>
          </a:p>
        </p:txBody>
      </p:sp>
      <p:sp>
        <p:nvSpPr>
          <p:cNvPr id="3" name="Rounded Rectangle 2"/>
          <p:cNvSpPr/>
          <p:nvPr/>
        </p:nvSpPr>
        <p:spPr>
          <a:xfrm>
            <a:off x="630936" y="1371600"/>
            <a:ext cx="3858768" cy="251460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8" y="1463040"/>
            <a:ext cx="3566160" cy="320040"/>
          </a:xfrm>
          <a:prstGeom prst="rect">
            <a:avLst/>
          </a:prstGeom>
          <a:noFill/>
        </p:spPr>
        <p:txBody>
          <a:bodyPr wrap="square" lIns="45720" tIns="27432" rIns="45720" bIns="27432" anchor="t">
            <a:spAutoFit/>
          </a:bodyPr>
          <a:lstStyle/>
          <a:p>
            <a:pPr algn="l">
              <a:spcAft>
                <a:spcPts val="400"/>
              </a:spcAft>
            </a:pPr>
            <a:r>
              <a:rPr sz="1400" b="1" i="0">
                <a:solidFill>
                  <a:srgbClr val="2E868F"/>
                </a:solidFill>
              </a:rPr>
              <a:t>The paper we build on</a:t>
            </a:r>
          </a:p>
        </p:txBody>
      </p:sp>
      <p:sp>
        <p:nvSpPr>
          <p:cNvPr id="5" name="TextBox 4"/>
          <p:cNvSpPr txBox="1"/>
          <p:nvPr/>
        </p:nvSpPr>
        <p:spPr>
          <a:xfrm>
            <a:off x="795528" y="1810512"/>
            <a:ext cx="3566160" cy="2057400"/>
          </a:xfrm>
          <a:prstGeom prst="rect">
            <a:avLst/>
          </a:prstGeom>
          <a:noFill/>
        </p:spPr>
        <p:txBody>
          <a:bodyPr wrap="square" lIns="45720" tIns="27432" rIns="45720" bIns="27432" anchor="t">
            <a:spAutoFit/>
          </a:bodyPr>
          <a:lstStyle/>
          <a:p>
            <a:pPr algn="l">
              <a:spcAft>
                <a:spcPts val="400"/>
              </a:spcAft>
            </a:pPr>
            <a:r>
              <a:rPr sz="1200" b="0" i="0" dirty="0">
                <a:solidFill>
                  <a:srgbClr val="1F1F1F"/>
                </a:solidFill>
              </a:rPr>
              <a:t>Pacetti, Caporali &amp; Rulli (2017): flood map × land-use map → lost crops and calories (Bangladesh 2007, Pakistan 2010).</a:t>
            </a:r>
          </a:p>
          <a:p>
            <a:pPr algn="l">
              <a:spcAft>
                <a:spcPts val="400"/>
              </a:spcAft>
            </a:pPr>
            <a:r>
              <a:rPr sz="1200" b="0" i="1" dirty="0">
                <a:solidFill>
                  <a:srgbClr val="1F1F1F"/>
                </a:solidFill>
              </a:rPr>
              <a:t>Their own warning: “Remote sensing data by itself lacks the level of accuracy necessary in a comprehensive food security assessment.”</a:t>
            </a:r>
          </a:p>
          <a:p>
            <a:pPr algn="l">
              <a:spcAft>
                <a:spcPts val="400"/>
              </a:spcAft>
            </a:pPr>
            <a:r>
              <a:rPr sz="1200" b="0" i="0" dirty="0">
                <a:solidFill>
                  <a:srgbClr val="1F1F1F"/>
                </a:solidFill>
              </a:rPr>
              <a:t>WFP ADAM uses the same overlay for South Sudan, with no accuracy statement.</a:t>
            </a:r>
          </a:p>
        </p:txBody>
      </p:sp>
      <p:sp>
        <p:nvSpPr>
          <p:cNvPr id="6" name="TextBox 5"/>
          <p:cNvSpPr txBox="1"/>
          <p:nvPr/>
        </p:nvSpPr>
        <p:spPr>
          <a:xfrm>
            <a:off x="4654296" y="1371600"/>
            <a:ext cx="3858768" cy="320040"/>
          </a:xfrm>
          <a:prstGeom prst="rect">
            <a:avLst/>
          </a:prstGeom>
          <a:noFill/>
        </p:spPr>
        <p:txBody>
          <a:bodyPr wrap="square" lIns="45720" tIns="27432" rIns="45720" bIns="27432" anchor="t">
            <a:spAutoFit/>
          </a:bodyPr>
          <a:lstStyle/>
          <a:p>
            <a:pPr algn="l">
              <a:spcAft>
                <a:spcPts val="400"/>
              </a:spcAft>
            </a:pPr>
            <a:r>
              <a:rPr sz="1400" b="1" i="0">
                <a:solidFill>
                  <a:srgbClr val="2E868F"/>
                </a:solidFill>
              </a:rPr>
              <a:t>Why the problem is neglected</a:t>
            </a:r>
          </a:p>
        </p:txBody>
      </p:sp>
      <p:sp>
        <p:nvSpPr>
          <p:cNvPr id="7" name="TextBox 6"/>
          <p:cNvSpPr txBox="1"/>
          <p:nvPr/>
        </p:nvSpPr>
        <p:spPr>
          <a:xfrm>
            <a:off x="4654296" y="1719072"/>
            <a:ext cx="3858768" cy="2194560"/>
          </a:xfrm>
          <a:prstGeom prst="rect">
            <a:avLst/>
          </a:prstGeom>
          <a:noFill/>
        </p:spPr>
        <p:txBody>
          <a:bodyPr wrap="square" lIns="45720" rIns="45720">
            <a:spAutoFit/>
          </a:bodyPr>
          <a:lstStyle/>
          <a:p>
            <a:pPr marL="228600" indent="-228600">
              <a:spcAft>
                <a:spcPts val="400"/>
              </a:spcAft>
              <a:buChar char="•"/>
            </a:pPr>
            <a:r>
              <a:rPr sz="1200" dirty="0">
                <a:solidFill>
                  <a:srgbClr val="1F1F1F"/>
                </a:solidFill>
              </a:rPr>
              <a:t>No ground truth: accuracy studies skip South Sudan (Kerner et al. 2024: 8 countries, not this one).</a:t>
            </a:r>
          </a:p>
          <a:p>
            <a:pPr marL="228600" indent="-228600">
              <a:spcAft>
                <a:spcPts val="400"/>
              </a:spcAft>
              <a:buChar char="•"/>
            </a:pPr>
            <a:r>
              <a:rPr sz="1200" dirty="0">
                <a:solidFill>
                  <a:srgbClr val="1F1F1F"/>
                </a:solidFill>
              </a:rPr>
              <a:t>Clouds hide the fields in July–September, exactly when they flood.</a:t>
            </a:r>
          </a:p>
          <a:p>
            <a:pPr marL="228600" indent="-228600">
              <a:spcAft>
                <a:spcPts val="400"/>
              </a:spcAft>
              <a:buChar char="•"/>
            </a:pPr>
            <a:r>
              <a:rPr sz="1200" dirty="0">
                <a:solidFill>
                  <a:srgbClr val="1F1F1F"/>
                </a:solidFill>
              </a:rPr>
              <a:t>Smallholder plots are small, move and lie fallow: global maps miss them.</a:t>
            </a:r>
          </a:p>
          <a:p>
            <a:pPr marL="228600" indent="-228600">
              <a:spcAft>
                <a:spcPts val="400"/>
              </a:spcAft>
              <a:buChar char="•"/>
            </a:pPr>
            <a:r>
              <a:rPr sz="1200" dirty="0">
                <a:solidFill>
                  <a:srgbClr val="1F1F1F"/>
                </a:solidFill>
              </a:rPr>
              <a:t>Hectares are published without error bars, so the gap stays invisible.</a:t>
            </a:r>
          </a:p>
        </p:txBody>
      </p:sp>
      <p:sp>
        <p:nvSpPr>
          <p:cNvPr id="8" name="Rounded Rectangle 7"/>
          <p:cNvSpPr/>
          <p:nvPr/>
        </p:nvSpPr>
        <p:spPr>
          <a:xfrm>
            <a:off x="630936" y="4023360"/>
            <a:ext cx="7882127" cy="658368"/>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4069080"/>
            <a:ext cx="7589520" cy="594360"/>
          </a:xfrm>
          <a:prstGeom prst="rect">
            <a:avLst/>
          </a:prstGeom>
          <a:noFill/>
        </p:spPr>
        <p:txBody>
          <a:bodyPr wrap="square" lIns="45720" tIns="27432" rIns="45720" bIns="27432" anchor="ctr">
            <a:spAutoFit/>
          </a:bodyPr>
          <a:lstStyle/>
          <a:p>
            <a:pPr algn="l">
              <a:spcAft>
                <a:spcPts val="400"/>
              </a:spcAft>
            </a:pPr>
            <a:r>
              <a:rPr sz="1200" b="0" i="0">
                <a:solidFill>
                  <a:srgbClr val="1F1F1F"/>
                </a:solidFill>
              </a:rPr>
              <a:t>Leads for the essay: Who writes what, and for what reason? (L3 p. 18). Do exact-looking hectares serve reporting to donors more than decisions in the field? (logic of audit, L2 p. 4)</a:t>
            </a:r>
          </a:p>
        </p:txBody>
      </p:sp>
      <p:sp>
        <p:nvSpPr>
          <p:cNvPr id="10" name="TextBox 9"/>
          <p:cNvSpPr txBox="1"/>
          <p:nvPr/>
        </p:nvSpPr>
        <p:spPr>
          <a:xfrm>
            <a:off x="630936" y="4754880"/>
            <a:ext cx="7882127" cy="274320"/>
          </a:xfrm>
          <a:prstGeom prst="rect">
            <a:avLst/>
          </a:prstGeom>
          <a:noFill/>
        </p:spPr>
        <p:txBody>
          <a:bodyPr wrap="square" lIns="45720" tIns="27432" rIns="45720" bIns="27432" anchor="t">
            <a:spAutoFit/>
          </a:bodyPr>
          <a:lstStyle/>
          <a:p>
            <a:pPr algn="l">
              <a:spcAft>
                <a:spcPts val="400"/>
              </a:spcAft>
            </a:pPr>
            <a:r>
              <a:rPr sz="900" b="0" i="0">
                <a:solidFill>
                  <a:srgbClr val="5F6368"/>
                </a:solidFill>
              </a:rPr>
              <a:t>Pacetti et al. (2017), Advances in Water Resources 110:494–504, quote p. 501. Kerner et al. (2024), Scientific Data, doi:10.1038/s41597-024-03306-z.</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spcFirstLastPara="1" wrap="square" lIns="91425" tIns="91425" rIns="91425" bIns="91425" anchor="t" anchorCtr="0">
            <a:noAutofit/>
          </a:bodyPr>
          <a:lstStyle/>
          <a:p>
            <a:r>
              <a:rPr lang="en-US" dirty="0"/>
              <a:t>Societal-Legal-Ethical Angle (Essay):</a:t>
            </a:r>
            <a:br/>
            <a:r>
              <a:rPr lang="en-US" dirty="0">
                <a:solidFill>
                  <a:srgbClr val="C00000"/>
                </a:solidFill>
              </a:rPr>
              <a:t>What unreliable data costs people</a:t>
            </a:r>
            <a:endParaRPr lang="en-US" dirty="0">
              <a:solidFill>
                <a:schemeClr val="accent2">
                  <a:lumMod val="75000"/>
                </a:schemeClr>
              </a:solidFill>
            </a:endParaRPr>
          </a:p>
        </p:txBody>
      </p:sp>
      <p:sp>
        <p:nvSpPr>
          <p:cNvPr id="3" name="Rounded Rectangle 2"/>
          <p:cNvSpPr/>
          <p:nvPr/>
        </p:nvSpPr>
        <p:spPr>
          <a:xfrm>
            <a:off x="630936" y="1325880"/>
            <a:ext cx="3858768" cy="160020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68096" y="1453895"/>
            <a:ext cx="365760" cy="3657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1</a:t>
            </a:r>
          </a:p>
        </p:txBody>
      </p:sp>
      <p:sp>
        <p:nvSpPr>
          <p:cNvPr id="5" name="TextBox 4"/>
          <p:cNvSpPr txBox="1"/>
          <p:nvPr/>
        </p:nvSpPr>
        <p:spPr>
          <a:xfrm>
            <a:off x="1252728" y="1435607"/>
            <a:ext cx="3154680" cy="384048"/>
          </a:xfrm>
          <a:prstGeom prst="rect">
            <a:avLst/>
          </a:prstGeom>
          <a:noFill/>
        </p:spPr>
        <p:txBody>
          <a:bodyPr wrap="square" lIns="45720" tIns="27432" rIns="45720" bIns="27432" anchor="ctr">
            <a:spAutoFit/>
          </a:bodyPr>
          <a:lstStyle/>
          <a:p>
            <a:pPr algn="l">
              <a:spcAft>
                <a:spcPts val="400"/>
              </a:spcAft>
            </a:pPr>
            <a:r>
              <a:rPr sz="1400" b="1" i="0">
                <a:solidFill>
                  <a:srgbClr val="2E868F"/>
                </a:solidFill>
              </a:rPr>
              <a:t>Farmers left out</a:t>
            </a:r>
          </a:p>
        </p:txBody>
      </p:sp>
      <p:sp>
        <p:nvSpPr>
          <p:cNvPr id="6" name="TextBox 5"/>
          <p:cNvSpPr txBox="1"/>
          <p:nvPr/>
        </p:nvSpPr>
        <p:spPr>
          <a:xfrm>
            <a:off x="795527" y="1856231"/>
            <a:ext cx="3611880" cy="777240"/>
          </a:xfrm>
          <a:prstGeom prst="rect">
            <a:avLst/>
          </a:prstGeom>
          <a:noFill/>
        </p:spPr>
        <p:txBody>
          <a:bodyPr wrap="square" lIns="45720" tIns="27432" rIns="45720" bIns="27432" anchor="t">
            <a:spAutoFit/>
          </a:bodyPr>
          <a:lstStyle/>
          <a:p>
            <a:pPr algn="l">
              <a:spcAft>
                <a:spcPts val="400"/>
              </a:spcAft>
            </a:pPr>
            <a:r>
              <a:rPr sz="1100" b="0" i="0">
                <a:solidFill>
                  <a:srgbClr val="1F1F1F"/>
                </a:solidFill>
              </a:rPr>
              <a:t>A field missing from the map has no flooding and no household to target. Bor South: 0 ha flooded cropland ever detected, yet its roads close 77–92% of weeks in Sep–Dec.</a:t>
            </a:r>
          </a:p>
        </p:txBody>
      </p:sp>
      <p:sp>
        <p:nvSpPr>
          <p:cNvPr id="7" name="TextBox 6"/>
          <p:cNvSpPr txBox="1"/>
          <p:nvPr/>
        </p:nvSpPr>
        <p:spPr>
          <a:xfrm>
            <a:off x="795527" y="2633472"/>
            <a:ext cx="3611880" cy="274320"/>
          </a:xfrm>
          <a:prstGeom prst="rect">
            <a:avLst/>
          </a:prstGeom>
          <a:noFill/>
        </p:spPr>
        <p:txBody>
          <a:bodyPr wrap="square" lIns="45720" tIns="27432" rIns="45720" bIns="27432" anchor="t">
            <a:spAutoFit/>
          </a:bodyPr>
          <a:lstStyle/>
          <a:p>
            <a:pPr algn="l">
              <a:spcAft>
                <a:spcPts val="400"/>
              </a:spcAft>
            </a:pPr>
            <a:r>
              <a:rPr sz="900" b="0" i="1">
                <a:solidFill>
                  <a:srgbClr val="5F6368"/>
                </a:solidFill>
              </a:rPr>
              <a:t>Targeting (Chavez-Gonzalez et al., L3 p. 16); blind spots (L1 p. 10)</a:t>
            </a:r>
          </a:p>
        </p:txBody>
      </p:sp>
      <p:sp>
        <p:nvSpPr>
          <p:cNvPr id="8" name="Rounded Rectangle 7"/>
          <p:cNvSpPr/>
          <p:nvPr/>
        </p:nvSpPr>
        <p:spPr>
          <a:xfrm>
            <a:off x="4654296" y="1325880"/>
            <a:ext cx="3858768" cy="160020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791456" y="1453895"/>
            <a:ext cx="365760" cy="3657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2</a:t>
            </a:r>
          </a:p>
        </p:txBody>
      </p:sp>
      <p:sp>
        <p:nvSpPr>
          <p:cNvPr id="10" name="TextBox 9"/>
          <p:cNvSpPr txBox="1"/>
          <p:nvPr/>
        </p:nvSpPr>
        <p:spPr>
          <a:xfrm>
            <a:off x="5276088" y="1435607"/>
            <a:ext cx="3154680" cy="384048"/>
          </a:xfrm>
          <a:prstGeom prst="rect">
            <a:avLst/>
          </a:prstGeom>
          <a:noFill/>
        </p:spPr>
        <p:txBody>
          <a:bodyPr wrap="square" lIns="45720" tIns="27432" rIns="45720" bIns="27432" anchor="ctr">
            <a:spAutoFit/>
          </a:bodyPr>
          <a:lstStyle/>
          <a:p>
            <a:pPr algn="l">
              <a:spcAft>
                <a:spcPts val="400"/>
              </a:spcAft>
            </a:pPr>
            <a:r>
              <a:rPr sz="1400" b="1" i="0">
                <a:solidFill>
                  <a:srgbClr val="2E868F"/>
                </a:solidFill>
              </a:rPr>
              <a:t>Triggers that stay silent</a:t>
            </a:r>
          </a:p>
        </p:txBody>
      </p:sp>
      <p:sp>
        <p:nvSpPr>
          <p:cNvPr id="11" name="TextBox 10"/>
          <p:cNvSpPr txBox="1"/>
          <p:nvPr/>
        </p:nvSpPr>
        <p:spPr>
          <a:xfrm>
            <a:off x="4818888" y="1856231"/>
            <a:ext cx="3611880" cy="777240"/>
          </a:xfrm>
          <a:prstGeom prst="rect">
            <a:avLst/>
          </a:prstGeom>
          <a:noFill/>
        </p:spPr>
        <p:txBody>
          <a:bodyPr wrap="square" lIns="45720" tIns="27432" rIns="45720" bIns="27432" anchor="t">
            <a:spAutoFit/>
          </a:bodyPr>
          <a:lstStyle/>
          <a:p>
            <a:pPr algn="l">
              <a:spcAft>
                <a:spcPts val="400"/>
              </a:spcAft>
            </a:pPr>
            <a:r>
              <a:rPr sz="1100" b="0" i="0" dirty="0">
                <a:solidFill>
                  <a:srgbClr val="1F1F1F"/>
                </a:solidFill>
              </a:rPr>
              <a:t>2022: the standard overlay finds ≈3,700 ha of flooded cropland in South Sudan; CFSAM reports 130,000 ha damaged. The trigger sees ≈3%.</a:t>
            </a:r>
          </a:p>
        </p:txBody>
      </p:sp>
      <p:sp>
        <p:nvSpPr>
          <p:cNvPr id="12" name="TextBox 11"/>
          <p:cNvSpPr txBox="1"/>
          <p:nvPr/>
        </p:nvSpPr>
        <p:spPr>
          <a:xfrm>
            <a:off x="4818888" y="2633472"/>
            <a:ext cx="3611880" cy="274320"/>
          </a:xfrm>
          <a:prstGeom prst="rect">
            <a:avLst/>
          </a:prstGeom>
          <a:noFill/>
        </p:spPr>
        <p:txBody>
          <a:bodyPr wrap="square" lIns="45720" tIns="27432" rIns="45720" bIns="27432" anchor="t">
            <a:spAutoFit/>
          </a:bodyPr>
          <a:lstStyle/>
          <a:p>
            <a:pPr algn="l">
              <a:spcAft>
                <a:spcPts val="400"/>
              </a:spcAft>
            </a:pPr>
            <a:r>
              <a:rPr sz="900" b="0" i="1">
                <a:solidFill>
                  <a:srgbClr val="5F6368"/>
                </a:solidFill>
              </a:rPr>
              <a:t>Timing and activity: acting too late or not at all (L3 p. 16)</a:t>
            </a:r>
          </a:p>
        </p:txBody>
      </p:sp>
      <p:sp>
        <p:nvSpPr>
          <p:cNvPr id="13" name="Rounded Rectangle 12"/>
          <p:cNvSpPr/>
          <p:nvPr/>
        </p:nvSpPr>
        <p:spPr>
          <a:xfrm>
            <a:off x="630936" y="3017520"/>
            <a:ext cx="3858768" cy="160020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68096" y="3145536"/>
            <a:ext cx="365760" cy="3657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3</a:t>
            </a:r>
          </a:p>
        </p:txBody>
      </p:sp>
      <p:sp>
        <p:nvSpPr>
          <p:cNvPr id="15" name="TextBox 14"/>
          <p:cNvSpPr txBox="1"/>
          <p:nvPr/>
        </p:nvSpPr>
        <p:spPr>
          <a:xfrm>
            <a:off x="1252728" y="3127248"/>
            <a:ext cx="3154680" cy="384048"/>
          </a:xfrm>
          <a:prstGeom prst="rect">
            <a:avLst/>
          </a:prstGeom>
          <a:noFill/>
        </p:spPr>
        <p:txBody>
          <a:bodyPr wrap="square" lIns="45720" tIns="27432" rIns="45720" bIns="27432" anchor="ctr">
            <a:spAutoFit/>
          </a:bodyPr>
          <a:lstStyle/>
          <a:p>
            <a:pPr algn="l">
              <a:spcAft>
                <a:spcPts val="400"/>
              </a:spcAft>
            </a:pPr>
            <a:r>
              <a:rPr sz="1400" b="1" i="0">
                <a:solidFill>
                  <a:srgbClr val="2E868F"/>
                </a:solidFill>
              </a:rPr>
              <a:t>False certainty</a:t>
            </a:r>
          </a:p>
        </p:txBody>
      </p:sp>
      <p:sp>
        <p:nvSpPr>
          <p:cNvPr id="16" name="TextBox 15"/>
          <p:cNvSpPr txBox="1"/>
          <p:nvPr/>
        </p:nvSpPr>
        <p:spPr>
          <a:xfrm>
            <a:off x="795527" y="3547872"/>
            <a:ext cx="3611880" cy="777240"/>
          </a:xfrm>
          <a:prstGeom prst="rect">
            <a:avLst/>
          </a:prstGeom>
          <a:noFill/>
        </p:spPr>
        <p:txBody>
          <a:bodyPr wrap="square" lIns="45720" tIns="27432" rIns="45720" bIns="27432" anchor="t">
            <a:spAutoFit/>
          </a:bodyPr>
          <a:lstStyle/>
          <a:p>
            <a:pPr algn="l">
              <a:spcAft>
                <a:spcPts val="400"/>
              </a:spcAft>
            </a:pPr>
            <a:r>
              <a:rPr sz="1100" b="0" i="0">
                <a:solidFill>
                  <a:srgbClr val="1F1F1F"/>
                </a:solidFill>
              </a:rPr>
              <a:t>Hectares without error bars look exact. ZOA asked for the risks of the data so they can choose between misses and false alarms (Q&amp;A 2, slides 2, 9–11).</a:t>
            </a:r>
          </a:p>
        </p:txBody>
      </p:sp>
      <p:sp>
        <p:nvSpPr>
          <p:cNvPr id="17" name="TextBox 16"/>
          <p:cNvSpPr txBox="1"/>
          <p:nvPr/>
        </p:nvSpPr>
        <p:spPr>
          <a:xfrm>
            <a:off x="795527" y="4325112"/>
            <a:ext cx="3611880" cy="274320"/>
          </a:xfrm>
          <a:prstGeom prst="rect">
            <a:avLst/>
          </a:prstGeom>
          <a:noFill/>
        </p:spPr>
        <p:txBody>
          <a:bodyPr wrap="square" lIns="45720" tIns="27432" rIns="45720" bIns="27432" anchor="t">
            <a:spAutoFit/>
          </a:bodyPr>
          <a:lstStyle/>
          <a:p>
            <a:pPr algn="l">
              <a:spcAft>
                <a:spcPts val="400"/>
              </a:spcAft>
            </a:pPr>
            <a:r>
              <a:rPr sz="900" b="0" i="1">
                <a:solidFill>
                  <a:srgbClr val="5F6368"/>
                </a:solidFill>
              </a:rPr>
              <a:t>Data is not self-explanatory (Letz &amp; Maxwell, L3 p. 17)</a:t>
            </a:r>
          </a:p>
        </p:txBody>
      </p:sp>
      <p:sp>
        <p:nvSpPr>
          <p:cNvPr id="18" name="Rounded Rectangle 17"/>
          <p:cNvSpPr/>
          <p:nvPr/>
        </p:nvSpPr>
        <p:spPr>
          <a:xfrm>
            <a:off x="4654296" y="3017520"/>
            <a:ext cx="3858768" cy="160020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791456" y="3145536"/>
            <a:ext cx="365760" cy="3657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4</a:t>
            </a:r>
          </a:p>
        </p:txBody>
      </p:sp>
      <p:sp>
        <p:nvSpPr>
          <p:cNvPr id="20" name="TextBox 19"/>
          <p:cNvSpPr txBox="1"/>
          <p:nvPr/>
        </p:nvSpPr>
        <p:spPr>
          <a:xfrm>
            <a:off x="5276088" y="3127248"/>
            <a:ext cx="3154680" cy="384048"/>
          </a:xfrm>
          <a:prstGeom prst="rect">
            <a:avLst/>
          </a:prstGeom>
          <a:noFill/>
        </p:spPr>
        <p:txBody>
          <a:bodyPr wrap="square" lIns="45720" tIns="27432" rIns="45720" bIns="27432" anchor="ctr">
            <a:spAutoFit/>
          </a:bodyPr>
          <a:lstStyle/>
          <a:p>
            <a:pPr algn="l">
              <a:spcAft>
                <a:spcPts val="400"/>
              </a:spcAft>
            </a:pPr>
            <a:r>
              <a:rPr sz="1400" b="1" i="0">
                <a:solidFill>
                  <a:srgbClr val="2E868F"/>
                </a:solidFill>
              </a:rPr>
              <a:t>Hectares are not hunger</a:t>
            </a:r>
          </a:p>
        </p:txBody>
      </p:sp>
      <p:sp>
        <p:nvSpPr>
          <p:cNvPr id="21" name="TextBox 20"/>
          <p:cNvSpPr txBox="1"/>
          <p:nvPr/>
        </p:nvSpPr>
        <p:spPr>
          <a:xfrm>
            <a:off x="4818888" y="3547872"/>
            <a:ext cx="3611880" cy="777240"/>
          </a:xfrm>
          <a:prstGeom prst="rect">
            <a:avLst/>
          </a:prstGeom>
          <a:noFill/>
        </p:spPr>
        <p:txBody>
          <a:bodyPr wrap="square" lIns="45720" tIns="27432" rIns="45720" bIns="27432" anchor="t">
            <a:spAutoFit/>
          </a:bodyPr>
          <a:lstStyle/>
          <a:p>
            <a:pPr algn="l">
              <a:spcAft>
                <a:spcPts val="400"/>
              </a:spcAft>
            </a:pPr>
            <a:r>
              <a:rPr sz="1100" b="0" i="0">
                <a:solidFill>
                  <a:srgbClr val="1F1F1F"/>
                </a:solidFill>
              </a:rPr>
              <a:t>Flooded cropland is one factor. The same flood hits IDPs, hosts and pastoralists differently (Q&amp;A 2, slide 38).</a:t>
            </a:r>
          </a:p>
        </p:txBody>
      </p:sp>
      <p:sp>
        <p:nvSpPr>
          <p:cNvPr id="22" name="TextBox 21"/>
          <p:cNvSpPr txBox="1"/>
          <p:nvPr/>
        </p:nvSpPr>
        <p:spPr>
          <a:xfrm>
            <a:off x="4818888" y="4325112"/>
            <a:ext cx="3611880" cy="274320"/>
          </a:xfrm>
          <a:prstGeom prst="rect">
            <a:avLst/>
          </a:prstGeom>
          <a:noFill/>
        </p:spPr>
        <p:txBody>
          <a:bodyPr wrap="square" lIns="45720" tIns="27432" rIns="45720" bIns="27432" anchor="t">
            <a:spAutoFit/>
          </a:bodyPr>
          <a:lstStyle/>
          <a:p>
            <a:pPr algn="l">
              <a:spcAft>
                <a:spcPts val="400"/>
              </a:spcAft>
            </a:pPr>
            <a:r>
              <a:rPr sz="900" b="0" i="1">
                <a:solidFill>
                  <a:srgbClr val="5F6368"/>
                </a:solidFill>
              </a:rPr>
              <a:t>Do not use one factor; entitlements (Sen, L2 pp. 8–10)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1"/>
          <p:cNvSpPr txBox="1">
            <a:spLocks noGrp="1"/>
          </p:cNvSpPr>
          <p:nvPr>
            <p:ph type="title"/>
          </p:nvPr>
        </p:nvSpPr>
        <p:spPr>
          <a:xfrm>
            <a:off x="628650" y="273844"/>
            <a:ext cx="7886700" cy="994172"/>
          </a:xfrm>
        </p:spPr>
        <p:txBody>
          <a:bodyPr spcFirstLastPara="1" wrap="square" lIns="91425" tIns="91425" rIns="91425" bIns="91425" anchor="t" anchorCtr="0">
            <a:noAutofit/>
          </a:bodyPr>
          <a:lstStyle/>
          <a:p>
            <a:r>
              <a:rPr lang="en-US" dirty="0"/>
              <a:t>Societal-Legal-Ethical Angle (Essay):</a:t>
            </a:r>
            <a:br/>
            <a:r>
              <a:rPr lang="en-US" dirty="0">
                <a:solidFill>
                  <a:srgbClr val="C00000"/>
                </a:solidFill>
              </a:rPr>
              <a:t>Mistakes and what we have learned</a:t>
            </a:r>
            <a:endParaRPr lang="en-US" dirty="0">
              <a:solidFill>
                <a:schemeClr val="accent2">
                  <a:lumMod val="75000"/>
                </a:schemeClr>
              </a:solidFill>
            </a:endParaRPr>
          </a:p>
        </p:txBody>
      </p:sp>
      <p:graphicFrame>
        <p:nvGraphicFramePr>
          <p:cNvPr id="289" name="Table 288"/>
          <p:cNvGraphicFramePr>
            <a:graphicFrameLocks noGrp="1"/>
          </p:cNvGraphicFramePr>
          <p:nvPr>
            <p:extLst>
              <p:ext uri="{D42A27DB-BD31-4B8C-83A1-F6EECF244321}">
                <p14:modId xmlns:p14="http://schemas.microsoft.com/office/powerpoint/2010/main" val="217639292"/>
              </p:ext>
            </p:extLst>
          </p:nvPr>
        </p:nvGraphicFramePr>
        <p:xfrm>
          <a:off x="630936" y="1371600"/>
          <a:ext cx="7882128" cy="2743200"/>
        </p:xfrm>
        <a:graphic>
          <a:graphicData uri="http://schemas.openxmlformats.org/drawingml/2006/table">
            <a:tbl>
              <a:tblPr firstRow="1" bandRow="1">
                <a:tableStyleId>{5C22544A-7EE6-4342-B048-85BDC9FD1C3A}</a:tableStyleId>
              </a:tblPr>
              <a:tblGrid>
                <a:gridCol w="3566160">
                  <a:extLst>
                    <a:ext uri="{9D8B030D-6E8A-4147-A177-3AD203B41FA5}">
                      <a16:colId xmlns:a16="http://schemas.microsoft.com/office/drawing/2014/main" val="20000"/>
                    </a:ext>
                  </a:extLst>
                </a:gridCol>
                <a:gridCol w="4315968">
                  <a:extLst>
                    <a:ext uri="{9D8B030D-6E8A-4147-A177-3AD203B41FA5}">
                      <a16:colId xmlns:a16="http://schemas.microsoft.com/office/drawing/2014/main" val="20001"/>
                    </a:ext>
                  </a:extLst>
                </a:gridCol>
              </a:tblGrid>
              <a:tr h="548640">
                <a:tc>
                  <a:txBody>
                    <a:bodyPr/>
                    <a:lstStyle/>
                    <a:p>
                      <a:r>
                        <a:rPr sz="1300" b="1">
                          <a:solidFill>
                            <a:srgbClr val="FFFFFF"/>
                          </a:solidFill>
                        </a:rPr>
                        <a:t>Mistake</a:t>
                      </a:r>
                    </a:p>
                  </a:txBody>
                  <a:tcPr>
                    <a:solidFill>
                      <a:srgbClr val="2E868F"/>
                    </a:solidFill>
                  </a:tcPr>
                </a:tc>
                <a:tc>
                  <a:txBody>
                    <a:bodyPr/>
                    <a:lstStyle/>
                    <a:p>
                      <a:r>
                        <a:rPr sz="1300" b="1">
                          <a:solidFill>
                            <a:srgbClr val="FFFFFF"/>
                          </a:solidFill>
                        </a:rPr>
                        <a:t>What we learned</a:t>
                      </a:r>
                    </a:p>
                  </a:txBody>
                  <a:tcPr>
                    <a:solidFill>
                      <a:srgbClr val="2E868F"/>
                    </a:solidFill>
                  </a:tcPr>
                </a:tc>
                <a:extLst>
                  <a:ext uri="{0D108BD9-81ED-4DB2-BD59-A6C34878D82A}">
                    <a16:rowId xmlns:a16="http://schemas.microsoft.com/office/drawing/2014/main" val="10000"/>
                  </a:ext>
                </a:extLst>
              </a:tr>
              <a:tr h="548640">
                <a:tc>
                  <a:txBody>
                    <a:bodyPr/>
                    <a:lstStyle/>
                    <a:p>
                      <a:r>
                        <a:rPr sz="1200">
                          <a:solidFill>
                            <a:srgbClr val="1F1F1F"/>
                          </a:solidFill>
                        </a:rPr>
                        <a:t>We started from what a model can predict (a flood forecast)</a:t>
                      </a:r>
                    </a:p>
                  </a:txBody>
                  <a:tcPr>
                    <a:solidFill>
                      <a:srgbClr val="E9F5F6"/>
                    </a:solidFill>
                  </a:tcPr>
                </a:tc>
                <a:tc>
                  <a:txBody>
                    <a:bodyPr/>
                    <a:lstStyle/>
                    <a:p>
                      <a:r>
                        <a:rPr sz="1200" dirty="0">
                          <a:solidFill>
                            <a:srgbClr val="1F1F1F"/>
                          </a:solidFill>
                        </a:rPr>
                        <a:t>ZOA decides about crops and people; tools can change the problem (L3 p. 11). We check the data first.</a:t>
                      </a:r>
                    </a:p>
                  </a:txBody>
                  <a:tcPr>
                    <a:solidFill>
                      <a:srgbClr val="E9F5F6"/>
                    </a:solidFill>
                  </a:tcPr>
                </a:tc>
                <a:extLst>
                  <a:ext uri="{0D108BD9-81ED-4DB2-BD59-A6C34878D82A}">
                    <a16:rowId xmlns:a16="http://schemas.microsoft.com/office/drawing/2014/main" val="10001"/>
                  </a:ext>
                </a:extLst>
              </a:tr>
              <a:tr h="548640">
                <a:tc>
                  <a:txBody>
                    <a:bodyPr/>
                    <a:lstStyle/>
                    <a:p>
                      <a:r>
                        <a:rPr sz="1200" dirty="0">
                          <a:solidFill>
                            <a:srgbClr val="1F1F1F"/>
                          </a:solidFill>
                        </a:rPr>
                        <a:t>We took one cropland map as the truth</a:t>
                      </a:r>
                    </a:p>
                  </a:txBody>
                  <a:tcPr>
                    <a:solidFill>
                      <a:srgbClr val="FFFFFF"/>
                    </a:solidFill>
                  </a:tcPr>
                </a:tc>
                <a:tc>
                  <a:txBody>
                    <a:bodyPr/>
                    <a:lstStyle/>
                    <a:p>
                      <a:r>
                        <a:rPr sz="1200">
                          <a:solidFill>
                            <a:srgbClr val="1F1F1F"/>
                          </a:solidFill>
                        </a:rPr>
                        <a:t>Seven maps give seven answers: a map is a way of seeing (L1 p. 7)</a:t>
                      </a:r>
                    </a:p>
                  </a:txBody>
                  <a:tcPr>
                    <a:solidFill>
                      <a:srgbClr val="FFFFFF"/>
                    </a:solidFill>
                  </a:tcPr>
                </a:tc>
                <a:extLst>
                  <a:ext uri="{0D108BD9-81ED-4DB2-BD59-A6C34878D82A}">
                    <a16:rowId xmlns:a16="http://schemas.microsoft.com/office/drawing/2014/main" val="10002"/>
                  </a:ext>
                </a:extLst>
              </a:tr>
              <a:tr h="548640">
                <a:tc>
                  <a:txBody>
                    <a:bodyPr/>
                    <a:lstStyle/>
                    <a:p>
                      <a:endParaRPr sz="1200" dirty="0">
                        <a:solidFill>
                          <a:srgbClr val="1F1F1F"/>
                        </a:solidFill>
                      </a:endParaRPr>
                    </a:p>
                  </a:txBody>
                  <a:tcPr>
                    <a:solidFill>
                      <a:srgbClr val="E9F5F6"/>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dirty="0">
                        <a:solidFill>
                          <a:srgbClr val="1F1F1F"/>
                        </a:solidFill>
                      </a:endParaRPr>
                    </a:p>
                  </a:txBody>
                  <a:tcPr>
                    <a:solidFill>
                      <a:srgbClr val="E9F5F6"/>
                    </a:solidFill>
                  </a:tcPr>
                </a:tc>
                <a:extLst>
                  <a:ext uri="{0D108BD9-81ED-4DB2-BD59-A6C34878D82A}">
                    <a16:rowId xmlns:a16="http://schemas.microsoft.com/office/drawing/2014/main" val="10003"/>
                  </a:ext>
                </a:extLst>
              </a:tr>
              <a:tr h="548640">
                <a:tc>
                  <a:txBody>
                    <a:bodyPr/>
                    <a:lstStyle/>
                    <a:p>
                      <a:endParaRPr sz="1200" dirty="0">
                        <a:solidFill>
                          <a:srgbClr val="1F1F1F"/>
                        </a:solidFill>
                      </a:endParaRPr>
                    </a:p>
                  </a:txBody>
                  <a:tcPr>
                    <a:solidFill>
                      <a:srgbClr val="FFFFFF"/>
                    </a:solidFill>
                  </a:tcPr>
                </a:tc>
                <a:tc>
                  <a:txBody>
                    <a:bodyPr/>
                    <a:lstStyle/>
                    <a:p>
                      <a:endParaRPr sz="1200" dirty="0">
                        <a:solidFill>
                          <a:srgbClr val="1F1F1F"/>
                        </a:solidFill>
                      </a:endParaRPr>
                    </a:p>
                  </a:txBody>
                  <a:tcPr>
                    <a:solidFill>
                      <a:srgbClr val="FFFFFF"/>
                    </a:solidFill>
                  </a:tcPr>
                </a:tc>
                <a:extLst>
                  <a:ext uri="{0D108BD9-81ED-4DB2-BD59-A6C34878D82A}">
                    <a16:rowId xmlns:a16="http://schemas.microsoft.com/office/drawing/2014/main" val="10004"/>
                  </a:ext>
                </a:extLst>
              </a:tr>
            </a:tbl>
          </a:graphicData>
        </a:graphic>
      </p:graphicFrame>
      <p:sp>
        <p:nvSpPr>
          <p:cNvPr id="290" name="TextBox 289"/>
          <p:cNvSpPr txBox="1"/>
          <p:nvPr/>
        </p:nvSpPr>
        <p:spPr>
          <a:xfrm>
            <a:off x="630936" y="4224528"/>
            <a:ext cx="7882127" cy="457200"/>
          </a:xfrm>
          <a:prstGeom prst="rect">
            <a:avLst/>
          </a:prstGeom>
          <a:noFill/>
        </p:spPr>
        <p:txBody>
          <a:bodyPr wrap="square" lIns="45720" tIns="27432" rIns="45720" bIns="27432" anchor="t">
            <a:spAutoFit/>
          </a:bodyPr>
          <a:lstStyle/>
          <a:p>
            <a:pPr algn="l">
              <a:spcAft>
                <a:spcPts val="400"/>
              </a:spcAft>
            </a:pPr>
            <a:r>
              <a:rPr sz="1300" b="1" i="0">
                <a:solidFill>
                  <a:srgbClr val="C00000"/>
                </a:solidFill>
              </a:rPr>
              <a:t>Lesson: report every number with its uncertainty and its blind spots, and write down our assumptions (Chavez-Gonzalez et al., L3 p. 16).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01F5A-4CE1-1E8F-C6A1-A1E05589AA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74BB17-E84F-DB4A-0E37-638719C31102}"/>
              </a:ext>
            </a:extLst>
          </p:cNvPr>
          <p:cNvSpPr>
            <a:spLocks noGrp="1"/>
          </p:cNvSpPr>
          <p:nvPr>
            <p:ph type="title"/>
          </p:nvPr>
        </p:nvSpPr>
        <p:spPr/>
        <p:txBody>
          <a:bodyPr/>
          <a:lstStyle/>
          <a:p>
            <a:r>
              <a:rPr lang="en-US" dirty="0"/>
              <a:t>Group </a:t>
            </a:r>
            <a:r>
              <a:rPr lang="en-US" dirty="0">
                <a:solidFill>
                  <a:schemeClr val="accent2">
                    <a:lumMod val="76000"/>
                  </a:schemeClr>
                </a:solidFill>
              </a:rPr>
              <a:t>Peer Feedba</a:t>
            </a:r>
            <a:r>
              <a:rPr lang="en-US" dirty="0">
                <a:solidFill>
                  <a:schemeClr val="accent2">
                    <a:lumMod val="76000"/>
                  </a:schemeClr>
                </a:solidFill>
                <a:latin typeface="Aptos Display"/>
              </a:rPr>
              <a:t>ck</a:t>
            </a:r>
            <a:endParaRPr lang="en-US" dirty="0">
              <a:solidFill>
                <a:schemeClr val="accent2">
                  <a:lumMod val="76000"/>
                </a:schemeClr>
              </a:solidFill>
            </a:endParaRPr>
          </a:p>
        </p:txBody>
      </p:sp>
      <p:sp>
        <p:nvSpPr>
          <p:cNvPr id="3" name="Content Placeholder 2">
            <a:extLst>
              <a:ext uri="{FF2B5EF4-FFF2-40B4-BE49-F238E27FC236}">
                <a16:creationId xmlns:a16="http://schemas.microsoft.com/office/drawing/2014/main" id="{73A60500-F33A-DC5B-43EE-BE7B0B40ECC1}"/>
              </a:ext>
            </a:extLst>
          </p:cNvPr>
          <p:cNvSpPr>
            <a:spLocks noGrp="1"/>
          </p:cNvSpPr>
          <p:nvPr>
            <p:ph idx="1"/>
          </p:nvPr>
        </p:nvSpPr>
        <p:spPr>
          <a:xfrm>
            <a:off x="628650" y="1369218"/>
            <a:ext cx="7886700" cy="865593"/>
          </a:xfrm>
        </p:spPr>
        <p:txBody>
          <a:bodyPr vert="horz" lIns="91440" tIns="45720" rIns="91440" bIns="45720" rtlCol="0" anchor="t">
            <a:normAutofit/>
          </a:bodyPr>
          <a:lstStyle/>
          <a:p>
            <a:pPr marL="0" indent="0">
              <a:buNone/>
            </a:pPr>
            <a:r>
              <a:rPr lang="en-US" sz="1400" dirty="0"/>
              <a:t>As a group, use the corresponding feedback from Feedback Fruits (in Canvas) to select one positive outcome, and one action or task to improve. An improvement can also touch on any aspect of the course that you want to approach more efficiently.</a:t>
            </a:r>
          </a:p>
          <a:p>
            <a:pPr marL="0" indent="0">
              <a:buNone/>
            </a:pPr>
            <a:endParaRPr lang="en-US" sz="1400" dirty="0"/>
          </a:p>
        </p:txBody>
      </p:sp>
      <p:sp>
        <p:nvSpPr>
          <p:cNvPr id="5" name="Google Shape;295;p42">
            <a:extLst>
              <a:ext uri="{FF2B5EF4-FFF2-40B4-BE49-F238E27FC236}">
                <a16:creationId xmlns:a16="http://schemas.microsoft.com/office/drawing/2014/main" id="{1686B79B-195D-2461-79ED-C14B0AAAA43E}"/>
              </a:ext>
            </a:extLst>
          </p:cNvPr>
          <p:cNvSpPr txBox="1">
            <a:spLocks/>
          </p:cNvSpPr>
          <p:nvPr/>
        </p:nvSpPr>
        <p:spPr>
          <a:xfrm>
            <a:off x="5038725" y="2913167"/>
            <a:ext cx="2486025" cy="357187"/>
          </a:xfrm>
          <a:prstGeom prst="rect">
            <a:avLst/>
          </a:prstGeom>
        </p:spPr>
        <p:txBody>
          <a:bodyPr spcFirstLastPara="1" vert="horz" wrap="square" lIns="91425" tIns="91425" rIns="91425" bIns="91425" rtlCol="0" anchor="ctr"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2400" b="1" dirty="0">
                <a:solidFill>
                  <a:schemeClr val="accent6">
                    <a:lumMod val="50000"/>
                  </a:schemeClr>
                </a:solidFill>
                <a:latin typeface="Aptos"/>
              </a:rPr>
              <a:t>Improvement </a:t>
            </a:r>
            <a:endParaRPr lang="en-US" sz="2400" dirty="0">
              <a:solidFill>
                <a:schemeClr val="accent6">
                  <a:lumMod val="50000"/>
                </a:schemeClr>
              </a:solidFill>
              <a:latin typeface="Aptos"/>
            </a:endParaRPr>
          </a:p>
        </p:txBody>
      </p:sp>
      <p:sp>
        <p:nvSpPr>
          <p:cNvPr id="7" name="Google Shape;296;p42">
            <a:extLst>
              <a:ext uri="{FF2B5EF4-FFF2-40B4-BE49-F238E27FC236}">
                <a16:creationId xmlns:a16="http://schemas.microsoft.com/office/drawing/2014/main" id="{3D4E69E7-93D6-5CB6-72D4-B60B45BBC62C}"/>
              </a:ext>
            </a:extLst>
          </p:cNvPr>
          <p:cNvSpPr txBox="1">
            <a:spLocks/>
          </p:cNvSpPr>
          <p:nvPr/>
        </p:nvSpPr>
        <p:spPr>
          <a:xfrm>
            <a:off x="4697593" y="3224316"/>
            <a:ext cx="3052989" cy="903287"/>
          </a:xfrm>
          <a:prstGeom prst="rect">
            <a:avLst/>
          </a:prstGeom>
        </p:spPr>
        <p:txBody>
          <a:bodyPr spcFirstLastPara="1" wrap="square" lIns="91425" tIns="91425" rIns="91425" bIns="91425" anchor="t"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1400" dirty="0">
                <a:ea typeface="+mn-lt"/>
                <a:cs typeface="+mn-lt"/>
              </a:rPr>
              <a:t>Add one, or a summary of different approaches that you will implement to i.e., meetings/teacher feedback/stakeholder discussions…</a:t>
            </a:r>
            <a:endParaRPr lang="en-US" dirty="0"/>
          </a:p>
        </p:txBody>
      </p:sp>
      <p:sp>
        <p:nvSpPr>
          <p:cNvPr id="9" name="Google Shape;297;p42">
            <a:extLst>
              <a:ext uri="{FF2B5EF4-FFF2-40B4-BE49-F238E27FC236}">
                <a16:creationId xmlns:a16="http://schemas.microsoft.com/office/drawing/2014/main" id="{4809994E-2E63-5A6E-C243-27014BA40D57}"/>
              </a:ext>
            </a:extLst>
          </p:cNvPr>
          <p:cNvSpPr txBox="1">
            <a:spLocks/>
          </p:cNvSpPr>
          <p:nvPr/>
        </p:nvSpPr>
        <p:spPr>
          <a:xfrm>
            <a:off x="1693863" y="2913167"/>
            <a:ext cx="2486025" cy="357187"/>
          </a:xfrm>
          <a:prstGeom prst="rect">
            <a:avLst/>
          </a:prstGeom>
        </p:spPr>
        <p:txBody>
          <a:bodyPr spcFirstLastPara="1" wrap="square" lIns="91425" tIns="91425" rIns="91425" bIns="91425" anchor="ctr"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2400" b="1" dirty="0">
                <a:solidFill>
                  <a:schemeClr val="accent1"/>
                </a:solidFill>
                <a:latin typeface="Aptos"/>
              </a:rPr>
              <a:t>Positive</a:t>
            </a:r>
            <a:endParaRPr lang="en-US" sz="2400" dirty="0">
              <a:solidFill>
                <a:schemeClr val="accent1"/>
              </a:solidFill>
              <a:latin typeface="Aptos"/>
            </a:endParaRPr>
          </a:p>
        </p:txBody>
      </p:sp>
      <p:sp>
        <p:nvSpPr>
          <p:cNvPr id="11" name="Google Shape;298;p42">
            <a:extLst>
              <a:ext uri="{FF2B5EF4-FFF2-40B4-BE49-F238E27FC236}">
                <a16:creationId xmlns:a16="http://schemas.microsoft.com/office/drawing/2014/main" id="{B21B9015-7258-4D1A-B48D-96FB67AD004E}"/>
              </a:ext>
            </a:extLst>
          </p:cNvPr>
          <p:cNvSpPr txBox="1">
            <a:spLocks/>
          </p:cNvSpPr>
          <p:nvPr/>
        </p:nvSpPr>
        <p:spPr>
          <a:xfrm>
            <a:off x="1693863" y="3224317"/>
            <a:ext cx="2486025" cy="903287"/>
          </a:xfrm>
          <a:prstGeom prst="rect">
            <a:avLst/>
          </a:prstGeom>
        </p:spPr>
        <p:txBody>
          <a:bodyPr spcFirstLastPara="1" wrap="square" lIns="91425" tIns="91425" rIns="91425" bIns="91425" anchor="t"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1400" dirty="0">
                <a:latin typeface="Aptos"/>
              </a:rPr>
              <a:t>Add one group positive feedback here</a:t>
            </a:r>
            <a:endParaRPr lang="en-US" dirty="0"/>
          </a:p>
        </p:txBody>
      </p:sp>
      <p:grpSp>
        <p:nvGrpSpPr>
          <p:cNvPr id="15" name="Google Shape;299;p42">
            <a:extLst>
              <a:ext uri="{FF2B5EF4-FFF2-40B4-BE49-F238E27FC236}">
                <a16:creationId xmlns:a16="http://schemas.microsoft.com/office/drawing/2014/main" id="{92830BA8-D506-FBF0-A684-56C154DD2AB5}"/>
              </a:ext>
            </a:extLst>
          </p:cNvPr>
          <p:cNvGrpSpPr/>
          <p:nvPr/>
        </p:nvGrpSpPr>
        <p:grpSpPr>
          <a:xfrm>
            <a:off x="2766608" y="2368693"/>
            <a:ext cx="339253" cy="339253"/>
            <a:chOff x="1492675" y="4992125"/>
            <a:chExt cx="481825" cy="481825"/>
          </a:xfrm>
        </p:grpSpPr>
        <p:sp>
          <p:nvSpPr>
            <p:cNvPr id="13" name="Google Shape;300;p42">
              <a:extLst>
                <a:ext uri="{FF2B5EF4-FFF2-40B4-BE49-F238E27FC236}">
                  <a16:creationId xmlns:a16="http://schemas.microsoft.com/office/drawing/2014/main" id="{E0032135-7663-8335-7941-CA0DE3993A68}"/>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B6D7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FF00"/>
                </a:solidFill>
              </a:endParaRPr>
            </a:p>
          </p:txBody>
        </p:sp>
        <p:sp>
          <p:nvSpPr>
            <p:cNvPr id="14" name="Google Shape;301;p42">
              <a:extLst>
                <a:ext uri="{FF2B5EF4-FFF2-40B4-BE49-F238E27FC236}">
                  <a16:creationId xmlns:a16="http://schemas.microsoft.com/office/drawing/2014/main" id="{4C2646C8-568A-F7BE-A004-4304C7F4709B}"/>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B6D7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FF00"/>
                </a:solidFill>
                <a:highlight>
                  <a:srgbClr val="00FF00"/>
                </a:highlight>
              </a:endParaRPr>
            </a:p>
          </p:txBody>
        </p:sp>
      </p:grpSp>
      <p:grpSp>
        <p:nvGrpSpPr>
          <p:cNvPr id="19" name="Google Shape;302;p42">
            <a:extLst>
              <a:ext uri="{FF2B5EF4-FFF2-40B4-BE49-F238E27FC236}">
                <a16:creationId xmlns:a16="http://schemas.microsoft.com/office/drawing/2014/main" id="{CD840F8B-57AA-A927-DA79-A865610CD478}"/>
              </a:ext>
            </a:extLst>
          </p:cNvPr>
          <p:cNvGrpSpPr/>
          <p:nvPr/>
        </p:nvGrpSpPr>
        <p:grpSpPr>
          <a:xfrm>
            <a:off x="6112396" y="2368693"/>
            <a:ext cx="339252" cy="339253"/>
            <a:chOff x="2085525" y="4992125"/>
            <a:chExt cx="481825" cy="481825"/>
          </a:xfrm>
        </p:grpSpPr>
        <p:sp>
          <p:nvSpPr>
            <p:cNvPr id="17" name="Google Shape;303;p42">
              <a:extLst>
                <a:ext uri="{FF2B5EF4-FFF2-40B4-BE49-F238E27FC236}">
                  <a16:creationId xmlns:a16="http://schemas.microsoft.com/office/drawing/2014/main" id="{2C0B82E2-69CA-6A34-175A-4F256A98B097}"/>
                </a:ext>
              </a:extLst>
            </p:cNvPr>
            <p:cNvSpPr/>
            <p:nvPr/>
          </p:nvSpPr>
          <p:spPr>
            <a:xfrm>
              <a:off x="2244150" y="5152125"/>
              <a:ext cx="164500" cy="161825"/>
            </a:xfrm>
            <a:custGeom>
              <a:avLst/>
              <a:gdLst/>
              <a:ahLst/>
              <a:cxnLst/>
              <a:rect l="l" t="t" r="r" b="b"/>
              <a:pathLst>
                <a:path w="6580" h="6473" extrusionOk="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8" name="Google Shape;304;p42">
              <a:extLst>
                <a:ext uri="{FF2B5EF4-FFF2-40B4-BE49-F238E27FC236}">
                  <a16:creationId xmlns:a16="http://schemas.microsoft.com/office/drawing/2014/main" id="{CC660D0D-AF10-04D4-326A-268B8298A270}"/>
                </a:ext>
              </a:extLst>
            </p:cNvPr>
            <p:cNvSpPr/>
            <p:nvPr/>
          </p:nvSpPr>
          <p:spPr>
            <a:xfrm>
              <a:off x="2085525" y="4992125"/>
              <a:ext cx="481825" cy="481825"/>
            </a:xfrm>
            <a:custGeom>
              <a:avLst/>
              <a:gdLst/>
              <a:ahLst/>
              <a:cxnLst/>
              <a:rect l="l" t="t" r="r" b="b"/>
              <a:pathLst>
                <a:path w="19273" h="19273" extrusionOk="0">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extLst>
      <p:ext uri="{BB962C8B-B14F-4D97-AF65-F5344CB8AC3E}">
        <p14:creationId xmlns:p14="http://schemas.microsoft.com/office/powerpoint/2010/main" val="110435291"/>
      </p:ext>
    </p:extLst>
  </p:cSld>
  <p:clrMapOvr>
    <a:masterClrMapping/>
  </p:clrMapOvr>
</p:sld>
</file>

<file path=ppt/theme/theme1.xml><?xml version="1.0" encoding="utf-8"?>
<a:theme xmlns:a="http://schemas.openxmlformats.org/drawingml/2006/main" name="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D01F0A757A6E4B8E266DFF115DEFC8" ma:contentTypeVersion="3" ma:contentTypeDescription="Create a new document." ma:contentTypeScope="" ma:versionID="086d442b31e9f859da6600fb332441ea">
  <xsd:schema xmlns:xsd="http://www.w3.org/2001/XMLSchema" xmlns:xs="http://www.w3.org/2001/XMLSchema" xmlns:p="http://schemas.microsoft.com/office/2006/metadata/properties" xmlns:ns2="51a4d26d-dc56-48ad-8eaf-447f1931d2d7" targetNamespace="http://schemas.microsoft.com/office/2006/metadata/properties" ma:root="true" ma:fieldsID="7109467aa0cde0f0c3b9f63556f0ea82" ns2:_="">
    <xsd:import namespace="51a4d26d-dc56-48ad-8eaf-447f1931d2d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a4d26d-dc56-48ad-8eaf-447f1931d2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7F15014-63E8-414E-8B5D-F2ABD9265F95}">
  <ds:schemaRefs>
    <ds:schemaRef ds:uri="http://schemas.microsoft.com/sharepoint/v3/contenttype/forms"/>
  </ds:schemaRefs>
</ds:datastoreItem>
</file>

<file path=customXml/itemProps2.xml><?xml version="1.0" encoding="utf-8"?>
<ds:datastoreItem xmlns:ds="http://schemas.openxmlformats.org/officeDocument/2006/customXml" ds:itemID="{0477F5EF-D882-409B-8A30-0781F18DA8EE}">
  <ds:schemaRefs>
    <ds:schemaRef ds:uri="51a4d26d-dc56-48ad-8eaf-447f1931d2d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6379A6F-C83C-4D44-A21F-9B5E72F1A14C}">
  <ds:schemaRefs>
    <ds:schemaRef ds:uri="http://purl.org/dc/elements/1.1/"/>
    <ds:schemaRef ds:uri="http://purl.org/dc/terms/"/>
    <ds:schemaRef ds:uri="http://schemas.microsoft.com/office/2006/documentManagement/types"/>
    <ds:schemaRef ds:uri="http://schemas.microsoft.com/office/2006/metadata/properties"/>
    <ds:schemaRef ds:uri="51a4d26d-dc56-48ad-8eaf-447f1931d2d7"/>
    <ds:schemaRef ds:uri="http://www.w3.org/XML/1998/namespace"/>
    <ds:schemaRef ds:uri="http://schemas.microsoft.com/office/infopath/2007/PartnerControl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17</TotalTime>
  <Words>3147</Words>
  <Application>Microsoft Office PowerPoint</Application>
  <PresentationFormat>On-screen Show (16:9)</PresentationFormat>
  <Paragraphs>199</Paragraphs>
  <Slides>19</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Aptos Display</vt:lpstr>
      <vt:lpstr>Aptos</vt:lpstr>
      <vt:lpstr>Lato</vt:lpstr>
      <vt:lpstr>Vidaloka</vt:lpstr>
      <vt:lpstr>Office Theme</vt:lpstr>
      <vt:lpstr>PowerPoint Presentation</vt:lpstr>
      <vt:lpstr>Objectives of Current Sprint</vt:lpstr>
      <vt:lpstr>Sprint Summary (from sprint 2 onward)</vt:lpstr>
      <vt:lpstr>Methodological Angle (Poster/Report): Problem definition &amp; research objective</vt:lpstr>
      <vt:lpstr>Methodological Angle (Poster/Report): The method we build on</vt:lpstr>
      <vt:lpstr>Methodological Angle (Poster/Report): Why the problem is neglected</vt:lpstr>
      <vt:lpstr>Methodological Angle (Poster/Report): What unreliable data costs</vt:lpstr>
      <vt:lpstr>Methodological Angle (Poster/Report): Progress and Results</vt:lpstr>
      <vt:lpstr>Methodological Angle (Poster/Report): First results: seven maps, seven answers</vt:lpstr>
      <vt:lpstr>Methodological Angle (Poster/Report): First results: cropland per map in Aweil</vt:lpstr>
      <vt:lpstr>Methodological Angle (Poster/Report): Mistakes and what you have learned</vt:lpstr>
      <vt:lpstr>Stakeholder Angle (Meetings):  Progress and Results </vt:lpstr>
      <vt:lpstr>Stakeholder Angle (Meetings):  Mistakes and what you have learned </vt:lpstr>
      <vt:lpstr>Societal-Legal-Ethical Angle (Essay): Progress: the problem as an SLE question</vt:lpstr>
      <vt:lpstr>Societal-Legal-Ethical Angle (Essay): Result: the map decides who is seen</vt:lpstr>
      <vt:lpstr>Societal-Legal-Ethical Angle (Essay): Prior paper and why it is neglected</vt:lpstr>
      <vt:lpstr>Societal-Legal-Ethical Angle (Essay): What unreliable data costs people</vt:lpstr>
      <vt:lpstr>Societal-Legal-Ethical Angle (Essay): Mistakes and what we have learned</vt:lpstr>
      <vt:lpstr>Group Peer 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Sprint review presentation</dc:title>
  <cp:lastModifiedBy>Volpe-Prignano Garcia, Marc</cp:lastModifiedBy>
  <cp:revision>4</cp:revision>
  <dcterms:modified xsi:type="dcterms:W3CDTF">2026-09-27T20:33:16Z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0x01010070D01F0A757A6E4B8E266DFF115DEFC8</vt:lpwstr>
  </property>
  <property fmtid="{D5CDD505-2E9C-101B-9397-08002B2CF9AE}" pid="3" name="MediaServiceImageTags">
    <vt:lpwstr/>
  </property>
</Properties>
</file>